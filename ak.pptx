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9" r:id="rId4"/>
    <p:sldId id="297" r:id="rId5"/>
    <p:sldId id="285" r:id="rId6"/>
    <p:sldId id="298" r:id="rId7"/>
    <p:sldId id="299" r:id="rId8"/>
    <p:sldId id="300" r:id="rId9"/>
    <p:sldId id="283" r:id="rId10"/>
    <p:sldId id="295" r:id="rId11"/>
    <p:sldId id="28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DEAA-B384-43A1-815B-E2CD96042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7D5AE-A501-4199-A459-96D453E20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EC054-D1DB-4F2C-A9D1-FDA6A8F9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B507E-933E-4F88-8BAE-AA284FF2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173E0-8E64-4ABA-A54D-630C8A2F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121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94B3-A5A2-443C-9C25-B513B1B17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3F29-9595-4488-AB8E-E2F2E461D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BF894-DEA9-49A1-8CFE-C2840926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FCEB9-A9FF-4986-B080-6854F8B0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0F74F-8952-4B0E-8104-5FD9E7C5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136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12E4-C5B7-4121-8DBA-B382706B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2C2C3-1C1C-4C15-B032-77D7C4AB0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8C245-1478-4E80-BA8D-62AB9BB0B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52408-65D8-4D99-83E2-B5175A8B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4A77F-93F8-41F4-9DAE-D3F7170D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63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5BBB-186C-4280-BD8D-7766C63E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C6F9-7E02-4C63-A8CF-C6A82863E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541D3-BDD3-4BC7-BEAD-9EAAD4615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EAC75-D47D-424C-920A-0806934F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1FDF3-8D6B-410A-A380-FA75D35C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299CB-A1BE-4C1A-9422-7724CB7C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76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0D982-6A8C-488F-ADB9-95F769C55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560FF-70C1-498B-BE47-BEF1D0E67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55D82-1A95-4A3C-8A02-78AEFC870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190A6-CFD3-41D4-86A6-9D30ADFC0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5328B-CB76-4C30-BFB8-414397404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354A38-D31C-4A79-BD2B-FE6744C95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FCE97-EF70-401A-8BC2-00135991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7F6F63-D2D4-45DA-9058-1BAB893A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86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48F3-1C14-4057-A1D7-CF0B9984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C0A4-F2EE-464D-B535-494B2D2A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34364-FA3D-493C-B051-FDB47A75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08C0A-8648-42A9-AEF9-4AB63B74F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11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9E1D4-2F02-40F9-82F8-29E627EE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F4ED8C-73E6-41B3-B000-5C51D4B7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CA159-CD06-4A19-B5E2-00E51F36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68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62A8-E4C9-4460-A118-05971DA6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B9F6F-E700-4C2A-9143-83B865AA8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2D6C7-5AD7-4ADC-A063-93445C9AA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E38AD-E211-4BB5-BA0F-B860EA4A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55F6C-E298-4080-B540-DCE24486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27D2B-F0BA-446F-8DE9-9A463EC9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415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0189-9E65-4A42-87C8-147E7E18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A20EB-AC52-4AFE-899F-1662680D1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CC36A-38B9-4A1A-8E06-F0EB81380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4E555-B803-4015-BB95-18E985C75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EA5C0-991E-4807-8498-E4F79806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9AEC2-2A8D-4522-A0EC-0D74A37B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00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C8BF-C299-4981-A7EE-9E4AAF49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E413F-1ABA-487F-AE21-1C8C19A44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73F5D-80DC-43EE-A772-5752DF4F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F5520-9C41-4878-B3C8-BCDE2F26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A72F8-F613-4EAB-AD1E-EDED6501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95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524BD5-1715-4BC1-8D09-88120D1C1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13A40-02E7-4395-9029-6471660DE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A53C4-08ED-4427-AC1C-20392178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84E95-CFEF-4F1E-AC0C-974EDC36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C384-D7DC-4503-8F93-57AA7BB2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67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F3D847-745A-41D2-A4D9-3BBEE602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E4091-C294-4796-B9DF-A0A9961FF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E3C4-41DD-4381-B65D-5E3D52B70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D9A21-B1FC-43B3-A457-8237CBFC3EB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9BBC3-E6A6-4333-B57D-24B5AC1F3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1B33-8D46-4350-985A-216827F72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0F7C6-C383-46D1-AA56-5E9428B43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705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A041-5043-4439-A9A6-016AC1B1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C5C75-414E-471E-A8C6-BEE5FF616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52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CD4C3A-9072-4798-AA9B-C09D733E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8312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CERTIFICATE COURSE IN </a:t>
            </a:r>
            <a:b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Agentic AI &amp; Software Solutions  </a:t>
            </a:r>
            <a:br>
              <a:rPr lang="en-IN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573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22169-4E6C-4526-8AD2-D65F3199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51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 Structure </a:t>
            </a:r>
            <a:endParaRPr lang="en-IN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D356C64-A234-4462-A935-D309269BEDDB}"/>
              </a:ext>
            </a:extLst>
          </p:cNvPr>
          <p:cNvGraphicFramePr>
            <a:graphicFrameLocks noGrp="1"/>
          </p:cNvGraphicFramePr>
          <p:nvPr/>
        </p:nvGraphicFramePr>
        <p:xfrm>
          <a:off x="1643865" y="1171253"/>
          <a:ext cx="8784405" cy="2818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3411">
                  <a:extLst>
                    <a:ext uri="{9D8B030D-6E8A-4147-A177-3AD203B41FA5}">
                      <a16:colId xmlns:a16="http://schemas.microsoft.com/office/drawing/2014/main" val="476001013"/>
                    </a:ext>
                  </a:extLst>
                </a:gridCol>
                <a:gridCol w="1910994">
                  <a:extLst>
                    <a:ext uri="{9D8B030D-6E8A-4147-A177-3AD203B41FA5}">
                      <a16:colId xmlns:a16="http://schemas.microsoft.com/office/drawing/2014/main" val="1767053852"/>
                    </a:ext>
                  </a:extLst>
                </a:gridCol>
              </a:tblGrid>
              <a:tr h="563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Course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Credits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34887645"/>
                  </a:ext>
                </a:extLst>
              </a:tr>
              <a:tr h="56379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AI Workflow Development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37161906"/>
                  </a:ext>
                </a:extLst>
              </a:tr>
              <a:tr h="56379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AI in Software Development 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19407777"/>
                  </a:ext>
                </a:extLst>
              </a:tr>
              <a:tr h="56379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Agentic AI Frameworks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8581788"/>
                  </a:ext>
                </a:extLst>
              </a:tr>
              <a:tr h="56379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submission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1188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3719B-BDC2-4E75-9774-61B50B83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1611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0" i="0" u="none" strike="noStrike" kern="1200" baseline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AI Workflow Development</a:t>
            </a:r>
            <a:endParaRPr lang="en-IN" sz="3200" b="0" i="0" u="none" strike="noStrike" kern="1200" dirty="0">
              <a:solidFill>
                <a:srgbClr val="FF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7E7C80-8480-4EE4-8FE0-C9BBCC19EDE6}"/>
              </a:ext>
            </a:extLst>
          </p:cNvPr>
          <p:cNvSpPr txBox="1"/>
          <p:nvPr/>
        </p:nvSpPr>
        <p:spPr>
          <a:xfrm>
            <a:off x="1323653" y="1843257"/>
            <a:ext cx="10515600" cy="4352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0" i="0" u="sng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IN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Build, optimize, and scale custom AI-powered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business solutions.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Custom AI Workflow Creation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Combine AI tools with APIs for unique business </a:t>
            </a:r>
            <a:r>
              <a:rPr lang="en-IN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needs.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AI Optimization &amp; Scaling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Monitor performance and deploy AI across </a:t>
            </a:r>
            <a:r>
              <a:rPr lang="en-IN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teams cost-effectively.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99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3719B-BDC2-4E75-9774-61B50B83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016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0" i="0" u="none" strike="noStrike" kern="1200" baseline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AI in Software Development </a:t>
            </a:r>
            <a:endParaRPr lang="en-IN" sz="3200" b="0" i="0" u="none" strike="noStrike" kern="1200" dirty="0">
              <a:solidFill>
                <a:srgbClr val="FF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74390B-8575-43C8-80C2-75F3BABDAE53}"/>
              </a:ext>
            </a:extLst>
          </p:cNvPr>
          <p:cNvSpPr txBox="1"/>
          <p:nvPr/>
        </p:nvSpPr>
        <p:spPr>
          <a:xfrm>
            <a:off x="976046" y="1103518"/>
            <a:ext cx="10852078" cy="490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0" i="0" u="sng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IN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b="0" i="0" u="none" strike="noStrike" baseline="0" dirty="0">
                <a:solidFill>
                  <a:srgbClr val="0F11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>
                <a:solidFill>
                  <a:srgbClr val="0F11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nhance productivity, improve software quality and reliability, and accelerate the development lifecycle.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rgbClr val="0F111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F111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 generation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F111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testing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F111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F111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F111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Security Enhancement </a:t>
            </a:r>
          </a:p>
        </p:txBody>
      </p:sp>
    </p:spTree>
    <p:extLst>
      <p:ext uri="{BB962C8B-B14F-4D97-AF65-F5344CB8AC3E}">
        <p14:creationId xmlns:p14="http://schemas.microsoft.com/office/powerpoint/2010/main" val="244875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3719B-BDC2-4E75-9774-61B50B83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2922"/>
          </a:xfrm>
        </p:spPr>
        <p:txBody>
          <a:bodyPr>
            <a:normAutofit/>
          </a:bodyPr>
          <a:lstStyle/>
          <a:p>
            <a:pPr algn="ctr"/>
            <a:r>
              <a:rPr lang="en-IN" sz="3200" b="0" i="0" u="none" strike="noStrike" kern="1200" baseline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Agentic AI Frameworks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85DD1-F2B4-4CB3-8AB4-FAE6F3124175}"/>
              </a:ext>
            </a:extLst>
          </p:cNvPr>
          <p:cNvSpPr txBox="1"/>
          <p:nvPr/>
        </p:nvSpPr>
        <p:spPr>
          <a:xfrm>
            <a:off x="1177555" y="1648048"/>
            <a:ext cx="10791838" cy="4352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0" i="0" u="sng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IN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designing intelligent agents and linking them through secure, vendor-neutral standards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Agentic AI Fundamentals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Agentic AI: Architectures and Design Patterns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Working with </a:t>
            </a:r>
            <a:r>
              <a:rPr lang="en-IN" sz="28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endParaRPr lang="en-IN" sz="28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Building AI Agents with </a:t>
            </a:r>
            <a:r>
              <a:rPr lang="en-US" sz="28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endParaRPr lang="en-US" sz="28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44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CD4C3A-9072-4798-AA9B-C09D733E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8312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CERTIFICATE COURSE IN </a:t>
            </a:r>
            <a:b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Generative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&amp; Automation   </a:t>
            </a:r>
            <a:br>
              <a:rPr lang="en-IN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87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22169-4E6C-4526-8AD2-D65F3199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51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 Structure </a:t>
            </a:r>
            <a:endParaRPr lang="en-IN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D356C64-A234-4462-A935-D309269BEDDB}"/>
              </a:ext>
            </a:extLst>
          </p:cNvPr>
          <p:cNvGraphicFramePr>
            <a:graphicFrameLocks noGrp="1"/>
          </p:cNvGraphicFramePr>
          <p:nvPr/>
        </p:nvGraphicFramePr>
        <p:xfrm>
          <a:off x="1643865" y="1181763"/>
          <a:ext cx="8784405" cy="2818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3411">
                  <a:extLst>
                    <a:ext uri="{9D8B030D-6E8A-4147-A177-3AD203B41FA5}">
                      <a16:colId xmlns:a16="http://schemas.microsoft.com/office/drawing/2014/main" val="476001013"/>
                    </a:ext>
                  </a:extLst>
                </a:gridCol>
                <a:gridCol w="1910994">
                  <a:extLst>
                    <a:ext uri="{9D8B030D-6E8A-4147-A177-3AD203B41FA5}">
                      <a16:colId xmlns:a16="http://schemas.microsoft.com/office/drawing/2014/main" val="1767053852"/>
                    </a:ext>
                  </a:extLst>
                </a:gridCol>
              </a:tblGrid>
              <a:tr h="563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Course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Credits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34887645"/>
                  </a:ext>
                </a:extLst>
              </a:tr>
              <a:tr h="563794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/>
                      <a:r>
                        <a:rPr lang="en-IN" sz="28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Fundamentals of Generative AI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37161906"/>
                  </a:ext>
                </a:extLst>
              </a:tr>
              <a:tr h="5637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No-Code Automation</a:t>
                      </a:r>
                      <a:endParaRPr lang="en-US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19407777"/>
                  </a:ext>
                </a:extLst>
              </a:tr>
              <a:tr h="5637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Prompt Engineering </a:t>
                      </a:r>
                      <a:endParaRPr lang="en-US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8581788"/>
                  </a:ext>
                </a:extLst>
              </a:tr>
              <a:tr h="5637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Submission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lang="en-IN" sz="2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1188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57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F1F96-8306-4F06-AFEA-F62C45D0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5088"/>
          </a:xfrm>
        </p:spPr>
        <p:txBody>
          <a:bodyPr>
            <a:normAutofit/>
          </a:bodyPr>
          <a:lstStyle/>
          <a:p>
            <a:pPr algn="ctr"/>
            <a:r>
              <a:rPr lang="en-IN" sz="3200" i="0" u="none" strike="noStrike" baseline="0" dirty="0">
                <a:solidFill>
                  <a:srgbClr val="FF0000"/>
                </a:solidFill>
                <a:latin typeface="Poppins-Bold"/>
              </a:rPr>
              <a:t>Generative AI Fundamentals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B6A66-37F7-4AC0-AAD2-B4FBF3F76E30}"/>
              </a:ext>
            </a:extLst>
          </p:cNvPr>
          <p:cNvSpPr txBox="1"/>
          <p:nvPr/>
        </p:nvSpPr>
        <p:spPr>
          <a:xfrm>
            <a:off x="838200" y="1382286"/>
            <a:ext cx="10681355" cy="4865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 a strong foundation in Generative AI by exploring core concepts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8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lang="fr-FR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AI Concepts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Project Lifecycle and Governance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Open Source AI Model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AI Landscape &amp; Career Positioning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Pillars and Types of AI </a:t>
            </a:r>
            <a:endParaRPr lang="en-IN" sz="2800" b="0" i="0" u="none" strike="noStrike" baseline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520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76D1-C96B-4145-8123-80D81E74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7226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i="0" u="none" strike="noStrike" kern="1200" baseline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No-Code Automation</a:t>
            </a:r>
            <a:endParaRPr lang="en-US" sz="4400" i="0" u="none" strike="noStrike" kern="1200" dirty="0">
              <a:solidFill>
                <a:srgbClr val="FF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5FB45-EE3B-4D39-87CF-2F103D5968BC}"/>
              </a:ext>
            </a:extLst>
          </p:cNvPr>
          <p:cNvSpPr txBox="1"/>
          <p:nvPr/>
        </p:nvSpPr>
        <p:spPr>
          <a:xfrm>
            <a:off x="838200" y="1372012"/>
            <a:ext cx="10681355" cy="4762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IN" sz="24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Build advanced workflows with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Drag-and-Drop Tools ,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Zapier, Make, and n8n for business tasks.</a:t>
            </a:r>
          </a:p>
          <a:p>
            <a:pPr algn="l"/>
            <a:endParaRPr lang="en-US" sz="2400" b="0" i="0" u="none" strike="noStrike" baseline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No-Code Development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Building Web and Mobile Apps with Drag-and-Drop Tools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Automating Business Workflows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Integrating APIs and External Services</a:t>
            </a:r>
            <a:r>
              <a:rPr lang="en-IN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Deploying and Managing No-Code Applications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8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64C3-FD9F-43A1-9ECB-9E99AE2F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0" i="0" u="none" strike="noStrike" kern="1200" baseline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Prompt Engineering 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B17AD-B3C9-4EE3-BB2A-A2984BC5849D}"/>
              </a:ext>
            </a:extLst>
          </p:cNvPr>
          <p:cNvSpPr txBox="1"/>
          <p:nvPr/>
        </p:nvSpPr>
        <p:spPr>
          <a:xfrm>
            <a:off x="838200" y="1596607"/>
            <a:ext cx="10681355" cy="411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IN" sz="24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the art and science of communicating effectively with generative AI models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</a:t>
            </a:r>
            <a:r>
              <a:rPr lang="en-US" sz="2800" b="0" i="0" u="none" strike="noStrike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Large Language Models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0" i="0" u="none" strike="noStrike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Prompting and Prompt Techniques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Generating Text with AI for Content Creation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0" i="0" u="none" strike="noStrike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Diffusion Models for Image Generation</a:t>
            </a:r>
          </a:p>
        </p:txBody>
      </p:sp>
    </p:spTree>
    <p:extLst>
      <p:ext uri="{BB962C8B-B14F-4D97-AF65-F5344CB8AC3E}">
        <p14:creationId xmlns:p14="http://schemas.microsoft.com/office/powerpoint/2010/main" val="1557861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293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Poppins-Bold</vt:lpstr>
      <vt:lpstr>Office Theme</vt:lpstr>
      <vt:lpstr>PowerPoint Presentation</vt:lpstr>
      <vt:lpstr>CERTIFICATE COURSE IN    Agentic AI &amp; Software Solutions    </vt:lpstr>
      <vt:lpstr>Program Structure </vt:lpstr>
      <vt:lpstr>AI Workflow Development</vt:lpstr>
      <vt:lpstr>AI in Software Development </vt:lpstr>
      <vt:lpstr>Agentic AI Frameworks</vt:lpstr>
      <vt:lpstr>CERTIFICATE COURSE IN    Generative AI &amp; Automation     </vt:lpstr>
      <vt:lpstr>Program Structure </vt:lpstr>
      <vt:lpstr>Generative AI Fundamentals</vt:lpstr>
      <vt:lpstr>No-Code Automation</vt:lpstr>
      <vt:lpstr>Prompt Engineering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Vivek Ware</dc:creator>
  <cp:lastModifiedBy>Vivek Ware</cp:lastModifiedBy>
  <cp:revision>1</cp:revision>
  <dcterms:created xsi:type="dcterms:W3CDTF">2026-08-08T11:30:50Z</dcterms:created>
  <dcterms:modified xsi:type="dcterms:W3CDTF">2026-08-08T11:33:06Z</dcterms:modified>
</cp:coreProperties>
</file>