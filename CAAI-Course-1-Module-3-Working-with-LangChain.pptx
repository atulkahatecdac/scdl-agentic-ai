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embeddedFontLs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Raleway" pitchFamily="2" charset="0"/>
      <p:regular r:id="rId36"/>
    </p:embeddedFont>
    <p:embeddedFont>
      <p:font typeface="Raleway Light" pitchFamily="2" charset="0"/>
      <p:regular r:id="rId37"/>
      <p:italic r:id="rId38"/>
    </p:embeddedFont>
    <p:embeddedFont>
      <p:font typeface="Roboto" panose="02000000000000000000" pitchFamily="2" charset="0"/>
      <p:regular r:id="rId39"/>
      <p:bold r:id="rId40"/>
      <p:italic r:id="rId41"/>
    </p:embeddedFont>
    <p:embeddedFont>
      <p:font typeface="Roboto Bold" panose="02000000000000000000" charset="0"/>
      <p:regular r:id="rId42"/>
      <p:bold r:id="rId4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9906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545358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Module 3 — Working with LangChain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4010124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Certificate in Agentic AI and Software Solutions · 10-Hour Module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645021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You'll Learn in This Module</a:t>
            </a:r>
            <a:endParaRPr lang="en-US" sz="3250" dirty="0"/>
          </a:p>
        </p:txBody>
      </p:sp>
      <p:sp>
        <p:nvSpPr>
          <p:cNvPr id="4" name="Text 1"/>
          <p:cNvSpPr/>
          <p:nvPr/>
        </p:nvSpPr>
        <p:spPr>
          <a:xfrm>
            <a:off x="5233360" y="1378744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1640681"/>
            <a:ext cx="629686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6" name="Text 3"/>
          <p:cNvSpPr/>
          <p:nvPr/>
        </p:nvSpPr>
        <p:spPr>
          <a:xfrm>
            <a:off x="5233360" y="1761430"/>
            <a:ext cx="6296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Understand LangChain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33360" y="2106712"/>
            <a:ext cx="6296860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it exists and when to reach for it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33360" y="2623443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3360" y="2885380"/>
            <a:ext cx="629686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0" name="Text 7"/>
          <p:cNvSpPr/>
          <p:nvPr/>
        </p:nvSpPr>
        <p:spPr>
          <a:xfrm>
            <a:off x="5233360" y="3006130"/>
            <a:ext cx="6296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Prompts, Models &amp; Messages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233360" y="3351411"/>
            <a:ext cx="6296860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 with chat models and message types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233360" y="3868142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233360" y="4130080"/>
            <a:ext cx="629686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11"/>
          <p:cNvSpPr/>
          <p:nvPr/>
        </p:nvSpPr>
        <p:spPr>
          <a:xfrm>
            <a:off x="5233360" y="4250829"/>
            <a:ext cx="6296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Pipelines &amp; Structured Output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33360" y="4596110"/>
            <a:ext cx="6296860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 chains with LCEL and validate model responses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233360" y="5112841"/>
            <a:ext cx="330688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233360" y="5374779"/>
            <a:ext cx="6296860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8" name="Text 15"/>
          <p:cNvSpPr/>
          <p:nvPr/>
        </p:nvSpPr>
        <p:spPr>
          <a:xfrm>
            <a:off x="5233360" y="5495528"/>
            <a:ext cx="6296860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Tools &amp; Tool Calling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233360" y="5840809"/>
            <a:ext cx="6296860" cy="248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 tools and build a basic tool-calling application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027489" y="806351"/>
            <a:ext cx="3509081" cy="1162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What is LangChain?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8027489" y="2152352"/>
            <a:ext cx="3509081" cy="1771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 is an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open-source framework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for building LLM-powered applications. It provides reusable abstractions — models, prompts, tools, messages, and structured output — that connect LLMs with application logic and external capabilities.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8027489" y="4129980"/>
            <a:ext cx="3509081" cy="1898848"/>
          </a:xfrm>
          <a:prstGeom prst="roundRect">
            <a:avLst>
              <a:gd name="adj" fmla="val 4116"/>
            </a:avLst>
          </a:prstGeom>
          <a:solidFill>
            <a:srgbClr val="E1E1EA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520" y="4406305"/>
            <a:ext cx="232563" cy="1860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32113" y="4341217"/>
            <a:ext cx="2718427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Key distinction:</a:t>
            </a: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LangChain is not an LLM — it is an application development framework that sits on top of any supported model.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C5F0C1-8706-43F6-18D8-3573B3BBA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048" y="722244"/>
            <a:ext cx="7026965" cy="46846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591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Use LangChain?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14588"/>
            <a:ext cx="5339820" cy="1404243"/>
          </a:xfrm>
          <a:prstGeom prst="roundRect">
            <a:avLst>
              <a:gd name="adj" fmla="val 565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6832" y="2609949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Eliminates Boilerplate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56832" y="3018631"/>
            <a:ext cx="4949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more repetitive integration code every time you connect to an LLM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90301" y="2414588"/>
            <a:ext cx="5339919" cy="1404243"/>
          </a:xfrm>
          <a:prstGeom prst="roundRect">
            <a:avLst>
              <a:gd name="adj" fmla="val 565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5658" y="2609949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Standardized Interface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85658" y="3018631"/>
            <a:ext cx="49492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Interact with different models through a single, consistent API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4007842"/>
            <a:ext cx="5339820" cy="1404243"/>
          </a:xfrm>
          <a:prstGeom prst="roundRect">
            <a:avLst>
              <a:gd name="adj" fmla="val 565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6832" y="4203204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External Connectivity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56832" y="4611886"/>
            <a:ext cx="4949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 LLMs to tools, APIs, databases, and external systems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90301" y="4007842"/>
            <a:ext cx="5339919" cy="1404243"/>
          </a:xfrm>
          <a:prstGeom prst="roundRect">
            <a:avLst>
              <a:gd name="adj" fmla="val 565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5658" y="4203204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Scales to Agents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385658" y="4611886"/>
            <a:ext cx="49492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blocks that grow naturally into LangGraph agent frameworks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LangChain Application Architecture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90953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 its core, every LangChain application follows a clean, composable flow from user input to final output.</a:t>
            </a:r>
            <a:endParaRPr lang="en-US" sz="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11" y="1076027"/>
            <a:ext cx="9890473" cy="5238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19981" y="4820150"/>
            <a:ext cx="2445413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Input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2346085" y="5212784"/>
            <a:ext cx="2619309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Collect queries and context from users.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63553" y="1810858"/>
            <a:ext cx="2445412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 Template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389657" y="2203493"/>
            <a:ext cx="2619308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templates, formatters, and parsers.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258647" y="1810858"/>
            <a:ext cx="2445413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 Model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258647" y="2203493"/>
            <a:ext cx="2619309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Invoke model with tools, retrievers, logic.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182470" y="4820319"/>
            <a:ext cx="2445412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Parsed Output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8182470" y="5212954"/>
            <a:ext cx="2619308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Produce structured, validated final results.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61475" y="6367859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 composes these stages into a coherent, maintainable application — abstracting away the complexity of each integration point.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2659360"/>
            <a:ext cx="1019844" cy="287139"/>
          </a:xfrm>
          <a:prstGeom prst="roundRect">
            <a:avLst>
              <a:gd name="adj" fmla="val 22118"/>
            </a:avLst>
          </a:prstGeom>
          <a:solidFill>
            <a:srgbClr val="E1E1EA"/>
          </a:solidFill>
          <a:ln/>
        </p:spPr>
      </p:sp>
      <p:sp>
        <p:nvSpPr>
          <p:cNvPr id="4" name="Text 1"/>
          <p:cNvSpPr/>
          <p:nvPr/>
        </p:nvSpPr>
        <p:spPr>
          <a:xfrm>
            <a:off x="774879" y="2716014"/>
            <a:ext cx="1402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CHAPTER 1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61475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Core Building Blocks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661475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essential components that power every LangChain application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4902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Core LangChain Components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917700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75723" y="1982589"/>
            <a:ext cx="470195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 Models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275723" y="2391271"/>
            <a:ext cx="47019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Accept messages as input and return structured responses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1917700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28163" y="1982589"/>
            <a:ext cx="470205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828163" y="2391271"/>
            <a:ext cx="470205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Reusable templates for instructing models consistently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3374132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75723" y="3439021"/>
            <a:ext cx="470195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Messages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275723" y="3847703"/>
            <a:ext cx="47019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conversation units — System, Human, AI, Tool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13915" y="3374132"/>
            <a:ext cx="378014" cy="37802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828163" y="3439021"/>
            <a:ext cx="470205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Output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828163" y="3847703"/>
            <a:ext cx="470205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Parse and validate model responses against a defined schema</a:t>
            </a:r>
            <a:endParaRPr lang="en-US" sz="14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830564"/>
            <a:ext cx="378014" cy="37802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75723" y="4895453"/>
            <a:ext cx="470195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Tools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1275723" y="5304135"/>
            <a:ext cx="470195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Callable functions the model can invoke at runtime</a:t>
            </a:r>
            <a:endParaRPr lang="en-US" sz="14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830564"/>
            <a:ext cx="378014" cy="37802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6828163" y="4895453"/>
            <a:ext cx="470205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Runnables / Chains</a:t>
            </a:r>
            <a:endParaRPr lang="en-US" sz="1850" dirty="0"/>
          </a:p>
        </p:txBody>
      </p:sp>
      <p:sp>
        <p:nvSpPr>
          <p:cNvPr id="20" name="Text 12"/>
          <p:cNvSpPr/>
          <p:nvPr/>
        </p:nvSpPr>
        <p:spPr>
          <a:xfrm>
            <a:off x="6828163" y="5304135"/>
            <a:ext cx="470205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Compose components into end-to-end processing pipelines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12490"/>
            <a:ext cx="3537060" cy="10521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 Models &amp; Messages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61475" y="1914525"/>
            <a:ext cx="3537060" cy="1018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 structures every conversation using four distinct message types. Together, they give the model the context it needs to behave correctly and respond accurately.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61475" y="3067844"/>
            <a:ext cx="3537060" cy="2193925"/>
          </a:xfrm>
          <a:prstGeom prst="rect">
            <a:avLst/>
          </a:prstGeom>
          <a:noFill/>
          <a:ln/>
        </p:spPr>
        <p:txBody>
          <a:bodyPr wrap="square" lIns="0" tIns="67338" rIns="0" bIns="0" rtlCol="0" anchor="t">
            <a:normAutofit/>
          </a:bodyPr>
          <a:lstStyle/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SystemMessage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sets the model's behavior and persona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HumanMessage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 user's request or input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AIMessage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 model's generated response</a:t>
            </a:r>
            <a:endParaRPr lang="en-US" sz="1300" dirty="0"/>
          </a:p>
          <a:p>
            <a:pPr marL="264160" indent="-264160" algn="l">
              <a:lnSpc>
                <a:spcPct val="126000"/>
              </a:lnSpc>
              <a:buSzPct val="100000"/>
              <a:buChar char="•"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ToolMessage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result returned from a tool call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61475" y="5396706"/>
            <a:ext cx="3537060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LangChain provides a </a:t>
            </a: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unified interface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across all supported models — swap models without rewriting message logic.</a:t>
            </a:r>
            <a:endParaRPr lang="en-US" sz="13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E0C55A-A985-19A7-CD9D-F5FE30D12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985" y="1451764"/>
            <a:ext cx="6490253" cy="43268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904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 Templates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067719"/>
            <a:ext cx="5339820" cy="175746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77479" y="2282130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Separate Instructions from Data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977479" y="2690813"/>
            <a:ext cx="4809409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variables to inject runtime values: </a:t>
            </a:r>
            <a:r>
              <a:rPr lang="en-US" sz="14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'Explain {topic} for a {audience}'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the template stays constant while inputs change.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2067719"/>
            <a:ext cx="5339919" cy="175746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06305" y="2282130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PromptTemplate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506305" y="2690813"/>
            <a:ext cx="48095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simple, text-based prompts. Best suited for single-turn completions where a full chat history isn't needed.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014192"/>
            <a:ext cx="5339820" cy="174476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7479" y="4228604"/>
            <a:ext cx="48094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ChatPromptTemplate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77479" y="4637286"/>
            <a:ext cx="480940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message-based chat interactions. Combines System, Human, and AI message slots into a single reusable structure.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0301" y="4014192"/>
            <a:ext cx="5339919" cy="174476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506305" y="4228604"/>
            <a:ext cx="48095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It Matters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506305" y="4637286"/>
            <a:ext cx="4809509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Reusable, consistent, and easy to maintain — templates eliminate ad-hoc string formatting across your codebase.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2363986"/>
            <a:ext cx="1019844" cy="287139"/>
          </a:xfrm>
          <a:prstGeom prst="roundRect">
            <a:avLst>
              <a:gd name="adj" fmla="val 22118"/>
            </a:avLst>
          </a:prstGeom>
          <a:solidFill>
            <a:srgbClr val="E1E1EA"/>
          </a:solidFill>
          <a:ln/>
        </p:spPr>
      </p:sp>
      <p:sp>
        <p:nvSpPr>
          <p:cNvPr id="4" name="Text 1"/>
          <p:cNvSpPr/>
          <p:nvPr/>
        </p:nvSpPr>
        <p:spPr>
          <a:xfrm>
            <a:off x="774879" y="2420640"/>
            <a:ext cx="1402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CHAPTER 2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61475" y="272673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Chains, LCEL &amp; Structured Output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661475" y="4191496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Composing components into clean, maintainable pipelines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40991"/>
            <a:ext cx="3532397" cy="1070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LCEL: Composing Components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61475" y="2166739"/>
            <a:ext cx="3532397" cy="14586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1050"/>
              </a:spcAft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LangChain Expression Language (LCEL)</a:t>
            </a: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is the glue that connects components into sequences. Its pipe-based syntax is both readable and powerful:</a:t>
            </a:r>
            <a:endParaRPr lang="en-US" sz="1300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prompt | model | parser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61475" y="3765054"/>
            <a:ext cx="3532397" cy="2252762"/>
          </a:xfrm>
          <a:prstGeom prst="rect">
            <a:avLst/>
          </a:prstGeom>
          <a:noFill/>
          <a:ln/>
        </p:spPr>
        <p:txBody>
          <a:bodyPr wrap="square" lIns="0" tIns="68519" rIns="0" bIns="0" rtlCol="0" anchor="t">
            <a:normAutofit/>
          </a:bodyPr>
          <a:lstStyle/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Input flows from one component to the next automatically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boilerplate wiring — just declare the sequence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complex pipelines with parsing and transformation steps</a:t>
            </a:r>
            <a:endParaRPr lang="en-US" sz="1300" dirty="0"/>
          </a:p>
          <a:p>
            <a:pPr marL="264160" indent="-264160" algn="l">
              <a:lnSpc>
                <a:spcPct val="127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 with any LangChain-compatible runnable component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5F0AB07-12C9-A918-B4C2-B4166466F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1027" y="1757569"/>
            <a:ext cx="7083286" cy="354164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52053"/>
            <a:ext cx="10868745" cy="5445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Chains vs. Agents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61475" y="1518146"/>
            <a:ext cx="3527734" cy="2132905"/>
          </a:xfrm>
          <a:prstGeom prst="roundRect">
            <a:avLst>
              <a:gd name="adj" fmla="val 343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2048" y="1698724"/>
            <a:ext cx="3166586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⛓</a:t>
            </a:r>
            <a:r>
              <a:rPr lang="en-US" sz="17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Chain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2048" y="2131516"/>
            <a:ext cx="3166586" cy="13389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en-US" sz="13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predefined sequence</a:t>
            </a: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Input → Prompt → Model → Parser. The execution path is fixed and known in advance. Ideal when your workflow doesn't require dynamic decisions.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475" y="3811687"/>
            <a:ext cx="3527734" cy="1865114"/>
          </a:xfrm>
          <a:prstGeom prst="roundRect">
            <a:avLst>
              <a:gd name="adj" fmla="val 3924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048" y="3992265"/>
            <a:ext cx="3166586" cy="2721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🤖</a:t>
            </a:r>
            <a:r>
              <a:rPr lang="en-US" sz="17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Agent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2048" y="4425057"/>
            <a:ext cx="3166586" cy="107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</a:t>
            </a:r>
            <a:r>
              <a:rPr lang="en-US" sz="13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repeated decision-making and tool use</a:t>
            </a: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to pursue a goal. The path emerges at runtime based on the model's reasoning.</a:t>
            </a:r>
            <a:endParaRPr lang="en-US" sz="13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01" y="1652290"/>
            <a:ext cx="6915870" cy="38902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61475" y="6038155"/>
            <a:ext cx="11478330" cy="2677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calling is the foundation that bridges chains and agents — mastering it here unlocks more advanced agent patterns later.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33360" y="103336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Output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360" y="1907480"/>
            <a:ext cx="945035" cy="139154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367402" y="2096492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Define a Schema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6367402" y="2505174"/>
            <a:ext cx="516281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Pydantic models to specify expected fields, types, and descriptions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3360" y="3299023"/>
            <a:ext cx="945035" cy="113407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367402" y="3488035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Instruct the Model</a:t>
            </a:r>
            <a:endParaRPr lang="en-US" sz="1850" dirty="0"/>
          </a:p>
        </p:txBody>
      </p:sp>
      <p:sp>
        <p:nvSpPr>
          <p:cNvPr id="9" name="Text 4"/>
          <p:cNvSpPr/>
          <p:nvPr/>
        </p:nvSpPr>
        <p:spPr>
          <a:xfrm>
            <a:off x="6367402" y="3896717"/>
            <a:ext cx="51628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Ask the LLM to return data that matches your schema exactly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3360" y="4433094"/>
            <a:ext cx="945035" cy="139154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367402" y="4622105"/>
            <a:ext cx="516281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Receive a Validated Object</a:t>
            </a:r>
            <a:endParaRPr lang="en-US" sz="1850" dirty="0"/>
          </a:p>
        </p:txBody>
      </p:sp>
      <p:sp>
        <p:nvSpPr>
          <p:cNvPr id="12" name="Text 6"/>
          <p:cNvSpPr/>
          <p:nvPr/>
        </p:nvSpPr>
        <p:spPr>
          <a:xfrm>
            <a:off x="6367402" y="5030788"/>
            <a:ext cx="516281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manual parsing — get a typed Python object ready for your application logic</a:t>
            </a:r>
            <a:endParaRPr lang="en-US" sz="14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7B95E8-E20F-3049-05F4-0D12CB6633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6078"/>
            <a:ext cx="5135218" cy="256760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6677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Example: Structured Customer Request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944936" y="2123579"/>
            <a:ext cx="552991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"My payment failed twice and I need help immediately."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1953518"/>
            <a:ext cx="25399" cy="642541"/>
          </a:xfrm>
          <a:prstGeom prst="roundRect">
            <a:avLst>
              <a:gd name="adj" fmla="val 50001"/>
            </a:avLst>
          </a:prstGeom>
          <a:solidFill>
            <a:srgbClr val="1B1B27"/>
          </a:solidFill>
          <a:ln/>
        </p:spPr>
      </p:sp>
      <p:sp>
        <p:nvSpPr>
          <p:cNvPr id="5" name="Text 3"/>
          <p:cNvSpPr/>
          <p:nvPr/>
        </p:nvSpPr>
        <p:spPr>
          <a:xfrm>
            <a:off x="661475" y="2808684"/>
            <a:ext cx="5203794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Free-form user text like this is hard to route or process programmatically. With structured output, the model extracts exactly what your application needs — no regex, no parsing logic.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332776" y="1953518"/>
            <a:ext cx="5203794" cy="3050183"/>
          </a:xfrm>
          <a:prstGeom prst="roundRect">
            <a:avLst>
              <a:gd name="adj" fmla="val 2603"/>
            </a:avLst>
          </a:prstGeom>
          <a:noFill/>
          <a:ln w="635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32776" y="2504976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332776" y="3053259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332776" y="3601541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332776" y="4452243"/>
            <a:ext cx="5203794" cy="1181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339225" y="1959868"/>
            <a:ext cx="2595498" cy="545108"/>
          </a:xfrm>
          <a:custGeom>
            <a:avLst/>
            <a:gdLst/>
            <a:ahLst/>
            <a:cxnLst/>
            <a:rect l="l" t="t" r="r" b="b"/>
            <a:pathLst>
              <a:path w="2595498" h="545108">
                <a:moveTo>
                  <a:pt x="66156" y="0"/>
                </a:moveTo>
                <a:lnTo>
                  <a:pt x="2595498" y="0"/>
                </a:lnTo>
                <a:lnTo>
                  <a:pt x="2595498" y="545108"/>
                </a:lnTo>
                <a:lnTo>
                  <a:pt x="0" y="545108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1B1B27"/>
          </a:solidFill>
          <a:ln/>
        </p:spPr>
      </p:sp>
      <p:sp>
        <p:nvSpPr>
          <p:cNvPr id="12" name="Text 10"/>
          <p:cNvSpPr/>
          <p:nvPr/>
        </p:nvSpPr>
        <p:spPr>
          <a:xfrm>
            <a:off x="6528232" y="207962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Field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934723" y="1959868"/>
            <a:ext cx="2595498" cy="545108"/>
          </a:xfrm>
          <a:custGeom>
            <a:avLst/>
            <a:gdLst/>
            <a:ahLst/>
            <a:cxnLst/>
            <a:rect l="l" t="t" r="r" b="b"/>
            <a:pathLst>
              <a:path w="2595498" h="545108">
                <a:moveTo>
                  <a:pt x="0" y="0"/>
                </a:moveTo>
                <a:lnTo>
                  <a:pt x="2529341" y="0"/>
                </a:lnTo>
                <a:arcTo wR="66156" hR="66158" stAng="16200000" swAng="5400000"/>
                <a:lnTo>
                  <a:pt x="2595498" y="545108"/>
                </a:lnTo>
                <a:lnTo>
                  <a:pt x="0" y="545108"/>
                </a:lnTo>
                <a:lnTo>
                  <a:pt x="0" y="0"/>
                </a:lnTo>
                <a:close/>
              </a:path>
            </a:pathLst>
          </a:custGeom>
          <a:solidFill>
            <a:srgbClr val="1B1B27"/>
          </a:solidFill>
          <a:ln/>
        </p:spPr>
      </p:sp>
      <p:sp>
        <p:nvSpPr>
          <p:cNvPr id="14" name="Text 12"/>
          <p:cNvSpPr/>
          <p:nvPr/>
        </p:nvSpPr>
        <p:spPr>
          <a:xfrm>
            <a:off x="9123730" y="207962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Extracted Value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28232" y="2627908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Category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123730" y="2627908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528232" y="31761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Priority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23730" y="3176191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28232" y="3724473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Summary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23730" y="3724473"/>
            <a:ext cx="221748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Payment failure — occurred twice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8232" y="457517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Urgency Signal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23730" y="4575175"/>
            <a:ext cx="282706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"immediately" detected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332776" y="5216327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validated Pydantic object flows directly into your application code — routing, ticketing, or escalation logic.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2659360"/>
            <a:ext cx="1019844" cy="287139"/>
          </a:xfrm>
          <a:prstGeom prst="roundRect">
            <a:avLst>
              <a:gd name="adj" fmla="val 22118"/>
            </a:avLst>
          </a:prstGeom>
          <a:solidFill>
            <a:srgbClr val="E1E1EA"/>
          </a:solidFill>
          <a:ln/>
        </p:spPr>
      </p:sp>
      <p:sp>
        <p:nvSpPr>
          <p:cNvPr id="4" name="Text 1"/>
          <p:cNvSpPr/>
          <p:nvPr/>
        </p:nvSpPr>
        <p:spPr>
          <a:xfrm>
            <a:off x="774879" y="2716014"/>
            <a:ext cx="1402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CHAPTER 3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61475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Tools &amp; Tool Calling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661475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Extending LLM capabilities beyond text generation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B01B45B-8FA6-25B7-ED17-EA8EFEDD2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20626"/>
            <a:ext cx="3551049" cy="996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Input Schemas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61475" y="1851918"/>
            <a:ext cx="3551049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Well-typed tool arguments are essential for reliability. Pydantic models define input schemas so the model knows exactly what to pass — and your application can validate what it receives.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61475" y="2913559"/>
            <a:ext cx="3551049" cy="1793478"/>
          </a:xfrm>
          <a:prstGeom prst="rect">
            <a:avLst/>
          </a:prstGeom>
          <a:noFill/>
          <a:ln/>
        </p:spPr>
        <p:txBody>
          <a:bodyPr wrap="square" lIns="0" tIns="63794" rIns="0" bIns="0" rtlCol="0" anchor="t">
            <a:normAutofit/>
          </a:bodyPr>
          <a:lstStyle/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arguments should be </a:t>
            </a: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structured and well-typed</a:t>
            </a:r>
            <a:endParaRPr lang="en-US" sz="1250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Example: </a:t>
            </a:r>
            <a:r>
              <a:rPr lang="en-US" sz="12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calculator(expression: str)</a:t>
            </a:r>
            <a:endParaRPr lang="en-US" sz="1250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inputs improve validation, reliability, and debugging</a:t>
            </a:r>
            <a:endParaRPr lang="en-US" sz="1250" dirty="0"/>
          </a:p>
          <a:p>
            <a:pPr marL="254000" indent="-254000" algn="l">
              <a:lnSpc>
                <a:spcPct val="123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Clear field descriptions guide the model's argument generation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61475" y="4858345"/>
            <a:ext cx="3551049" cy="1262261"/>
          </a:xfrm>
          <a:prstGeom prst="roundRect">
            <a:avLst>
              <a:gd name="adj" fmla="val 5307"/>
            </a:avLst>
          </a:prstGeom>
          <a:solidFill>
            <a:srgbClr val="E1E1EA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15" y="5064522"/>
            <a:ext cx="199325" cy="1594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79681" y="5019179"/>
            <a:ext cx="2873402" cy="940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Think of the schema as a contract between the LLM and your tool — precision here prevents runtime errors downstream.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B34F50-12EA-48B7-8371-3B706A019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598" y="2060712"/>
            <a:ext cx="6940827" cy="231360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785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Calling Flow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066528"/>
            <a:ext cx="10868745" cy="28760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99780" y="3038978"/>
            <a:ext cx="1642940" cy="294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Request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499780" y="3416833"/>
            <a:ext cx="1642940" cy="47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Initial user question or command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3382469" y="2827170"/>
            <a:ext cx="1642940" cy="588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LLM Reasoning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3382469" y="3499203"/>
            <a:ext cx="1642940" cy="47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evaluates need for a tool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265158" y="3038978"/>
            <a:ext cx="1642940" cy="294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Selection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5265158" y="3416833"/>
            <a:ext cx="1642940" cy="47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Choose the appropriate tool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147847" y="2827170"/>
            <a:ext cx="1642941" cy="588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Argument Generation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7147847" y="3499203"/>
            <a:ext cx="1642941" cy="47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Prepare inputs for the tool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9040996" y="3038978"/>
            <a:ext cx="1642940" cy="294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Execution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9040996" y="3416833"/>
            <a:ext cx="1642940" cy="47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Application runs the selected tool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61475" y="5155208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model decides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when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tool is appropriate and supplies the arguments. The application executes the tool and returns the result — the model then uses it to generate a grounded final response.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672108"/>
            <a:ext cx="6931050" cy="389880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80659" y="1600597"/>
            <a:ext cx="3555812" cy="1467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Example: LangChain Research Assistant</a:t>
            </a:r>
            <a:endParaRPr lang="en-US" sz="3050" dirty="0"/>
          </a:p>
        </p:txBody>
      </p:sp>
      <p:sp>
        <p:nvSpPr>
          <p:cNvPr id="4" name="Text 1"/>
          <p:cNvSpPr/>
          <p:nvPr/>
        </p:nvSpPr>
        <p:spPr>
          <a:xfrm>
            <a:off x="7980659" y="3197622"/>
            <a:ext cx="3555812" cy="4577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practical end-to-end scenario showing tool calling in action: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61475" y="4862413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0112" y="4891683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3170" y="4916190"/>
            <a:ext cx="4871618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asks a research question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143170" y="5238452"/>
            <a:ext cx="4871618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model receives the natural-language query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6808" y="4862413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35445" y="4891683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58503" y="4916190"/>
            <a:ext cx="4871717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 decides a tool is needed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58503" y="5238452"/>
            <a:ext cx="4871717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Determines external information is required to answer accurately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61475" y="5726609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0112" y="5755878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143170" y="5780385"/>
            <a:ext cx="4871618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Search tool is called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43170" y="6102648"/>
            <a:ext cx="4871618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Result is returned to the model as a ToolMessage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76808" y="5726609"/>
            <a:ext cx="352119" cy="352127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35445" y="5755878"/>
            <a:ext cx="234746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658503" y="5780385"/>
            <a:ext cx="4871717" cy="2445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Grounded answer generated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658503" y="6102648"/>
            <a:ext cx="4871717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uses the retrieved result to produce an accurate, cited response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866279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Error Handling &amp; Reliability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834952"/>
            <a:ext cx="5339820" cy="198387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7931" y="2005013"/>
            <a:ext cx="226808" cy="22681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75881" y="2590899"/>
            <a:ext cx="49110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 the Failure Points</a:t>
            </a:r>
            <a:endParaRPr lang="en-US" sz="1850" dirty="0"/>
          </a:p>
        </p:txBody>
      </p:sp>
      <p:sp>
        <p:nvSpPr>
          <p:cNvPr id="6" name="Text 2"/>
          <p:cNvSpPr/>
          <p:nvPr/>
        </p:nvSpPr>
        <p:spPr>
          <a:xfrm>
            <a:off x="875881" y="2999581"/>
            <a:ext cx="49110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Invalid arguments, tool execution errors, and unexpected output formats are the most common culprits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1834952"/>
            <a:ext cx="5339919" cy="1983879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46757" y="2005013"/>
            <a:ext cx="226808" cy="22681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6404708" y="2590899"/>
            <a:ext cx="4911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Validate Early</a:t>
            </a:r>
            <a:endParaRPr lang="en-US" sz="1850" dirty="0"/>
          </a:p>
        </p:txBody>
      </p:sp>
      <p:sp>
        <p:nvSpPr>
          <p:cNvPr id="10" name="Text 4"/>
          <p:cNvSpPr/>
          <p:nvPr/>
        </p:nvSpPr>
        <p:spPr>
          <a:xfrm>
            <a:off x="6404708" y="2999581"/>
            <a:ext cx="4911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Pydantic schemas to catch bad inputs before they reach your tool's logic</a:t>
            </a:r>
            <a:endParaRPr lang="en-US" sz="14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007842"/>
            <a:ext cx="5339820" cy="1983879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17931" y="4177903"/>
            <a:ext cx="226808" cy="226814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875881" y="4763790"/>
            <a:ext cx="49110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 Intermediate Outputs</a:t>
            </a:r>
            <a:endParaRPr lang="en-US" sz="1850" dirty="0"/>
          </a:p>
        </p:txBody>
      </p:sp>
      <p:sp>
        <p:nvSpPr>
          <p:cNvPr id="14" name="Text 6"/>
          <p:cNvSpPr/>
          <p:nvPr/>
        </p:nvSpPr>
        <p:spPr>
          <a:xfrm>
            <a:off x="875881" y="5172472"/>
            <a:ext cx="49110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prompts, tool calls, and results during development — don't debug blind</a:t>
            </a:r>
            <a:endParaRPr lang="en-US" sz="145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4007842"/>
            <a:ext cx="5339919" cy="198387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46757" y="4177903"/>
            <a:ext cx="226808" cy="22681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6404708" y="4763790"/>
            <a:ext cx="4911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Handle Errors Gracefully</a:t>
            </a:r>
            <a:endParaRPr lang="en-US" sz="1850" dirty="0"/>
          </a:p>
        </p:txBody>
      </p:sp>
      <p:sp>
        <p:nvSpPr>
          <p:cNvPr id="18" name="Text 8"/>
          <p:cNvSpPr/>
          <p:nvPr/>
        </p:nvSpPr>
        <p:spPr>
          <a:xfrm>
            <a:off x="6404708" y="5172472"/>
            <a:ext cx="4911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Never pass raw error messages blindly to the user — transform exceptions into meaningful responses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1475" y="2212777"/>
            <a:ext cx="1019844" cy="287139"/>
          </a:xfrm>
          <a:prstGeom prst="roundRect">
            <a:avLst>
              <a:gd name="adj" fmla="val 22118"/>
            </a:avLst>
          </a:prstGeom>
          <a:solidFill>
            <a:srgbClr val="E1E1EA"/>
          </a:solidFill>
          <a:ln/>
        </p:spPr>
      </p:sp>
      <p:sp>
        <p:nvSpPr>
          <p:cNvPr id="4" name="Text 1"/>
          <p:cNvSpPr/>
          <p:nvPr/>
        </p:nvSpPr>
        <p:spPr>
          <a:xfrm>
            <a:off x="774879" y="2269430"/>
            <a:ext cx="140262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CHAPTER 4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61475" y="257552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Lab: Build a LangChain Application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661475" y="4040287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hands-on exercises — from a simple prompt chain to a complete tool-calling cycle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8141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Lab Architecture Overview</a:t>
            </a:r>
            <a:endParaRPr lang="en-US" sz="1850" dirty="0"/>
          </a:p>
        </p:txBody>
      </p:sp>
      <p:sp>
        <p:nvSpPr>
          <p:cNvPr id="3" name="Text 1"/>
          <p:cNvSpPr/>
          <p:nvPr/>
        </p:nvSpPr>
        <p:spPr>
          <a:xfrm>
            <a:off x="661475" y="2375297"/>
            <a:ext cx="3654135" cy="340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exercise builds on the previous one, progressively assembling a fully functional LangChain application. By the end of the lab, you'll have implemented every layer of the stack.</a:t>
            </a:r>
            <a:endParaRPr lang="en-US" sz="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538" y="947341"/>
            <a:ext cx="6983932" cy="31962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68292" y="1294508"/>
            <a:ext cx="1702837" cy="3862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Output &amp; Tools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668292" y="1735678"/>
            <a:ext cx="1702837" cy="231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layer: parsers, tool calls, and actions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738305" y="2383699"/>
            <a:ext cx="1544913" cy="193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 Model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717706" y="2631749"/>
            <a:ext cx="1565512" cy="347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processing: conversational LLM handling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9668292" y="2984084"/>
            <a:ext cx="1544913" cy="193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ChatPromptTemplate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68292" y="3232135"/>
            <a:ext cx="1702837" cy="231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Base layer: structured prompts and templates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1475" y="4249738"/>
            <a:ext cx="1358568" cy="484584"/>
          </a:xfrm>
          <a:prstGeom prst="roundRect">
            <a:avLst>
              <a:gd name="adj" fmla="val 819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74334" y="4408984"/>
            <a:ext cx="132851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114497" y="4344194"/>
            <a:ext cx="9321269" cy="153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🔧</a:t>
            </a: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Exercise 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114497" y="4526459"/>
            <a:ext cx="9321269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 + Chat Model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067270" y="4731147"/>
            <a:ext cx="9415723" cy="6350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16" name="Shape 13"/>
          <p:cNvSpPr/>
          <p:nvPr/>
        </p:nvSpPr>
        <p:spPr>
          <a:xfrm>
            <a:off x="661475" y="4781550"/>
            <a:ext cx="2717137" cy="484584"/>
          </a:xfrm>
          <a:prstGeom prst="roundRect">
            <a:avLst>
              <a:gd name="adj" fmla="val 819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953568" y="4940796"/>
            <a:ext cx="132851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473065" y="4876006"/>
            <a:ext cx="7962701" cy="153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📋</a:t>
            </a: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Exercise 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473065" y="5058271"/>
            <a:ext cx="7962701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Output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3425839" y="5262959"/>
            <a:ext cx="8057155" cy="6350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21" name="Shape 18"/>
          <p:cNvSpPr/>
          <p:nvPr/>
        </p:nvSpPr>
        <p:spPr>
          <a:xfrm>
            <a:off x="661475" y="5313363"/>
            <a:ext cx="4075705" cy="484584"/>
          </a:xfrm>
          <a:prstGeom prst="roundRect">
            <a:avLst>
              <a:gd name="adj" fmla="val 819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632902" y="5472609"/>
            <a:ext cx="132851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831634" y="5407819"/>
            <a:ext cx="6604132" cy="153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🛠</a:t>
            </a: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Exercise 3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831634" y="5590084"/>
            <a:ext cx="6604132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Add a Tool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4784407" y="5794772"/>
            <a:ext cx="6698586" cy="6350"/>
          </a:xfrm>
          <a:prstGeom prst="roundRect">
            <a:avLst>
              <a:gd name="adj" fmla="val 49999"/>
            </a:avLst>
          </a:prstGeom>
          <a:solidFill>
            <a:srgbClr val="C7C7D0"/>
          </a:solidFill>
          <a:ln/>
        </p:spPr>
      </p:sp>
      <p:sp>
        <p:nvSpPr>
          <p:cNvPr id="26" name="Shape 23"/>
          <p:cNvSpPr/>
          <p:nvPr/>
        </p:nvSpPr>
        <p:spPr>
          <a:xfrm>
            <a:off x="661475" y="5845175"/>
            <a:ext cx="5434373" cy="484584"/>
          </a:xfrm>
          <a:prstGeom prst="roundRect">
            <a:avLst>
              <a:gd name="adj" fmla="val 819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12236" y="6004421"/>
            <a:ext cx="132851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90301" y="5939631"/>
            <a:ext cx="5245465" cy="153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🔄</a:t>
            </a:r>
            <a:r>
              <a:rPr lang="en-US" sz="9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Exercise 4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190301" y="6121896"/>
            <a:ext cx="5245465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Tool-Calling Cycle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761405"/>
            <a:ext cx="879949" cy="246856"/>
          </a:xfrm>
          <a:prstGeom prst="roundRect">
            <a:avLst>
              <a:gd name="adj" fmla="val 22110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05" y="810121"/>
            <a:ext cx="1294673" cy="1494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EXERCISE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1064022"/>
            <a:ext cx="3546485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Prompt + LLM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61475" y="1711127"/>
            <a:ext cx="3546485" cy="7247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Your first LangChain pipeline: wire a prompt template to a chat model and generate a response from user input.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61475" y="2561530"/>
            <a:ext cx="3546485" cy="2079228"/>
          </a:xfrm>
          <a:prstGeom prst="rect">
            <a:avLst/>
          </a:prstGeom>
          <a:noFill/>
          <a:ln/>
        </p:spPr>
        <p:txBody>
          <a:bodyPr wrap="square" lIns="0" tIns="64975" rIns="0" bIns="0" rtlCol="0" anchor="t">
            <a:normAutofit/>
          </a:bodyPr>
          <a:lstStyle/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 a </a:t>
            </a: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ChatPromptTemplate</a:t>
            </a: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a system instruction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 it to a chat model using LCEL pipe syntax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Pass user input and display the model's response</a:t>
            </a:r>
            <a:endParaRPr lang="en-US" sz="1250" dirty="0"/>
          </a:p>
          <a:p>
            <a:pPr marL="254000" indent="-254000" algn="l">
              <a:lnSpc>
                <a:spcPct val="124000"/>
              </a:lnSpc>
              <a:buSzPct val="100000"/>
              <a:buChar char="•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Experiment with different system instructions — observe how behavior changes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1475" y="4797723"/>
            <a:ext cx="3546485" cy="1298773"/>
          </a:xfrm>
          <a:prstGeom prst="roundRect">
            <a:avLst>
              <a:gd name="adj" fmla="val 5253"/>
            </a:avLst>
          </a:prstGeom>
          <a:solidFill>
            <a:srgbClr val="B6D6F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92" y="5013424"/>
            <a:ext cx="202996" cy="16242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9305" y="4963914"/>
            <a:ext cx="2856238" cy="9663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Try changing the system role from "helpful assistant" to "Socratic tutor" — notice how the model's style shifts immediately.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0580" y="1480939"/>
            <a:ext cx="6925990" cy="389592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1434306"/>
            <a:ext cx="1023912" cy="287139"/>
          </a:xfrm>
          <a:prstGeom prst="roundRect">
            <a:avLst>
              <a:gd name="adj" fmla="val 22118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4879" y="1490960"/>
            <a:ext cx="1406688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EXERCISE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79705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Output</a:t>
            </a:r>
            <a:endParaRPr lang="en-US" sz="3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71167"/>
            <a:ext cx="3622882" cy="7560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482" y="3616226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Define the Model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4024908"/>
            <a:ext cx="3244868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Create a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Pydantic output model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typed fields — e.g. </a:t>
            </a:r>
            <a:r>
              <a:rPr lang="en-US" sz="14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category: str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4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priority: int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</a:t>
            </a:r>
            <a:r>
              <a:rPr lang="en-US" sz="14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summary: str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357" y="2671167"/>
            <a:ext cx="3622882" cy="75604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73364" y="3616226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Connect &amp; Prompt</a:t>
            </a:r>
            <a:endParaRPr lang="en-US" sz="1850" dirty="0"/>
          </a:p>
        </p:txBody>
      </p:sp>
      <p:sp>
        <p:nvSpPr>
          <p:cNvPr id="10" name="Text 6"/>
          <p:cNvSpPr/>
          <p:nvPr/>
        </p:nvSpPr>
        <p:spPr>
          <a:xfrm>
            <a:off x="4473364" y="4024908"/>
            <a:ext cx="324486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Attach the schema to your chat model and ask the LLM to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classify or extract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information from unstructured input</a:t>
            </a:r>
            <a:endParaRPr lang="en-US" sz="14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7239" y="2671167"/>
            <a:ext cx="3622882" cy="75604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96246" y="3616226"/>
            <a:ext cx="324486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Inspect &amp; Validate</a:t>
            </a:r>
            <a:endParaRPr lang="en-US" sz="1850" dirty="0"/>
          </a:p>
        </p:txBody>
      </p:sp>
      <p:sp>
        <p:nvSpPr>
          <p:cNvPr id="13" name="Text 8"/>
          <p:cNvSpPr/>
          <p:nvPr/>
        </p:nvSpPr>
        <p:spPr>
          <a:xfrm>
            <a:off x="8096246" y="4024908"/>
            <a:ext cx="3244868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Receive the structured object — inspect individual fields and confirm they match expectations before wiring to application logic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87388"/>
            <a:ext cx="6903269" cy="38831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32251" y="929184"/>
            <a:ext cx="1023912" cy="287139"/>
          </a:xfrm>
          <a:prstGeom prst="roundRect">
            <a:avLst>
              <a:gd name="adj" fmla="val 22118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145656" y="985837"/>
            <a:ext cx="1406688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EXERCISE 3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8032251" y="1291927"/>
            <a:ext cx="3504219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Add a Tool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8032251" y="2071588"/>
            <a:ext cx="350421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 your application by defining and binding a tool — then test when the model decides to use it.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032251" y="3148905"/>
            <a:ext cx="3504219" cy="2926358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 a simple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calculator or search tool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with a clear name and description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 a Pydantic input schema for the tool's arguments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the tool to the chat model using </a:t>
            </a:r>
            <a:r>
              <a:rPr lang="en-US" sz="14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.bind_tools()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requests that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do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do not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require the tool — observe the model's decision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9807"/>
            <a:ext cx="511658" cy="143470"/>
          </a:xfrm>
          <a:prstGeom prst="roundRect">
            <a:avLst>
              <a:gd name="adj" fmla="val 22134"/>
            </a:avLst>
          </a:prstGeom>
          <a:noFill/>
          <a:ln w="6350">
            <a:solidFill>
              <a:srgbClr val="1B1B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8127" y="548084"/>
            <a:ext cx="1007938" cy="869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5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EXERCISE 4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661475" y="682129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Tool-Calling Cycle</a:t>
            </a:r>
            <a:endParaRPr lang="en-US" sz="1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11" y="1048246"/>
            <a:ext cx="9890473" cy="52387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19981" y="4792368"/>
            <a:ext cx="2445413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Request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346085" y="5185003"/>
            <a:ext cx="2619309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asks a question or provides a task.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63553" y="1783077"/>
            <a:ext cx="2445412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 Selects Tool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389657" y="2175711"/>
            <a:ext cx="2619308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reasons and chooses tool with arguments.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58647" y="1783077"/>
            <a:ext cx="2445413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 Executes Tool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7258647" y="2175711"/>
            <a:ext cx="2619309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Application runs the tool and returns results.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182470" y="4792538"/>
            <a:ext cx="2445412" cy="305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 Final Answer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182470" y="5185172"/>
            <a:ext cx="2619308" cy="366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78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integrates tool output into final response.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1475" y="6340078"/>
            <a:ext cx="11478330" cy="1134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Observe the </a:t>
            </a:r>
            <a:r>
              <a:rPr lang="en-US" sz="7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complete cycle end-to-end</a:t>
            </a: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the model reasons about the request, selects a tool, your application executes it, and the model weaves the result into a final, grounded answer.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17649"/>
            <a:ext cx="3509081" cy="1162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Debugging Your LangChain App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61475" y="2063651"/>
            <a:ext cx="3509081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something goes wrong, systematic inspection is faster than guessing. Build debugging habits from the start.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114278"/>
            <a:ext cx="3509081" cy="3145036"/>
          </a:xfrm>
          <a:prstGeom prst="rect">
            <a:avLst/>
          </a:prstGeom>
          <a:noFill/>
          <a:ln/>
        </p:spPr>
        <p:txBody>
          <a:bodyPr wrap="square" lIns="0" tIns="74426" rIns="0" bIns="0" rtlCol="0" anchor="t">
            <a:normAutofit/>
          </a:bodyPr>
          <a:lstStyle/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prompts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is the system instruction correct? Are variables injected properly?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Inspect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model responses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tool call arguments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before execution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structured-output validation errors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Pydantic messages tell you exactly what failed</a:t>
            </a:r>
            <a:endParaRPr lang="en-US" sz="1450" dirty="0"/>
          </a:p>
          <a:p>
            <a:pPr marL="294640" indent="-294640" algn="l">
              <a:lnSpc>
                <a:spcPct val="132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 </a:t>
            </a:r>
            <a:r>
              <a:rPr lang="en-US" sz="14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intermediate outputs</a:t>
            </a: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at every stage during development</a:t>
            </a:r>
            <a:endParaRPr lang="en-US" sz="14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0721" y="1486595"/>
            <a:ext cx="6905849" cy="388461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4591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LangChain Design Principles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14588"/>
            <a:ext cx="5339820" cy="140424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6832" y="2609949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Single Responsibility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856832" y="3018631"/>
            <a:ext cx="4949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each component focused on one job — prompt templates prompt, tools execute, parsers parse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2414588"/>
            <a:ext cx="5339919" cy="14042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85658" y="2609949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Reuse &amp; Consistency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385658" y="3018631"/>
            <a:ext cx="49492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reusable prompt templates and structured data wherever possible — avoid ad-hoc string formatting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007842"/>
            <a:ext cx="5339820" cy="140424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56832" y="4203204"/>
            <a:ext cx="49491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Clear Tool Contracts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56832" y="4611886"/>
            <a:ext cx="49491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 tools descriptive names, clear descriptions, and well-typed schemas — the model's decisions depend on it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301" y="4007842"/>
            <a:ext cx="5339919" cy="140424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385658" y="4203204"/>
            <a:ext cx="494920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Validate Everything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385658" y="4611886"/>
            <a:ext cx="49492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 external inputs and tool results — keep architecture simple and guard every boundary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62868"/>
            <a:ext cx="6296860" cy="498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Module Summary &amp; What's Next</a:t>
            </a:r>
            <a:endParaRPr lang="en-US" sz="3100" dirty="0"/>
          </a:p>
        </p:txBody>
      </p:sp>
      <p:sp>
        <p:nvSpPr>
          <p:cNvPr id="4" name="Shape 1"/>
          <p:cNvSpPr/>
          <p:nvPr/>
        </p:nvSpPr>
        <p:spPr>
          <a:xfrm>
            <a:off x="5233360" y="1263055"/>
            <a:ext cx="6296860" cy="1157089"/>
          </a:xfrm>
          <a:prstGeom prst="roundRect">
            <a:avLst>
              <a:gd name="adj" fmla="val 578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11851" y="1441549"/>
            <a:ext cx="5939880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Building Blocks Mastered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11851" y="1771352"/>
            <a:ext cx="5939880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Prompts, chat models, messages, chains, structured output, and tools — you now have the full LangChain toolkit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233360" y="2554684"/>
            <a:ext cx="6296860" cy="1157089"/>
          </a:xfrm>
          <a:prstGeom prst="roundRect">
            <a:avLst>
              <a:gd name="adj" fmla="val 578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11851" y="2733179"/>
            <a:ext cx="5939880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LCEL Pipelines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411851" y="3062982"/>
            <a:ext cx="5939880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Compose components into clean, readable, and maintainable pipelines using the pipe operator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233360" y="3846314"/>
            <a:ext cx="6296860" cy="1157089"/>
          </a:xfrm>
          <a:prstGeom prst="roundRect">
            <a:avLst>
              <a:gd name="adj" fmla="val 578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11851" y="4024809"/>
            <a:ext cx="5939880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Tool Calling Foundation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411851" y="4354612"/>
            <a:ext cx="5939880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complete tool-calling cycle is the gateway to advanced agent behavior — you've built it from scratch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233360" y="5137944"/>
            <a:ext cx="6296860" cy="1157089"/>
          </a:xfrm>
          <a:prstGeom prst="roundRect">
            <a:avLst>
              <a:gd name="adj" fmla="val 5789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C7C7D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1851" y="5316438"/>
            <a:ext cx="5939880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Next: Building AI Agents with LangGraph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5411851" y="5646241"/>
            <a:ext cx="5939880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Take these primitives further — build multi-step, decision-making agents that reason and act autonomously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1828</Words>
  <Application>Microsoft Office PowerPoint</Application>
  <PresentationFormat>Widescreen</PresentationFormat>
  <Paragraphs>262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Consolas</vt:lpstr>
      <vt:lpstr>Roboto</vt:lpstr>
      <vt:lpstr>Raleway Light</vt:lpstr>
      <vt:lpstr>Raleway</vt:lpstr>
      <vt:lpstr>Roboto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Atul Kahate</cp:lastModifiedBy>
  <cp:revision>3</cp:revision>
  <dcterms:created xsi:type="dcterms:W3CDTF">2026-08-25T13:42:02Z</dcterms:created>
  <dcterms:modified xsi:type="dcterms:W3CDTF">2026-09-20T10:25:38Z</dcterms:modified>
</cp:coreProperties>
</file>