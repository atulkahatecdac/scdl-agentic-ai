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Raleway" pitchFamily="2" charset="0"/>
      <p:regular r:id="rId36"/>
    </p:embeddedFont>
    <p:embeddedFont>
      <p:font typeface="Raleway Light" pitchFamily="2" charset="0"/>
      <p:regular r:id="rId37"/>
      <p:italic r:id="rId38"/>
    </p:embeddedFont>
    <p:embeddedFont>
      <p:font typeface="Roboto" panose="02000000000000000000" pitchFamily="2" charset="0"/>
      <p:regular r:id="rId39"/>
      <p:bold r:id="rId40"/>
      <p:italic r:id="rId41"/>
    </p:embeddedFont>
    <p:embeddedFont>
      <p:font typeface="Roboto Bold" panose="02000000000000000000" pitchFamily="2" charset="0"/>
      <p:regular r:id="rId42"/>
      <p:bold r:id="rId4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906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3 — Working with LangChain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Certificate in Agentic AI and Software Solutions · 10-Hour Module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4502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You'll Learn in This Module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37874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640681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76143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 LangChain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33360" y="2106712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it exists and when to reach for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262344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2885380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3006130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Prompts, Models &amp; Messages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33360" y="3351411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with chat models and message types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386814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130080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250829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Pipelines &amp; Structured Output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33360" y="4596110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chains with LCEL and validate model responses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3360" y="511284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374779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495528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&amp; Tool Calling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233360" y="5840809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tools and build a basic tool-calling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027489" y="806351"/>
            <a:ext cx="3509081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LangChain?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8027489" y="2152352"/>
            <a:ext cx="3509081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 is 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open-source framework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building LLM-powered applications. It provides reusable abstractions — models, prompts, tools, messages, and structured output — that connect LLMs with application logic and external capabilities.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27489" y="4129980"/>
            <a:ext cx="3509081" cy="1898848"/>
          </a:xfrm>
          <a:prstGeom prst="roundRect">
            <a:avLst>
              <a:gd name="adj" fmla="val 4116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520" y="4406305"/>
            <a:ext cx="232563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2113" y="4341217"/>
            <a:ext cx="2718427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distinction: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LangChain is not an LLM — it is an application development framework that sits on top of any supported model.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5F0C1-8706-43F6-18D8-3573B3BBA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48" y="722244"/>
            <a:ext cx="7026965" cy="4684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Use LangChain?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Eliminates Boilerplate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more repetitive integration code every time you connect to an LLM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14588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Standardized Interface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 with different models through a single, consistent API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External Connectivity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LLMs to tools, APIs, databases, and external systems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Scales to Agents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blocks that grow naturally into LangGraph agent frameworks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LangChain Application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its core, every LangChain application follows a clean, composable flow from user input to final output.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11" y="1076027"/>
            <a:ext cx="9890473" cy="523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9981" y="4820150"/>
            <a:ext cx="2445413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346085" y="5212784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queries and context from users.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63553" y="1810858"/>
            <a:ext cx="244541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Template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89657" y="2203493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templates, formatters, and parsers.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58647" y="1810858"/>
            <a:ext cx="2445413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Model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258647" y="2203493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Invoke model with tools, retrievers, logic.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2470" y="4820319"/>
            <a:ext cx="244541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Parsed Output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182470" y="5212954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structured, validated final results.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1475" y="636785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 composes these stages into a coherent, maintainable application — abstracting away the complexity of each integration point.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659360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716014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30221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Building Blocks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89622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essential components that power every LangChain application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90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8 Core LangChain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7700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1982589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Models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2391271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 messages as input and return structured responses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917700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8163" y="1982589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828163" y="2391271"/>
            <a:ext cx="47020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templates for instructing models consistently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74132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343902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Messages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3847703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conversation units — System, Human, AI, Tool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374132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28163" y="343902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Output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828163" y="3847703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Parse and validate model responses against a defined schema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30564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75723" y="4895453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75723" y="5304135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Callable functions the model can invoke at runtime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830564"/>
            <a:ext cx="378014" cy="37802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28163" y="4895453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Runnables / Chains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828163" y="5304135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Compose components into end-to-end processing pipelines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2490"/>
            <a:ext cx="35370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Models &amp; Messages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914525"/>
            <a:ext cx="353706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 structures every conversation using four distinct message types. Together, they give the model the context it needs to behave correctly and respond accurately.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067844"/>
            <a:ext cx="3537060" cy="2193925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SystemMessage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sets the model's behavior and persona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HumanMessage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user's request or input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AIMessage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model's generated response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ToolMessage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result returned from a tool call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5396706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 provides a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unified interface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supported models — swap models without rewriting message logic.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E0C55A-A985-19A7-CD9D-F5FE30D12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985" y="1451764"/>
            <a:ext cx="6490253" cy="4326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9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Templates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67719"/>
            <a:ext cx="5339820" cy="175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82130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Separate Instructions from Data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90813"/>
            <a:ext cx="4809409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variables to inject runtime values: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'Explain {topic} for a {audience}'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template stays constant while inputs change.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067719"/>
            <a:ext cx="5339919" cy="17574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282130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PromptTemplate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690813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simple, text-based prompts. Best suited for single-turn completions where a full chat history isn't needed.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14192"/>
            <a:ext cx="5339820" cy="17447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228604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ChatPromptTemplate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637286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message-based chat interactions. Combines System, Human, and AI message slots into a single reusable structure.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014192"/>
            <a:ext cx="5339919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228604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Matters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637286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Reusable, consistent, and easy to maintain — templates eliminate ad-hoc string formatting across your codebase.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363986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420640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726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Chains, LCEL &amp; Structured Output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419149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Composing components into clean, maintainable pipelines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0991"/>
            <a:ext cx="3532397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LCEL: Composing Components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2166739"/>
            <a:ext cx="3532397" cy="1458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LangChain Expression Language (LCEL)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glue that connects components into sequences. Its pipe-based syntax is both readable and powerful: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prompt | model | parser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765054"/>
            <a:ext cx="3532397" cy="2252762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flows from one component to the next automatically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boilerplate wiring — just declare the sequence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complex pipelines with parsing and transformation steps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with any LangChain-compatible runnable component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F0AB07-12C9-A918-B4C2-B4166466F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027" y="1757569"/>
            <a:ext cx="7083286" cy="3541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05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Chains vs. Agents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518146"/>
            <a:ext cx="3527734" cy="2132905"/>
          </a:xfrm>
          <a:prstGeom prst="roundRect">
            <a:avLst>
              <a:gd name="adj" fmla="val 343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2048" y="1698724"/>
            <a:ext cx="3166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⛓</a:t>
            </a: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Chain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2048" y="2131516"/>
            <a:ext cx="3166586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predefined sequence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Input → Prompt → Model → Parser. The execution path is fixed and known in advance. Ideal when your workflow doesn't require dynamic decisions.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3811687"/>
            <a:ext cx="3527734" cy="1865114"/>
          </a:xfrm>
          <a:prstGeom prst="roundRect">
            <a:avLst>
              <a:gd name="adj" fmla="val 39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2048" y="3992265"/>
            <a:ext cx="316658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🤖</a:t>
            </a: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Agent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2048" y="4425057"/>
            <a:ext cx="3166586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repeated decision-making and tool use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pursue a goal. The path emerges at runtime based on the model's reasoning.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601" y="1652290"/>
            <a:ext cx="6915870" cy="38902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1475" y="6038155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calling is the foundation that bridges chains and agents — mastering it here unlocks more advanced agent patterns later.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103336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Output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1907480"/>
            <a:ext cx="945035" cy="13915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67402" y="2096492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a Schema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367402" y="2505174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Pydantic models to specify expected fields, types, and descriptions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299023"/>
            <a:ext cx="945035" cy="1134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67402" y="348803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Instruct the Model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367402" y="389671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the LLM to return data that matches your schema exactly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4433094"/>
            <a:ext cx="945035" cy="13915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67402" y="462210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Receive a Validated Object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367402" y="5030788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manual parsing — get a typed Python object ready for your application logic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7B95E8-E20F-3049-05F4-0D12CB6633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6078"/>
            <a:ext cx="5135218" cy="25676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67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 Structured Customer Request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2123579"/>
            <a:ext cx="55299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"My payment failed twice and I need help immediately."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953518"/>
            <a:ext cx="25399" cy="642541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808684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Free-form user text like this is hard to route or process programmatically. With structured output, the model extracts exactly what your application needs — no regex, no parsing logic.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1953518"/>
            <a:ext cx="5203794" cy="3050183"/>
          </a:xfrm>
          <a:prstGeom prst="roundRect">
            <a:avLst>
              <a:gd name="adj" fmla="val 260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32776" y="2504976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32776" y="3053259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32776" y="3601541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32776" y="4452243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39225" y="1959868"/>
            <a:ext cx="2595498" cy="545108"/>
          </a:xfrm>
          <a:custGeom>
            <a:avLst/>
            <a:gdLst/>
            <a:ahLst/>
            <a:cxnLst/>
            <a:rect l="l" t="t" r="r" b="b"/>
            <a:pathLst>
              <a:path w="2595498" h="545108">
                <a:moveTo>
                  <a:pt x="66156" y="0"/>
                </a:moveTo>
                <a:lnTo>
                  <a:pt x="2595498" y="0"/>
                </a:lnTo>
                <a:lnTo>
                  <a:pt x="2595498" y="545108"/>
                </a:lnTo>
                <a:lnTo>
                  <a:pt x="0" y="54510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232" y="207962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Field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934723" y="1959868"/>
            <a:ext cx="2595498" cy="545108"/>
          </a:xfrm>
          <a:custGeom>
            <a:avLst/>
            <a:gdLst/>
            <a:ahLst/>
            <a:cxnLst/>
            <a:rect l="l" t="t" r="r" b="b"/>
            <a:pathLst>
              <a:path w="2595498" h="545108">
                <a:moveTo>
                  <a:pt x="0" y="0"/>
                </a:moveTo>
                <a:lnTo>
                  <a:pt x="2529341" y="0"/>
                </a:lnTo>
                <a:arcTo wR="66156" hR="66158" stAng="16200000" swAng="5400000"/>
                <a:lnTo>
                  <a:pt x="2595498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9123730" y="207962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Extracted Value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28232" y="2627908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23730" y="2627908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28232" y="31761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23730" y="31761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28232" y="372447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23730" y="3724473"/>
            <a:ext cx="22174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failure — occurred twice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28232" y="457517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Urgency Signal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23730" y="457517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"immediately" detected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32776" y="521632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validated Pydantic object flows directly into your application code — routing, ticketing, or escalation logic.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659360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716014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30221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&amp; Tool Calling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89622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Extending LLM capabilities beyond text generation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B01B45B-8FA6-25B7-ED17-EA8EFEDD2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0626"/>
            <a:ext cx="3551049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Input Schemas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851918"/>
            <a:ext cx="3551049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Well-typed tool arguments are essential for reliability. Pydantic models define input schemas so the model knows exactly what to pass — and your application can validate what it receives.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913559"/>
            <a:ext cx="3551049" cy="1793478"/>
          </a:xfrm>
          <a:prstGeom prst="rect">
            <a:avLst/>
          </a:prstGeom>
          <a:noFill/>
          <a:ln/>
        </p:spPr>
        <p:txBody>
          <a:bodyPr wrap="square" lIns="0" tIns="63794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arguments should be </a:t>
            </a: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structured and well-typed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calculator(expression: str)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inputs improve validation, reliability, and debugging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field descriptions guide the model's argument generation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4858345"/>
            <a:ext cx="3551049" cy="1262261"/>
          </a:xfrm>
          <a:prstGeom prst="roundRect">
            <a:avLst>
              <a:gd name="adj" fmla="val 5307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15" y="5064522"/>
            <a:ext cx="199325" cy="159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9681" y="5019179"/>
            <a:ext cx="2873402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of the schema as a contract between the LLM and your tool — precision here prevents runtime errors downstream.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B34F50-12EA-48B7-8371-3B706A019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598" y="2060712"/>
            <a:ext cx="6940827" cy="23136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 Flow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52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Request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user question or command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2827170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Reasoning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49920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evaluates need for a tool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Selection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the appropriate tool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2827170"/>
            <a:ext cx="1642941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Argument Generation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99203"/>
            <a:ext cx="1642941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 inputs for the tool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Execution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runs the selected tool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1552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decides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when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tool is appropriate and supplies the arguments. The application executes the tool and returns the result — the model then uses it to generate a grounded final response.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72108"/>
            <a:ext cx="6931050" cy="38988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0659" y="1600597"/>
            <a:ext cx="3555812" cy="1467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Example: LangChain Research Assistant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980659" y="3197622"/>
            <a:ext cx="355581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practical end-to-end scenario showing tool calling in action: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61475" y="4862413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0112" y="489168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43170" y="4916190"/>
            <a:ext cx="4871618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asks a research question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170" y="5238452"/>
            <a:ext cx="4871618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receives the natural-language query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6808" y="4862413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35445" y="4891683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58503" y="4916190"/>
            <a:ext cx="48717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decides a tool is needed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58503" y="5238452"/>
            <a:ext cx="48717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Determines external information is required to answer accurately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1475" y="5726609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0112" y="5755878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43170" y="5780385"/>
            <a:ext cx="4871618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tool is called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43170" y="6102648"/>
            <a:ext cx="4871618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 is returned to the model as a ToolMessage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6808" y="5726609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5445" y="5755878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658503" y="5780385"/>
            <a:ext cx="48717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Grounded answer generated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58503" y="6102648"/>
            <a:ext cx="48717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uses the retrieved result to produce an accurate, cited response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62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Handling &amp; Reliability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34952"/>
            <a:ext cx="5339820" cy="198387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931" y="2005013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25908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 the Failure Points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2999581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Invalid arguments, tool execution errors, and unexpected output formats are the most common culprits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1834952"/>
            <a:ext cx="5339919" cy="198387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757" y="2005013"/>
            <a:ext cx="226808" cy="22681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4708" y="259089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Early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6404708" y="2999581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Pydantic schemas to catch bad inputs before they reach your tool's logic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1983879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7931" y="4177903"/>
            <a:ext cx="226808" cy="22681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75881" y="4763790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 Intermediate Outputs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75881" y="5172472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prompts, tool calls, and results during development — don't debug blind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1983879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46757" y="4177903"/>
            <a:ext cx="226808" cy="22681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404708" y="4763790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Handle Errors Gracefully</a:t>
            </a:r>
            <a:endParaRPr lang="en-US" sz="1850" dirty="0"/>
          </a:p>
        </p:txBody>
      </p:sp>
      <p:sp>
        <p:nvSpPr>
          <p:cNvPr id="18" name="Text 8"/>
          <p:cNvSpPr/>
          <p:nvPr/>
        </p:nvSpPr>
        <p:spPr>
          <a:xfrm>
            <a:off x="6404708" y="5172472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pass raw error messages blindly to the user — transform exceptions into meaningful responses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212777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269430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4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575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Build a LangChain Application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40402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hands-on exercises — from a simple prompt chain to a complete tool-calling cycle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14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Architecture Overview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2375297"/>
            <a:ext cx="3654135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exercise builds on the previous one, progressively assembling a fully functional LangChain application. By the end of the lab, you'll have implemented every layer of the stack.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538" y="947341"/>
            <a:ext cx="6983932" cy="31962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68292" y="1294508"/>
            <a:ext cx="1702837" cy="38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Output &amp; Tools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68292" y="1735678"/>
            <a:ext cx="1702837" cy="231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layer: parsers, tool calls, and actions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38305" y="2383699"/>
            <a:ext cx="154491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17706" y="2631749"/>
            <a:ext cx="1565512" cy="34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processing: conversational LLM handling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668292" y="2984084"/>
            <a:ext cx="154491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ChatPromptTemplate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68292" y="3232135"/>
            <a:ext cx="1702837" cy="231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layer: structured prompts and templates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1475" y="4249738"/>
            <a:ext cx="1358568" cy="484584"/>
          </a:xfrm>
          <a:prstGeom prst="roundRect">
            <a:avLst>
              <a:gd name="adj" fmla="val 81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74334" y="4408984"/>
            <a:ext cx="1328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14497" y="4344194"/>
            <a:ext cx="9321269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🔧</a:t>
            </a: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Exercise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114497" y="4526459"/>
            <a:ext cx="932126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+ Chat Model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067270" y="4731147"/>
            <a:ext cx="9415723" cy="63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61475" y="4781550"/>
            <a:ext cx="2717137" cy="484584"/>
          </a:xfrm>
          <a:prstGeom prst="roundRect">
            <a:avLst>
              <a:gd name="adj" fmla="val 81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53568" y="4940796"/>
            <a:ext cx="1328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3065" y="4876006"/>
            <a:ext cx="796270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📋</a:t>
            </a: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Exercise 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73065" y="5058271"/>
            <a:ext cx="79627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Output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425839" y="5262959"/>
            <a:ext cx="8057155" cy="63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1" name="Shape 18"/>
          <p:cNvSpPr/>
          <p:nvPr/>
        </p:nvSpPr>
        <p:spPr>
          <a:xfrm>
            <a:off x="661475" y="5313363"/>
            <a:ext cx="4075705" cy="484584"/>
          </a:xfrm>
          <a:prstGeom prst="roundRect">
            <a:avLst>
              <a:gd name="adj" fmla="val 81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32902" y="5472609"/>
            <a:ext cx="1328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31634" y="5407819"/>
            <a:ext cx="660413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🛠</a:t>
            </a: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Exercise 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31634" y="5590084"/>
            <a:ext cx="660413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Tool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784407" y="5794772"/>
            <a:ext cx="6698586" cy="63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6" name="Shape 23"/>
          <p:cNvSpPr/>
          <p:nvPr/>
        </p:nvSpPr>
        <p:spPr>
          <a:xfrm>
            <a:off x="661475" y="5845175"/>
            <a:ext cx="5434373" cy="484584"/>
          </a:xfrm>
          <a:prstGeom prst="roundRect">
            <a:avLst>
              <a:gd name="adj" fmla="val 81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12236" y="6004421"/>
            <a:ext cx="1328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90301" y="5939631"/>
            <a:ext cx="5245465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🔄</a:t>
            </a: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Exercise 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90301" y="6121896"/>
            <a:ext cx="524546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Tool-Calling Cycle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1405"/>
            <a:ext cx="879949" cy="246856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05" y="810121"/>
            <a:ext cx="1294673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EXERCISE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64022"/>
            <a:ext cx="354648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+ LLM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11127"/>
            <a:ext cx="354648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first LangChain pipeline: wire a prompt template to a chat model and generate a response from user input.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561530"/>
            <a:ext cx="3546485" cy="2079228"/>
          </a:xfrm>
          <a:prstGeom prst="rect">
            <a:avLst/>
          </a:prstGeom>
          <a:noFill/>
          <a:ln/>
        </p:spPr>
        <p:txBody>
          <a:bodyPr wrap="square" lIns="0" tIns="64975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</a:t>
            </a: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ChatPromptTemplate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system instruction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it to a chat model using LCEL pipe syntax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 user input and display the model's response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 with different system instructions — observe how behavior changes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4797723"/>
            <a:ext cx="3546485" cy="1298773"/>
          </a:xfrm>
          <a:prstGeom prst="roundRect">
            <a:avLst>
              <a:gd name="adj" fmla="val 5253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92" y="5013424"/>
            <a:ext cx="202996" cy="1624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9305" y="4963914"/>
            <a:ext cx="2856238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changing the system role from "helpful assistant" to "Socratic tutor" — notice how the model's style shifts immediately.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580" y="1480939"/>
            <a:ext cx="6925990" cy="38959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34306"/>
            <a:ext cx="102391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490960"/>
            <a:ext cx="14066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EXERCISE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970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Output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71167"/>
            <a:ext cx="3622882" cy="756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361622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the Model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4024908"/>
            <a:ext cx="3244868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Pydantic output model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typed fields — e.g.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str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int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summary: str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671167"/>
            <a:ext cx="3622882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3364" y="361622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Connect &amp; Prompt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473364" y="4024908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 the schema to your chat model and ask the LLM to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classify or extract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information from unstructured input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671167"/>
            <a:ext cx="3622882" cy="756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6246" y="361622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Inspect &amp; Validate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96246" y="4024908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the structured object — inspect individual fields and confirm they match expectations before wiring to application logic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2251" y="929184"/>
            <a:ext cx="102391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45656" y="985837"/>
            <a:ext cx="14066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EXERCISE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032251" y="1291927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a Tool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8032251" y="2071588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your application by defining and binding a tool — then test when the model decides to use it.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32251" y="3148905"/>
            <a:ext cx="3504219" cy="292635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a simple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calculator or search tool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clear name and description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Pydantic input schema for the tool's arguments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 the tool to the chat model using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.bind_tools()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requests that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 not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 the tool — observe the model's decision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511658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00793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EXERCISE 4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Tool-Calling Cycle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11" y="1048246"/>
            <a:ext cx="9890473" cy="523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9981" y="4792368"/>
            <a:ext cx="2445413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Request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46085" y="5185003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asks a question or provides a task.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63553" y="1783077"/>
            <a:ext cx="244541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Selects Tool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89657" y="2175711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reasons and chooses tool with arguments.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58647" y="1783077"/>
            <a:ext cx="2445413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 Executes Tool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258647" y="2175711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runs the tool and returns results.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82470" y="4792538"/>
            <a:ext cx="244541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Final Answer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182470" y="5185172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integrates tool output into final response.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475" y="634007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Observe the </a:t>
            </a: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complete cycle end-to-end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the model reasons about the request, selects a tool, your application executes it, and the model weaves the result into a final, grounded answer.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7649"/>
            <a:ext cx="3509081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Debugging Your LangChain App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2063651"/>
            <a:ext cx="350908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something goes wrong, systematic inspection is faster than guessing. Build debugging habits from the start.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14278"/>
            <a:ext cx="3509081" cy="3145036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prompts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is the system instruction correct? Are variables injected properly?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 responses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 call arguments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execution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structured-output validation errors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Pydantic messages tell you exactly what failed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intermediate outputs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every stage during development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21" y="1486595"/>
            <a:ext cx="6905849" cy="388461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LangChain Design Principles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14588"/>
            <a:ext cx="5339820" cy="14042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Single Responsibility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each component focused on one job — prompt templates prompt, tools execute, parsers parse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414588"/>
            <a:ext cx="5339919" cy="14042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Reuse &amp; Consistency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reusable prompt templates and structured data wherever possible — avoid ad-hoc string formatting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14042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Clear Tool Contracts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6832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 tools descriptive names, clear descriptions, and well-typed schemas — the model's decisions depend on it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14042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Everything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385658" y="461188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external inputs and tool results — keep architecture simple and guard every boundary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Summary &amp; What's Next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233360" y="1263055"/>
            <a:ext cx="6296860" cy="1157089"/>
          </a:xfrm>
          <a:prstGeom prst="roundRect">
            <a:avLst>
              <a:gd name="adj" fmla="val 57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1851" y="1441549"/>
            <a:ext cx="593988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Building Blocks Mastered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11851" y="1771352"/>
            <a:ext cx="593988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Prompts, chat models, messages, chains, structured output, and tools — you now have the full LangChain toolkit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33360" y="2554684"/>
            <a:ext cx="6296860" cy="1157089"/>
          </a:xfrm>
          <a:prstGeom prst="roundRect">
            <a:avLst>
              <a:gd name="adj" fmla="val 57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1851" y="2733179"/>
            <a:ext cx="593988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LCEL Pipelines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11851" y="3062982"/>
            <a:ext cx="593988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Compose components into clean, readable, and maintainable pipelines using the pipe operator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3360" y="3846314"/>
            <a:ext cx="6296860" cy="1157089"/>
          </a:xfrm>
          <a:prstGeom prst="roundRect">
            <a:avLst>
              <a:gd name="adj" fmla="val 57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11851" y="4024809"/>
            <a:ext cx="593988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 Foundation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11851" y="4354612"/>
            <a:ext cx="593988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complete tool-calling cycle is the gateway to advanced agent behavior — you've built it from scratch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3360" y="5137944"/>
            <a:ext cx="6296860" cy="1157089"/>
          </a:xfrm>
          <a:prstGeom prst="roundRect">
            <a:avLst>
              <a:gd name="adj" fmla="val 57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1851" y="5316438"/>
            <a:ext cx="593988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Next: Building AI Agents with LangGraph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11851" y="5646241"/>
            <a:ext cx="593988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these primitives further — build multi-step, decision-making agents that reason and act autonomously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1829</Words>
  <Application>Microsoft Office PowerPoint</Application>
  <PresentationFormat>Widescreen</PresentationFormat>
  <Paragraphs>262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Roboto</vt:lpstr>
      <vt:lpstr>Raleway Light</vt:lpstr>
      <vt:lpstr>Raleway</vt:lpstr>
      <vt:lpstr>Consolas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Atul Kahate</cp:lastModifiedBy>
  <cp:revision>2</cp:revision>
  <dcterms:created xsi:type="dcterms:W3CDTF">2026-08-25T13:42:02Z</dcterms:created>
  <dcterms:modified xsi:type="dcterms:W3CDTF">2026-09-20T09:50:35Z</dcterms:modified>
</cp:coreProperties>
</file>