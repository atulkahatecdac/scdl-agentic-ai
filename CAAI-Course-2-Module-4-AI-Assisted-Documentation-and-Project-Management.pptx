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1.png"/><Relationship Id="rId6" Type="http://schemas.openxmlformats.org/officeDocument/2006/relationships/image" Target="../media/image-20-2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1.png"/><Relationship Id="rId10" Type="http://schemas.openxmlformats.org/officeDocument/2006/relationships/image" Target="../media/image-20-2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image" Target="../media/image-20-1.png"/><Relationship Id="rId14" Type="http://schemas.openxmlformats.org/officeDocument/2006/relationships/image" Target="../media/image-20-2.sv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svg"/><Relationship Id="rId17" Type="http://schemas.openxmlformats.org/officeDocument/2006/relationships/image" Target="../media/image-20-1.png"/><Relationship Id="rId18" Type="http://schemas.openxmlformats.org/officeDocument/2006/relationships/image" Target="../media/image-20-2.sv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1.png"/><Relationship Id="rId4" Type="http://schemas.openxmlformats.org/officeDocument/2006/relationships/image" Target="../media/image-24-2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5.png"/><Relationship Id="rId8" Type="http://schemas.openxmlformats.org/officeDocument/2006/relationships/image" Target="../media/image-24-6.svg"/><Relationship Id="rId9" Type="http://schemas.openxmlformats.org/officeDocument/2006/relationships/image" Target="../media/image-24-5.png"/><Relationship Id="rId10" Type="http://schemas.openxmlformats.org/officeDocument/2006/relationships/image" Target="../media/image-24-6.svg"/><Relationship Id="rId11" Type="http://schemas.openxmlformats.org/officeDocument/2006/relationships/image" Target="../media/image-24-5.png"/><Relationship Id="rId12" Type="http://schemas.openxmlformats.org/officeDocument/2006/relationships/image" Target="../media/image-24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1.png"/><Relationship Id="rId4" Type="http://schemas.openxmlformats.org/officeDocument/2006/relationships/image" Target="../media/image-28-2.svg"/><Relationship Id="rId5" Type="http://schemas.openxmlformats.org/officeDocument/2006/relationships/image" Target="../media/image-28-1.png"/><Relationship Id="rId6" Type="http://schemas.openxmlformats.org/officeDocument/2006/relationships/image" Target="../media/image-28-2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image" Target="../media/image-28-7.png"/><Relationship Id="rId10" Type="http://schemas.openxmlformats.org/officeDocument/2006/relationships/image" Target="../media/image-28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image" Target="../media/image-31-2.png"/><Relationship Id="rId5" Type="http://schemas.openxmlformats.org/officeDocument/2006/relationships/image" Target="../media/image-31-3.svg"/><Relationship Id="rId6" Type="http://schemas.openxmlformats.org/officeDocument/2006/relationships/image" Target="../media/image-31-2.png"/><Relationship Id="rId7" Type="http://schemas.openxmlformats.org/officeDocument/2006/relationships/image" Target="../media/image-31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8788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Documentation &amp; Project Management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5265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Certificate in Agentic AI and Software Solutions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30-Slide Outline | 10-hour module | Beginner-friendly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28141"/>
            <a:ext cx="6296860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Documentation &amp; Project Management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233360" y="1858070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3934" y="2038648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13934" y="2407146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generative AI to create and maintain software documentation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3360" y="3016151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3934" y="3196729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Management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13934" y="3565227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AI for planning, tracking, and project communication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33360" y="4174232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934" y="4354810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Artifacts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13934" y="4723309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Generating requirements, user stories, and project artifacts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3360" y="5332313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3934" y="5512891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413934" y="5881390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documentation and a simple project plan with AI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635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Objectives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427559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7900" y="1460798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1226214" y="1488380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Documentation in Context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6214" y="1864916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the role of documentation in software projects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61475" y="2471738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7900" y="2504976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1226214" y="2532559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&amp; Improve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6214" y="2909094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AI to generate and improve technical documentation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61475" y="3515916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900" y="3549154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1226214" y="3576737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Artifacts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6214" y="3953272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AI to create project management artifacts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61475" y="4560094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7900" y="4593332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1226214" y="4620915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Stories &amp; Tasks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6214" y="4997450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user stories, tasks, and acceptance criteria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61475" y="5604272"/>
            <a:ext cx="398651" cy="398661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7900" y="563751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050" dirty="0"/>
          </a:p>
        </p:txBody>
      </p:sp>
      <p:sp>
        <p:nvSpPr>
          <p:cNvPr id="21" name="Text 19"/>
          <p:cNvSpPr/>
          <p:nvPr/>
        </p:nvSpPr>
        <p:spPr>
          <a:xfrm>
            <a:off x="1226214" y="5665093"/>
            <a:ext cx="1030400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&amp; Validate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26214" y="6041628"/>
            <a:ext cx="10304006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AI-generated project and documentation content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9733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Documentation Matters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476996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Documents communicate how a system works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documentation helps developers, testers, and users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Documentation reduces dependency on individual team members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should be accurate, clear, and easy to maintain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09753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38427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1482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Well-maintained documentation is the foundation of a sustainable software project.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75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Types of Software Documentation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6624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166243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 Documentation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574925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Captures what the system must do and the constraints it operates under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16624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166243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Documentation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574925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Describes endpoints, parameters, responses, and error codes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57786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3557786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/ Design Docs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396646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Explains system design, components, and key decisions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3557786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3557786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README &amp; Setup Guides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3966468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new developers get started quickly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4949329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0177" y="494932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Documentation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370177" y="5358011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Guides end-users on how to use the software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13915" y="4949329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22617" y="494932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Release Notes &amp; Change Logs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922617" y="5358011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Tracks what changed between software versions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2756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AI Helps with Documentation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03066"/>
            <a:ext cx="6903269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first drafts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existing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technical concepts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 notes into structured documents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clarity and consistency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 documentation after code changes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363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Documentation Workflow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5084"/>
            <a:ext cx="10868745" cy="48909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98699" y="1381370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Sources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298699" y="1758907"/>
            <a:ext cx="190200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Gather repos, specs, and notes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179801" y="504961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 Context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179801" y="5427148"/>
            <a:ext cx="191245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relevant code and constraints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040002" y="1344792"/>
            <a:ext cx="1902003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Draft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040002" y="1722329"/>
            <a:ext cx="1902003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initial AI-written content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21104" y="504961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&amp; Sync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921104" y="5427148"/>
            <a:ext cx="1902004" cy="40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accuracy and keep updated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61475" y="6145907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Following this workflow ensures AI-generated documentation stays accurate and aligned with the actual codebase.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963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Generating a README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8830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well-structured README is often the first document developers encounter. AI can generate a complete README covering all essential sections: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305770"/>
            <a:ext cx="10868745" cy="2032595"/>
          </a:xfrm>
          <a:prstGeom prst="roundRect">
            <a:avLst>
              <a:gd name="adj" fmla="val 390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3312120"/>
            <a:ext cx="3618616" cy="673298"/>
          </a:xfrm>
          <a:custGeom>
            <a:avLst/>
            <a:gdLst/>
            <a:ahLst/>
            <a:cxnLst/>
            <a:rect l="l" t="t" r="r" b="b"/>
            <a:pathLst>
              <a:path w="3618616" h="673298">
                <a:moveTo>
                  <a:pt x="66156" y="0"/>
                </a:moveTo>
                <a:lnTo>
                  <a:pt x="3618616" y="0"/>
                </a:lnTo>
                <a:lnTo>
                  <a:pt x="3618616" y="673298"/>
                </a:lnTo>
                <a:lnTo>
                  <a:pt x="0" y="673298"/>
                </a:lnTo>
                <a:lnTo>
                  <a:pt x="0" y="66158"/>
                </a:lnTo>
                <a:arcTo hR="66158" wR="66156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501132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4286440" y="3312120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4286440" y="331212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4475447" y="3501132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7905155" y="3312120"/>
            <a:ext cx="3618715" cy="673298"/>
          </a:xfrm>
          <a:custGeom>
            <a:avLst/>
            <a:gdLst/>
            <a:ahLst/>
            <a:cxnLst/>
            <a:rect l="l" t="t" r="r" b="b"/>
            <a:pathLst>
              <a:path w="3618715" h="673298">
                <a:moveTo>
                  <a:pt x="0" y="0"/>
                </a:moveTo>
                <a:lnTo>
                  <a:pt x="3552558" y="0"/>
                </a:lnTo>
                <a:arcTo hR="66158" wR="66156" stAng="16200000" swAng="5400000"/>
                <a:lnTo>
                  <a:pt x="3618715" y="673298"/>
                </a:lnTo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1" name="Shape 9"/>
          <p:cNvSpPr/>
          <p:nvPr/>
        </p:nvSpPr>
        <p:spPr>
          <a:xfrm>
            <a:off x="7905155" y="331212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2" name="Text 10"/>
          <p:cNvSpPr/>
          <p:nvPr/>
        </p:nvSpPr>
        <p:spPr>
          <a:xfrm>
            <a:off x="8094162" y="3501132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Prerequisites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67825" y="3985419"/>
            <a:ext cx="3618616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825" y="3985419"/>
            <a:ext cx="3618616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3"/>
          <p:cNvSpPr/>
          <p:nvPr/>
        </p:nvSpPr>
        <p:spPr>
          <a:xfrm>
            <a:off x="856832" y="4174430"/>
            <a:ext cx="32406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Installation</a:t>
            </a: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4286440" y="3985419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4286440" y="3985419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4286440" y="3985419"/>
            <a:ext cx="361871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7"/>
          <p:cNvSpPr/>
          <p:nvPr/>
        </p:nvSpPr>
        <p:spPr>
          <a:xfrm>
            <a:off x="4475447" y="4174430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Configuration</a:t>
            </a:r>
            <a:endParaRPr lang="en-US" sz="1850" dirty="0"/>
          </a:p>
        </p:txBody>
      </p:sp>
      <p:sp>
        <p:nvSpPr>
          <p:cNvPr id="20" name="Shape 18"/>
          <p:cNvSpPr/>
          <p:nvPr/>
        </p:nvSpPr>
        <p:spPr>
          <a:xfrm>
            <a:off x="7905155" y="3985419"/>
            <a:ext cx="3618715" cy="673298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21" name="Shape 19"/>
          <p:cNvSpPr/>
          <p:nvPr/>
        </p:nvSpPr>
        <p:spPr>
          <a:xfrm>
            <a:off x="7905155" y="3985419"/>
            <a:ext cx="25399" cy="673298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22" name="Shape 20"/>
          <p:cNvSpPr/>
          <p:nvPr/>
        </p:nvSpPr>
        <p:spPr>
          <a:xfrm>
            <a:off x="7905155" y="3985419"/>
            <a:ext cx="3618715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3" name="Text 21"/>
          <p:cNvSpPr/>
          <p:nvPr/>
        </p:nvSpPr>
        <p:spPr>
          <a:xfrm>
            <a:off x="8094162" y="4174430"/>
            <a:ext cx="324070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Usage Examples</a:t>
            </a:r>
            <a:endParaRPr lang="en-US" sz="1850" dirty="0"/>
          </a:p>
        </p:txBody>
      </p:sp>
      <p:sp>
        <p:nvSpPr>
          <p:cNvPr id="24" name="Shape 22"/>
          <p:cNvSpPr/>
          <p:nvPr/>
        </p:nvSpPr>
        <p:spPr>
          <a:xfrm>
            <a:off x="667825" y="4658717"/>
            <a:ext cx="10856046" cy="673298"/>
          </a:xfrm>
          <a:custGeom>
            <a:avLst/>
            <a:gdLst/>
            <a:ahLst/>
            <a:cxnLst/>
            <a:rect l="l" t="t" r="r" b="b"/>
            <a:pathLst>
              <a:path w="10856046" h="673298">
                <a:moveTo>
                  <a:pt x="0" y="0"/>
                </a:moveTo>
                <a:lnTo>
                  <a:pt x="10856046" y="0"/>
                </a:lnTo>
                <a:lnTo>
                  <a:pt x="10856046" y="607140"/>
                </a:lnTo>
                <a:arcTo hR="66158" wR="66156" stAng="0" swAng="5400000"/>
                <a:lnTo>
                  <a:pt x="66156" y="673298"/>
                </a:lnTo>
                <a:arcTo hR="66158" wR="66156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667825" y="4658717"/>
            <a:ext cx="10856046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26" name="Text 24"/>
          <p:cNvSpPr/>
          <p:nvPr/>
        </p:nvSpPr>
        <p:spPr>
          <a:xfrm>
            <a:off x="856832" y="4847729"/>
            <a:ext cx="1047803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Troubleshooting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69733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Documenting Existing Code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476996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 AI the relevant source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it to explain purpose, inputs, outputs, and dependencies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function or class documentation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explanation against the actual implementation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09753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38427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31482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verify AI-generated code explanations — the model may misinterpret complex or ambiguous logic.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58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Documentation with AI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44563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95897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Endpoints &amp; Purpose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367657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each endpoint and what it does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744563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95897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Request Parameters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367657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required and optional parameters with types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744563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95897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Response Formats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367657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the structure and fields of each response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75918"/>
            <a:ext cx="3496877" cy="17376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3590330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Example Requests &amp; Responses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294287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 realistic examples to help developers integrate quickly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375918"/>
            <a:ext cx="3496877" cy="17376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35903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Errors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3999012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error codes and how to handle them</a:t>
            </a:r>
            <a:endParaRPr lang="en-US" sz="1450" dirty="0"/>
          </a:p>
        </p:txBody>
      </p:sp>
      <p:sp>
        <p:nvSpPr>
          <p:cNvPr id="18" name="Shape 11"/>
          <p:cNvSpPr/>
          <p:nvPr/>
        </p:nvSpPr>
        <p:spPr>
          <a:xfrm>
            <a:off x="661475" y="5326162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F2B5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482" y="5593854"/>
            <a:ext cx="236234" cy="18901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75723" y="5562402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all examples against the actual API before publishing.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834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Creating Technical Documentation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57016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3523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Overview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76105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High-level description of the system and its purpose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157016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3523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Main Components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76105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modules, services, and how they relate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157016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35237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Flow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761059"/>
            <a:ext cx="310616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data moves through the system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75027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394563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Dependencies &amp; Config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354314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libraries, services, and configuration options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750270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3945632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Decisions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354314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Important architectural choices and the rationale behind them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475" y="536713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diagrams or structured descriptions where useful to make complex systems easier to understand.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2855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for Documentation Updates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03166"/>
            <a:ext cx="5203794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the old documentation and changed code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identify outdated sections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updated sections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changes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documentation changes together with code changes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1732855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Documentation Quality Checks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32776" y="3103166"/>
            <a:ext cx="5203794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information accurate?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the language clear?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examples correct?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important steps missing?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Are there contradictions?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Can a new developer follow the instructions?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5741"/>
            <a:ext cx="707412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02395"/>
            <a:ext cx="10901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8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Project Management?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5227"/>
            <a:ext cx="3504219" cy="3504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3201" y="292754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Planning and coordinating work to deliver a software product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Includes requirements, tasks, timelines, resources, risks, and communication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assist with many planning and administrative activities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16662" y="4349651"/>
            <a:ext cx="66198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is a powerful co-pilot for project management — but humans remain the decision-makers.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3201" y="4179590"/>
            <a:ext cx="25399" cy="944959"/>
          </a:xfrm>
          <a:prstGeom prst="roundRect">
            <a:avLst>
              <a:gd name="adj" fmla="val 50001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844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in the Software Project Lifecycle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29530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06210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Testing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98610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92096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Planning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84495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94909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assist with artifacts and communication throughout the lifecycle. Human decisions remain important for priorities and trade-offs.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65248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Generating User Stories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526605"/>
            <a:ext cx="6296860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stories describe requirements from a user's perspective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format: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As a [user], I want [goal], so that [benefit]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convert business requirements into draft user stories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stories with stakeholders before implementation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4147145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67" y="4414838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47608" y="4383385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AI-generated user stories are a starting point — always validate them with your team and stakeholders.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87909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Acceptance Criteria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67570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Acceptance criteria define when a requirement is considered complete.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940050"/>
            <a:ext cx="6903269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suggest testable conditions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 criteria should be clear and measurable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781028"/>
            <a:ext cx="751285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 conditions for a login feature: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253508"/>
            <a:ext cx="690326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Successful login with valid credentials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message for invalid password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Account locked after repeated failures</a:t>
            </a:r>
            <a:endParaRPr lang="en-US" sz="14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708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Breaking Requirements into Tasks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839541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Large Requirement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with a high-level user story or feature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2839541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Decomposition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suggests development, testing, documentation, and deployment tasks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2839541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784600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&amp; Scope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4193282"/>
            <a:ext cx="324486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task list for completeness and realistic scope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12" y="497185"/>
            <a:ext cx="4397563" cy="58636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6163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Creating a Project Plan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233360" y="1361579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13934" y="1542157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Goal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13934" y="1910655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statement of what the project aims to achieve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3360" y="2519660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3934" y="2700238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Deliverables &amp; Tasks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13934" y="3068737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Major outputs broken into tasks with dependencies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33360" y="3677741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934" y="3858320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Milestones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13934" y="4226818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checkpoints and target dates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3360" y="4835823"/>
            <a:ext cx="6296860" cy="997446"/>
          </a:xfrm>
          <a:prstGeom prst="roundRect">
            <a:avLst>
              <a:gd name="adj" fmla="val 733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13934" y="5016401"/>
            <a:ext cx="593571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Effort &amp; Risks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413934" y="5384899"/>
            <a:ext cx="5935712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Estimated effort, risks, and assumptions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233360" y="6013946"/>
            <a:ext cx="6906444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generate a first draft project plan directly from a project description.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6429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Task Prioritization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43956"/>
            <a:ext cx="6903269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urgent and important work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tasks by feature or workstream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dependencies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 a possible implementation order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 priorities should be decided by the project team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432995"/>
            <a:ext cx="6903269" cy="736997"/>
          </a:xfrm>
          <a:prstGeom prst="roundRect">
            <a:avLst>
              <a:gd name="adj" fmla="val 10772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719737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650284"/>
            <a:ext cx="670959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propose an order — but only the team knows the real constraints.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484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Status Reports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209278"/>
            <a:ext cx="10868745" cy="8682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221" y="1534815"/>
            <a:ext cx="216986" cy="2169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0077" y="1372989"/>
            <a:ext cx="9996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Completed Work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370077" y="1665486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what has been finished since the last report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188270"/>
            <a:ext cx="10868745" cy="86826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8221" y="2513806"/>
            <a:ext cx="216986" cy="21699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70077" y="2351980"/>
            <a:ext cx="9996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Current Activities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1370077" y="2644477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List what the team is actively working on right now</a:t>
            </a:r>
            <a:endParaRPr lang="en-US" sz="11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167261"/>
            <a:ext cx="10868745" cy="868263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8221" y="3492798"/>
            <a:ext cx="216986" cy="21699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370077" y="3330972"/>
            <a:ext cx="9996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Blockers</a:t>
            </a:r>
            <a:endParaRPr lang="en-US" sz="1400" dirty="0"/>
          </a:p>
        </p:txBody>
      </p:sp>
      <p:sp>
        <p:nvSpPr>
          <p:cNvPr id="14" name="Text 6"/>
          <p:cNvSpPr/>
          <p:nvPr/>
        </p:nvSpPr>
        <p:spPr>
          <a:xfrm>
            <a:off x="1370077" y="3623469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 issues preventing progress</a:t>
            </a:r>
            <a:endParaRPr lang="en-US" sz="11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4146252"/>
            <a:ext cx="10868745" cy="868263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8221" y="4471789"/>
            <a:ext cx="216986" cy="21699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370077" y="4309963"/>
            <a:ext cx="9996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Upcoming Work</a:t>
            </a:r>
            <a:endParaRPr lang="en-US" sz="1400" dirty="0"/>
          </a:p>
        </p:txBody>
      </p:sp>
      <p:sp>
        <p:nvSpPr>
          <p:cNvPr id="18" name="Text 8"/>
          <p:cNvSpPr/>
          <p:nvPr/>
        </p:nvSpPr>
        <p:spPr>
          <a:xfrm>
            <a:off x="1370077" y="4602460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what is planned for the next period</a:t>
            </a:r>
            <a:endParaRPr lang="en-US" sz="11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5125244"/>
            <a:ext cx="10868745" cy="868263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8221" y="5450780"/>
            <a:ext cx="216986" cy="21699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1370077" y="5288955"/>
            <a:ext cx="999643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Risks &amp; Decisions</a:t>
            </a:r>
            <a:endParaRPr lang="en-US" sz="1400" dirty="0"/>
          </a:p>
        </p:txBody>
      </p:sp>
      <p:sp>
        <p:nvSpPr>
          <p:cNvPr id="22" name="Text 10"/>
          <p:cNvSpPr/>
          <p:nvPr/>
        </p:nvSpPr>
        <p:spPr>
          <a:xfrm>
            <a:off x="1370077" y="5581452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outstanding risks and key decisions made</a:t>
            </a:r>
            <a:endParaRPr lang="en-US" sz="1100" dirty="0"/>
          </a:p>
        </p:txBody>
      </p:sp>
      <p:sp>
        <p:nvSpPr>
          <p:cNvPr id="23" name="Text 11"/>
          <p:cNvSpPr/>
          <p:nvPr/>
        </p:nvSpPr>
        <p:spPr>
          <a:xfrm>
            <a:off x="661475" y="6118126"/>
            <a:ext cx="1147833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convert meeting notes or task updates into a polished status report.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028130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Meeting Notes with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807791"/>
            <a:ext cx="6903269" cy="2144911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discussions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 decisions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action items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owners when explicitly known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unresolved questions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AI-generated notes before sharing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35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Risk Identification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52178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74754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800" y="1903413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50358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Risks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91226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Unknown technologies, integration challenges, or performance issues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552178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42716" y="174754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8684" y="1903413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2716" y="250358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Schedule Risks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42716" y="291226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Delays in deliverables or unrealistic timelines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552178"/>
            <a:ext cx="3496877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8600" y="1747540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4568" y="1903413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8600" y="2503587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Dependency Risks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8600" y="2912269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 systems or teams that may not deliver on time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3901480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56832" y="4096841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00" y="4252714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6832" y="485288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Resource Risks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6832" y="526157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Staff availability, skill gaps, or budget constraints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3901480"/>
            <a:ext cx="5339820" cy="1857871"/>
          </a:xfrm>
          <a:prstGeom prst="roundRect">
            <a:avLst>
              <a:gd name="adj" fmla="val 427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5658" y="4096841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1626" y="4252714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658" y="4852888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&amp; Quality Risks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85658" y="5261570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Vulnerabilities or gaps in testing coverage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61475" y="59719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suggest potential risks from project information, but teams must validate them.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7335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AI-Assisted Estimation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76996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help break work into smaller pieces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can suggest rough effort ranges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Estimates depend on team experience and project context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AI estimates as starting points, not commitments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4097536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384278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314825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Never treat AI-generated estimates as fixed commitments — context and team expertise always matter more.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251" y="1676797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1299"/>
            <a:ext cx="10868745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Problems with AI-Generated Project Artifacts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10395"/>
            <a:ext cx="5345673" cy="1386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1526" y="2418854"/>
            <a:ext cx="482716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Unrealistic Timelines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71526" y="2811264"/>
            <a:ext cx="4827169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may suggest schedules that ignore real-world constraints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4448" y="2210395"/>
            <a:ext cx="5345773" cy="1386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4498" y="2418854"/>
            <a:ext cx="48272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Dependencies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94498" y="2811264"/>
            <a:ext cx="48272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task relationships may be overlooked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773884"/>
            <a:ext cx="5345673" cy="10977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26" y="3982343"/>
            <a:ext cx="482716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Incorrect Assumptions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971526" y="4374753"/>
            <a:ext cx="482716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fills gaps with plausible but unverified details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4448" y="3773884"/>
            <a:ext cx="5345773" cy="10977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94498" y="3982343"/>
            <a:ext cx="48272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Overly Generic Requirements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494498" y="4374753"/>
            <a:ext cx="48272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Stories may lack the specificity needed for implementation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048945"/>
            <a:ext cx="5345673" cy="10977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1526" y="5257403"/>
            <a:ext cx="4827169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Poorly Scoped Tasks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971526" y="5649813"/>
            <a:ext cx="4827169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Tasks that are too large or too small to be actionable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4448" y="5048945"/>
            <a:ext cx="5345773" cy="109775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494498" y="5257403"/>
            <a:ext cx="4827268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Confident but Unsupported Estimates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6494498" y="5649813"/>
            <a:ext cx="4827268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Numbers presented with false precision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4587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Responsible Use of AI in Projects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84897"/>
            <a:ext cx="5203794" cy="238125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share confidential project information unnecessarily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requirements and technical details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 not let AI make critical project decisions without human review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Clearly communicate assumptions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an authoritative source for project decisions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19684"/>
            <a:ext cx="133693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176338"/>
            <a:ext cx="17197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 EXERCISE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824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Generate Project Requirements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5654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652415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79767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Choose a Project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5" y="320635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a simple software project to use as your example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35654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2652415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347359" y="279767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Write a Business Description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347359" y="320635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a short description of what the project should do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35654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2652415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244" y="2797671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User Stories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33244" y="3206353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produce user stories from your description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437757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58301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Acceptance Criteria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61475" y="4991695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define testable conditions for each story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90301" y="414188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0301" y="4437757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301" y="4583013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&amp; Refine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190301" y="4991695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the requirements and improve them with your own knowledge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45741"/>
            <a:ext cx="133693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02395"/>
            <a:ext cx="17197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 EXERCISE 2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084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Create Project Tasks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95227"/>
            <a:ext cx="3504219" cy="3504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3201" y="2511822"/>
            <a:ext cx="6903269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 the user stories into development tasks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testing and documentation tasks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dependencies between tasks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tasks into logical phases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 simple project backlog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633201" y="450086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E1E1E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08" y="4787602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47449" y="471814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well-structured backlog makes it much easier to track progress and plan sprints.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3345"/>
            <a:ext cx="133693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939998"/>
            <a:ext cx="17197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 EXERCISE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4608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Create Documentation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20205"/>
            <a:ext cx="3496877" cy="19838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6410" y="2261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75881" y="287615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README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75881" y="3284835"/>
            <a:ext cx="30680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 README for the project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120205"/>
            <a:ext cx="3496877" cy="19838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82294" y="2261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4561766" y="287615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 Docs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61766" y="3284835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 the main components and their responsibilities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120205"/>
            <a:ext cx="3496877" cy="198387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68179" y="226198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247650" y="2876153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/ Module Docs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8247650" y="3284835"/>
            <a:ext cx="30680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basic API or module documentation</a:t>
            </a:r>
            <a:endParaRPr lang="en-US" sz="14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93096"/>
            <a:ext cx="5339820" cy="168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217931" y="443488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875881" y="504904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Setup Guide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875881" y="5457726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setup and usage instructions</a:t>
            </a:r>
            <a:endParaRPr lang="en-US" sz="14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0301" y="4293096"/>
            <a:ext cx="5339820" cy="16814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746757" y="443488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6404708" y="5049044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</a:t>
            </a:r>
            <a:endParaRPr lang="en-US" sz="1850" dirty="0"/>
          </a:p>
        </p:txBody>
      </p:sp>
      <p:sp>
        <p:nvSpPr>
          <p:cNvPr id="24" name="Text 17"/>
          <p:cNvSpPr/>
          <p:nvPr/>
        </p:nvSpPr>
        <p:spPr>
          <a:xfrm>
            <a:off x="6404708" y="5457726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all documents for accuracy and completeness</a:t>
            </a:r>
            <a:endParaRPr lang="en-US" sz="14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14338"/>
            <a:ext cx="133693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70992"/>
            <a:ext cx="171971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 EXERCISE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462312"/>
            <a:ext cx="690326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Lab: Project Status &amp; Review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241973"/>
            <a:ext cx="6903269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sample progress updates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Ask AI to generate a project status report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blockers and risks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 short action-item list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the output and correct unsupported assumptions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251" y="1926729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16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 Summary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3030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12566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Documentation Creation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53434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accelerate documentation creation and maintenance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93030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12566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Requirements to Artifacts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53434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turn requirements into user stories, tasks, and project artifacts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930301"/>
            <a:ext cx="3496877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12566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Summaries &amp; Reports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534345"/>
            <a:ext cx="310616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can summarize meetings and project status efficiently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52355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Review Required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12759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AI-generated plans and estimates always require human review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523555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3718917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 &amp; Ownership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127599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Accuracy, confidentiality, and clear ownership remain important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14042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5408116"/>
            <a:ext cx="236234" cy="18901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275723" y="537666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takeaway: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Use AI to reduce project administration while keeping humans responsible for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3369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What's Next?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140781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You've completed Module 4 of the Certificate in Agentic AI and Software Solutions. You are now equipped to use AI as a practical tool for both documentation and project management.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4201" y="2533551"/>
            <a:ext cx="283461" cy="2834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7608" y="2527697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Practice the Labs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847608" y="2936379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what you learned by completing all four lab exercises with a real or sample project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4201" y="3925094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47608" y="3919240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 &amp; Iterate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847608" y="4327922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Try different prompts and compare AI outputs — refine until they meet your standards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4201" y="5316637"/>
            <a:ext cx="283461" cy="2834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47608" y="5310783"/>
            <a:ext cx="568261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Continue the Certificate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847608" y="5719465"/>
            <a:ext cx="568261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Move on to the next module and keep building your Agentic AI skill set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2026-08-26T06:59:52Z</dcterms:created>
  <dcterms:modified xsi:type="dcterms:W3CDTF">2026-08-26T06:59:52Z</dcterms:modified>
</cp:coreProperties>
</file>