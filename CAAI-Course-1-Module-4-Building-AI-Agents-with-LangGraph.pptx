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1695" cy="6858000"/>
  <p:notesSz cx="6858000" cy="12191695"/>
  <p:embeddedFontLst>
    <p:embeddedFont>
      <p:font typeface="Raleway Bold"/>
      <p:regular r:id="rId201314"/>
    </p:embeddedFont>
    <p:embeddedFont>
      <p:font typeface="Raleway"/>
      <p:regular r:id="rId201315"/>
    </p:embeddedFont>
    <p:embeddedFont>
      <p:font typeface="Roboto"/>
      <p:regular r:id="rId201316"/>
    </p:embeddedFont>
    <p:embeddedFont>
      <p:font typeface="Roboto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sp>
      <p:sp>
        <p:nvSpPr>
          <p:cNvPr id="3" name="Shape 1"/>
          <p:cNvSpPr/>
          <p:nvPr/>
        </p:nvSpPr>
        <p:spPr>
          <a:xfrm>
            <a:off x="0" y="0"/>
            <a:ext cx="12191695" cy="68580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13.png"/><Relationship Id="rId14" Type="http://schemas.openxmlformats.org/officeDocument/2006/relationships/image" Target="../media/image-6-14.svg"/><Relationship Id="rId15" Type="http://schemas.openxmlformats.org/officeDocument/2006/relationships/slideLayout" Target="../slideLayouts/slideLayout2.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svg"/><Relationship Id="rId4" Type="http://schemas.openxmlformats.org/officeDocument/2006/relationships/image" Target="../media/image-12-2.png"/><Relationship Id="rId5" Type="http://schemas.openxmlformats.org/officeDocument/2006/relationships/image" Target="../media/image-12-3.svg"/><Relationship Id="rId6" Type="http://schemas.openxmlformats.org/officeDocument/2006/relationships/image" Target="../media/image-12-2.png"/><Relationship Id="rId7" Type="http://schemas.openxmlformats.org/officeDocument/2006/relationships/image" Target="../media/image-12-3.sv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svg"/><Relationship Id="rId9" Type="http://schemas.openxmlformats.org/officeDocument/2006/relationships/image" Target="../media/image-15-9.png"/><Relationship Id="rId10" Type="http://schemas.openxmlformats.org/officeDocument/2006/relationships/image" Target="../media/image-15-10.svg"/><Relationship Id="rId11" Type="http://schemas.openxmlformats.org/officeDocument/2006/relationships/image" Target="../media/image-15-11.png"/><Relationship Id="rId12" Type="http://schemas.openxmlformats.org/officeDocument/2006/relationships/image" Target="../media/image-15-12.svg"/><Relationship Id="rId13" Type="http://schemas.openxmlformats.org/officeDocument/2006/relationships/image" Target="../media/image-15-13.png"/><Relationship Id="rId14" Type="http://schemas.openxmlformats.org/officeDocument/2006/relationships/image" Target="../media/image-15-14.svg"/><Relationship Id="rId15" Type="http://schemas.openxmlformats.org/officeDocument/2006/relationships/slideLayout" Target="../slideLayouts/slideLayout2.xml"/><Relationship Id="rId1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1.png"/><Relationship Id="rId4" Type="http://schemas.openxmlformats.org/officeDocument/2006/relationships/image" Target="../media/image-18-2.svg"/><Relationship Id="rId5" Type="http://schemas.openxmlformats.org/officeDocument/2006/relationships/image" Target="../media/image-18-1.png"/><Relationship Id="rId6" Type="http://schemas.openxmlformats.org/officeDocument/2006/relationships/image" Target="../media/image-18-2.svg"/><Relationship Id="rId7" Type="http://schemas.openxmlformats.org/officeDocument/2006/relationships/image" Target="../media/image-18-1.png"/><Relationship Id="rId8" Type="http://schemas.openxmlformats.org/officeDocument/2006/relationships/image" Target="../media/image-18-2.svg"/><Relationship Id="rId9" Type="http://schemas.openxmlformats.org/officeDocument/2006/relationships/slideLayout" Target="../slideLayouts/slideLayout2.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image" Target="../media/image-28-1.png"/><Relationship Id="rId4" Type="http://schemas.openxmlformats.org/officeDocument/2006/relationships/image" Target="../media/image-28-2.svg"/><Relationship Id="rId5" Type="http://schemas.openxmlformats.org/officeDocument/2006/relationships/slideLayout" Target="../slideLayouts/slideLayout2.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image" Target="../media/image-30-3.png"/><Relationship Id="rId4" Type="http://schemas.openxmlformats.org/officeDocument/2006/relationships/image" Target="../media/image-30-4.svg"/><Relationship Id="rId5" Type="http://schemas.openxmlformats.org/officeDocument/2006/relationships/image" Target="../media/image-30-5.png"/><Relationship Id="rId6" Type="http://schemas.openxmlformats.org/officeDocument/2006/relationships/image" Target="../media/image-30-6.svg"/><Relationship Id="rId7" Type="http://schemas.openxmlformats.org/officeDocument/2006/relationships/image" Target="../media/image-30-7.png"/><Relationship Id="rId8" Type="http://schemas.openxmlformats.org/officeDocument/2006/relationships/image" Target="../media/image-30-8.svg"/><Relationship Id="rId9" Type="http://schemas.openxmlformats.org/officeDocument/2006/relationships/image" Target="../media/image-30-9.png"/><Relationship Id="rId10" Type="http://schemas.openxmlformats.org/officeDocument/2006/relationships/image" Target="../media/image-30-10.svg"/><Relationship Id="rId11" Type="http://schemas.openxmlformats.org/officeDocument/2006/relationships/image" Target="../media/image-30-11.png"/><Relationship Id="rId12" Type="http://schemas.openxmlformats.org/officeDocument/2006/relationships/image" Target="../media/image-30-12.svg"/><Relationship Id="rId13" Type="http://schemas.openxmlformats.org/officeDocument/2006/relationships/slideLayout" Target="../slideLayouts/slideLayout2.xml"/><Relationship Id="rId1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556048"/>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Building AI Agents with LangGraph</a:t>
            </a:r>
            <a:endParaRPr lang="en-US" sz="3250" dirty="0"/>
          </a:p>
        </p:txBody>
      </p:sp>
      <p:sp>
        <p:nvSpPr>
          <p:cNvPr id="3" name="Text 1"/>
          <p:cNvSpPr/>
          <p:nvPr/>
        </p:nvSpPr>
        <p:spPr>
          <a:xfrm>
            <a:off x="661475" y="2403475"/>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Certificate in Agentic AI and Software Solutions | Module 4 | 10-hour module</a:t>
            </a:r>
            <a:endParaRPr lang="en-US" sz="1300" dirty="0"/>
          </a:p>
        </p:txBody>
      </p:sp>
      <p:sp>
        <p:nvSpPr>
          <p:cNvPr id="4" name="Shape 2"/>
          <p:cNvSpPr/>
          <p:nvPr/>
        </p:nvSpPr>
        <p:spPr>
          <a:xfrm>
            <a:off x="661475" y="2854127"/>
            <a:ext cx="10868745" cy="2447727"/>
          </a:xfrm>
          <a:prstGeom prst="roundRect">
            <a:avLst>
              <a:gd name="adj" fmla="val 2838"/>
            </a:avLst>
          </a:prstGeom>
          <a:solidFill>
            <a:srgbClr val="E1E1EA"/>
          </a:solidFill>
          <a:ln w="6350">
            <a:solidFill>
              <a:srgbClr val="C7C7D0"/>
            </a:solidFill>
            <a:prstDash val="solid"/>
          </a:ln>
        </p:spPr>
      </p:sp>
      <p:sp>
        <p:nvSpPr>
          <p:cNvPr id="5" name="Shape 3"/>
          <p:cNvSpPr/>
          <p:nvPr/>
        </p:nvSpPr>
        <p:spPr>
          <a:xfrm>
            <a:off x="667825" y="2860477"/>
            <a:ext cx="5428023" cy="1217513"/>
          </a:xfrm>
          <a:custGeom>
            <a:avLst/>
            <a:gdLst/>
            <a:ahLst/>
            <a:cxnLst/>
            <a:rect l="l" t="t" r="r" b="b"/>
            <a:pathLst>
              <a:path w="5428023" h="1217513">
                <a:moveTo>
                  <a:pt x="57887" y="0"/>
                </a:moveTo>
                <a:lnTo>
                  <a:pt x="5428023" y="0"/>
                </a:lnTo>
                <a:lnTo>
                  <a:pt x="5428023" y="1217513"/>
                </a:lnTo>
                <a:lnTo>
                  <a:pt x="0" y="1217513"/>
                </a:lnTo>
                <a:lnTo>
                  <a:pt x="0" y="57888"/>
                </a:lnTo>
                <a:arcTo hR="57888" wR="57887" stAng="10800000" swAng="5400000"/>
                <a:close/>
              </a:path>
            </a:pathLst>
          </a:custGeom>
          <a:solidFill>
            <a:srgbClr val="E1E1EA"/>
          </a:solidFill>
          <a:ln/>
        </p:spPr>
      </p:sp>
      <p:sp>
        <p:nvSpPr>
          <p:cNvPr id="6" name="Text 4"/>
          <p:cNvSpPr/>
          <p:nvPr/>
        </p:nvSpPr>
        <p:spPr>
          <a:xfrm>
            <a:off x="833119" y="3025775"/>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Module</a:t>
            </a:r>
            <a:endParaRPr lang="en-US" sz="1600" dirty="0"/>
          </a:p>
        </p:txBody>
      </p:sp>
      <p:sp>
        <p:nvSpPr>
          <p:cNvPr id="7" name="Text 5"/>
          <p:cNvSpPr/>
          <p:nvPr/>
        </p:nvSpPr>
        <p:spPr>
          <a:xfrm>
            <a:off x="833119" y="3383459"/>
            <a:ext cx="50974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Module 4 of the Certificate in Agentic AI and Software Solutions program</a:t>
            </a:r>
            <a:endParaRPr lang="en-US" sz="1300" dirty="0"/>
          </a:p>
        </p:txBody>
      </p:sp>
      <p:sp>
        <p:nvSpPr>
          <p:cNvPr id="8" name="Shape 6"/>
          <p:cNvSpPr/>
          <p:nvPr/>
        </p:nvSpPr>
        <p:spPr>
          <a:xfrm>
            <a:off x="6095848" y="2860477"/>
            <a:ext cx="5428023" cy="1217513"/>
          </a:xfrm>
          <a:custGeom>
            <a:avLst/>
            <a:gdLst/>
            <a:ahLst/>
            <a:cxnLst/>
            <a:rect l="l" t="t" r="r" b="b"/>
            <a:pathLst>
              <a:path w="5428023" h="1217513">
                <a:moveTo>
                  <a:pt x="0" y="0"/>
                </a:moveTo>
                <a:lnTo>
                  <a:pt x="5370136" y="0"/>
                </a:lnTo>
                <a:arcTo hR="57888" wR="57887" stAng="16200000" swAng="5400000"/>
                <a:lnTo>
                  <a:pt x="5428023" y="1217513"/>
                </a:lnTo>
                <a:lnTo>
                  <a:pt x="0" y="1217513"/>
                </a:lnTo>
                <a:lnTo>
                  <a:pt x="0" y="0"/>
                </a:lnTo>
                <a:close/>
              </a:path>
            </a:pathLst>
          </a:custGeom>
          <a:solidFill>
            <a:srgbClr val="E1E1EA"/>
          </a:solidFill>
          <a:ln/>
        </p:spPr>
      </p:sp>
      <p:sp>
        <p:nvSpPr>
          <p:cNvPr id="9" name="Shape 7"/>
          <p:cNvSpPr/>
          <p:nvPr/>
        </p:nvSpPr>
        <p:spPr>
          <a:xfrm>
            <a:off x="6095848" y="2860477"/>
            <a:ext cx="19050" cy="1217513"/>
          </a:xfrm>
          <a:prstGeom prst="roundRect">
            <a:avLst>
              <a:gd name="adj" fmla="val 49999"/>
            </a:avLst>
          </a:prstGeom>
          <a:solidFill>
            <a:srgbClr val="C7C7D0"/>
          </a:solidFill>
          <a:ln/>
        </p:spPr>
      </p:sp>
      <p:sp>
        <p:nvSpPr>
          <p:cNvPr id="10" name="Text 8"/>
          <p:cNvSpPr/>
          <p:nvPr/>
        </p:nvSpPr>
        <p:spPr>
          <a:xfrm>
            <a:off x="6261142" y="3025775"/>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Duration</a:t>
            </a:r>
            <a:endParaRPr lang="en-US" sz="1600" dirty="0"/>
          </a:p>
        </p:txBody>
      </p:sp>
      <p:sp>
        <p:nvSpPr>
          <p:cNvPr id="11" name="Text 9"/>
          <p:cNvSpPr/>
          <p:nvPr/>
        </p:nvSpPr>
        <p:spPr>
          <a:xfrm>
            <a:off x="6261142" y="3383459"/>
            <a:ext cx="5097434"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10 hours of structured instruction, labs, and applied exercises</a:t>
            </a:r>
            <a:endParaRPr lang="en-US" sz="1300" dirty="0"/>
          </a:p>
        </p:txBody>
      </p:sp>
      <p:sp>
        <p:nvSpPr>
          <p:cNvPr id="12" name="Shape 10"/>
          <p:cNvSpPr/>
          <p:nvPr/>
        </p:nvSpPr>
        <p:spPr>
          <a:xfrm>
            <a:off x="667825" y="4077990"/>
            <a:ext cx="5428023" cy="1217513"/>
          </a:xfrm>
          <a:custGeom>
            <a:avLst/>
            <a:gdLst/>
            <a:ahLst/>
            <a:cxnLst/>
            <a:rect l="l" t="t" r="r" b="b"/>
            <a:pathLst>
              <a:path w="5428023" h="1217513">
                <a:moveTo>
                  <a:pt x="0" y="0"/>
                </a:moveTo>
                <a:lnTo>
                  <a:pt x="5428023" y="0"/>
                </a:lnTo>
                <a:lnTo>
                  <a:pt x="5428023" y="1217513"/>
                </a:lnTo>
                <a:lnTo>
                  <a:pt x="57887" y="1217513"/>
                </a:lnTo>
                <a:arcTo hR="57888" wR="57887" stAng="5400000" swAng="5400000"/>
                <a:lnTo>
                  <a:pt x="0" y="0"/>
                </a:lnTo>
                <a:close/>
              </a:path>
            </a:pathLst>
          </a:custGeom>
          <a:solidFill>
            <a:srgbClr val="E1E1EA"/>
          </a:solidFill>
          <a:ln/>
        </p:spPr>
      </p:sp>
      <p:sp>
        <p:nvSpPr>
          <p:cNvPr id="13" name="Shape 11"/>
          <p:cNvSpPr/>
          <p:nvPr/>
        </p:nvSpPr>
        <p:spPr>
          <a:xfrm>
            <a:off x="667825" y="4077990"/>
            <a:ext cx="5428023" cy="19050"/>
          </a:xfrm>
          <a:prstGeom prst="roundRect">
            <a:avLst>
              <a:gd name="adj" fmla="val 49999"/>
            </a:avLst>
          </a:prstGeom>
          <a:solidFill>
            <a:srgbClr val="C7C7D0"/>
          </a:solidFill>
          <a:ln/>
        </p:spPr>
      </p:sp>
      <p:sp>
        <p:nvSpPr>
          <p:cNvPr id="14" name="Text 12"/>
          <p:cNvSpPr/>
          <p:nvPr/>
        </p:nvSpPr>
        <p:spPr>
          <a:xfrm>
            <a:off x="833119" y="4243288"/>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Focus</a:t>
            </a:r>
            <a:endParaRPr lang="en-US" sz="1600" dirty="0"/>
          </a:p>
        </p:txBody>
      </p:sp>
      <p:sp>
        <p:nvSpPr>
          <p:cNvPr id="15" name="Text 13"/>
          <p:cNvSpPr/>
          <p:nvPr/>
        </p:nvSpPr>
        <p:spPr>
          <a:xfrm>
            <a:off x="833119" y="4600972"/>
            <a:ext cx="5097434"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Graph-based agent architecture using the LangGraph framework</a:t>
            </a:r>
            <a:endParaRPr lang="en-US" sz="1300" dirty="0"/>
          </a:p>
        </p:txBody>
      </p:sp>
      <p:sp>
        <p:nvSpPr>
          <p:cNvPr id="16" name="Shape 14"/>
          <p:cNvSpPr/>
          <p:nvPr/>
        </p:nvSpPr>
        <p:spPr>
          <a:xfrm>
            <a:off x="6095848" y="4077990"/>
            <a:ext cx="5428023" cy="1217513"/>
          </a:xfrm>
          <a:custGeom>
            <a:avLst/>
            <a:gdLst/>
            <a:ahLst/>
            <a:cxnLst/>
            <a:rect l="l" t="t" r="r" b="b"/>
            <a:pathLst>
              <a:path w="5428023" h="1217513">
                <a:moveTo>
                  <a:pt x="0" y="0"/>
                </a:moveTo>
                <a:lnTo>
                  <a:pt x="5428023" y="0"/>
                </a:lnTo>
                <a:lnTo>
                  <a:pt x="5428023" y="1159625"/>
                </a:lnTo>
                <a:arcTo hR="57888" wR="57887" stAng="0" swAng="5400000"/>
                <a:lnTo>
                  <a:pt x="0" y="1217513"/>
                </a:lnTo>
                <a:lnTo>
                  <a:pt x="0" y="0"/>
                </a:lnTo>
                <a:close/>
              </a:path>
            </a:pathLst>
          </a:custGeom>
          <a:solidFill>
            <a:srgbClr val="E1E1EA"/>
          </a:solidFill>
          <a:ln/>
        </p:spPr>
      </p:sp>
      <p:sp>
        <p:nvSpPr>
          <p:cNvPr id="17" name="Shape 15"/>
          <p:cNvSpPr/>
          <p:nvPr/>
        </p:nvSpPr>
        <p:spPr>
          <a:xfrm>
            <a:off x="6095848" y="4077990"/>
            <a:ext cx="19050" cy="1217513"/>
          </a:xfrm>
          <a:prstGeom prst="roundRect">
            <a:avLst>
              <a:gd name="adj" fmla="val 49999"/>
            </a:avLst>
          </a:prstGeom>
          <a:solidFill>
            <a:srgbClr val="C7C7D0"/>
          </a:solidFill>
          <a:ln/>
        </p:spPr>
      </p:sp>
      <p:sp>
        <p:nvSpPr>
          <p:cNvPr id="18" name="Shape 16"/>
          <p:cNvSpPr/>
          <p:nvPr/>
        </p:nvSpPr>
        <p:spPr>
          <a:xfrm>
            <a:off x="6095848" y="4077990"/>
            <a:ext cx="5428023" cy="19050"/>
          </a:xfrm>
          <a:prstGeom prst="roundRect">
            <a:avLst>
              <a:gd name="adj" fmla="val 49999"/>
            </a:avLst>
          </a:prstGeom>
          <a:solidFill>
            <a:srgbClr val="C7C7D0"/>
          </a:solidFill>
          <a:ln/>
        </p:spPr>
      </p:sp>
      <p:sp>
        <p:nvSpPr>
          <p:cNvPr id="19" name="Text 17"/>
          <p:cNvSpPr/>
          <p:nvPr/>
        </p:nvSpPr>
        <p:spPr>
          <a:xfrm>
            <a:off x="6261142" y="4243288"/>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Outcome</a:t>
            </a:r>
            <a:endParaRPr lang="en-US" sz="1600" dirty="0"/>
          </a:p>
        </p:txBody>
      </p:sp>
      <p:sp>
        <p:nvSpPr>
          <p:cNvPr id="20" name="Text 18"/>
          <p:cNvSpPr/>
          <p:nvPr/>
        </p:nvSpPr>
        <p:spPr>
          <a:xfrm>
            <a:off x="6261142" y="4600972"/>
            <a:ext cx="50974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Build, test, and debug a stateful AI agent with tool use and conditional routing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479623"/>
            <a:ext cx="10868745" cy="460375"/>
          </a:xfrm>
          <a:prstGeom prst="rect">
            <a:avLst/>
          </a:prstGeom>
          <a:noFill/>
          <a:ln/>
        </p:spPr>
        <p:txBody>
          <a:bodyPr wrap="none" lIns="0" tIns="0" rIns="0" bIns="0" rtlCol="0" anchor="t"/>
          <a:lstStyle/>
          <a:p>
            <a:pPr algn="l" indent="0" marL="0">
              <a:lnSpc>
                <a:spcPct val="104000"/>
              </a:lnSpc>
              <a:buNone/>
            </a:pPr>
            <a:r>
              <a:rPr lang="en-US" sz="2850" dirty="0">
                <a:solidFill>
                  <a:srgbClr val="1B1B27"/>
                </a:solidFill>
                <a:latin typeface="Raleway" pitchFamily="34" charset="0"/>
                <a:ea typeface="Raleway" pitchFamily="34" charset="-122"/>
                <a:cs typeface="Raleway" pitchFamily="34" charset="-120"/>
              </a:rPr>
              <a:t>Learning Objectives</a:t>
            </a:r>
            <a:endParaRPr lang="en-US" sz="2850" dirty="0"/>
          </a:p>
        </p:txBody>
      </p:sp>
      <p:sp>
        <p:nvSpPr>
          <p:cNvPr id="3" name="Text 1"/>
          <p:cNvSpPr/>
          <p:nvPr/>
        </p:nvSpPr>
        <p:spPr>
          <a:xfrm>
            <a:off x="661475" y="1202333"/>
            <a:ext cx="11478330"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By the end of Module 4, students will be able to:</a:t>
            </a:r>
            <a:endParaRPr lang="en-US" sz="1150" dirty="0"/>
          </a:p>
        </p:txBody>
      </p:sp>
      <p:sp>
        <p:nvSpPr>
          <p:cNvPr id="4" name="Shape 2"/>
          <p:cNvSpPr/>
          <p:nvPr/>
        </p:nvSpPr>
        <p:spPr>
          <a:xfrm>
            <a:off x="661475" y="1572716"/>
            <a:ext cx="331382" cy="331391"/>
          </a:xfrm>
          <a:prstGeom prst="roundRect">
            <a:avLst>
              <a:gd name="adj" fmla="val 18669"/>
            </a:avLst>
          </a:prstGeom>
          <a:solidFill>
            <a:srgbClr val="E1E1EA"/>
          </a:solidFill>
          <a:ln w="6350">
            <a:solidFill>
              <a:srgbClr val="C7C7D0"/>
            </a:solidFill>
            <a:prstDash val="solid"/>
          </a:ln>
        </p:spPr>
      </p:sp>
      <p:sp>
        <p:nvSpPr>
          <p:cNvPr id="5" name="Text 3"/>
          <p:cNvSpPr/>
          <p:nvPr/>
        </p:nvSpPr>
        <p:spPr>
          <a:xfrm>
            <a:off x="716738" y="1600349"/>
            <a:ext cx="220855" cy="276126"/>
          </a:xfrm>
          <a:prstGeom prst="rect">
            <a:avLst/>
          </a:prstGeom>
          <a:noFill/>
          <a:ln/>
        </p:spPr>
        <p:txBody>
          <a:bodyPr wrap="none" lIns="0" tIns="0" rIns="0" bIns="0" rtlCol="0" anchor="ctr"/>
          <a:lstStyle/>
          <a:p>
            <a:pPr algn="ctr" indent="0" marL="0">
              <a:lnSpc>
                <a:spcPct val="100000"/>
              </a:lnSpc>
              <a:buNone/>
            </a:pPr>
            <a:r>
              <a:rPr lang="en-US" sz="1700" dirty="0">
                <a:solidFill>
                  <a:srgbClr val="3C3939"/>
                </a:solidFill>
                <a:latin typeface="Raleway" pitchFamily="34" charset="0"/>
                <a:ea typeface="Raleway" pitchFamily="34" charset="-122"/>
                <a:cs typeface="Raleway" pitchFamily="34" charset="-120"/>
              </a:rPr>
              <a:t>1</a:t>
            </a:r>
            <a:endParaRPr lang="en-US" sz="1700" dirty="0"/>
          </a:p>
        </p:txBody>
      </p:sp>
      <p:sp>
        <p:nvSpPr>
          <p:cNvPr id="6" name="Text 4"/>
          <p:cNvSpPr/>
          <p:nvPr/>
        </p:nvSpPr>
        <p:spPr>
          <a:xfrm>
            <a:off x="1124021" y="1623318"/>
            <a:ext cx="10406199"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Understand LangGraph and its purpose</a:t>
            </a:r>
            <a:endParaRPr lang="en-US" sz="1400" dirty="0"/>
          </a:p>
        </p:txBody>
      </p:sp>
      <p:sp>
        <p:nvSpPr>
          <p:cNvPr id="7" name="Text 5"/>
          <p:cNvSpPr/>
          <p:nvPr/>
        </p:nvSpPr>
        <p:spPr>
          <a:xfrm>
            <a:off x="1124021" y="1932186"/>
            <a:ext cx="10406199"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Articulate what LangGraph is, why it exists, and how it differs from traditional LLM chaining approaches.</a:t>
            </a:r>
            <a:endParaRPr lang="en-US" sz="1150" dirty="0"/>
          </a:p>
        </p:txBody>
      </p:sp>
      <p:sp>
        <p:nvSpPr>
          <p:cNvPr id="8" name="Shape 6"/>
          <p:cNvSpPr/>
          <p:nvPr/>
        </p:nvSpPr>
        <p:spPr>
          <a:xfrm>
            <a:off x="661475" y="2417366"/>
            <a:ext cx="331382" cy="331391"/>
          </a:xfrm>
          <a:prstGeom prst="roundRect">
            <a:avLst>
              <a:gd name="adj" fmla="val 18669"/>
            </a:avLst>
          </a:prstGeom>
          <a:solidFill>
            <a:srgbClr val="E1E1EA"/>
          </a:solidFill>
          <a:ln w="6350">
            <a:solidFill>
              <a:srgbClr val="C7C7D0"/>
            </a:solidFill>
            <a:prstDash val="solid"/>
          </a:ln>
        </p:spPr>
      </p:sp>
      <p:sp>
        <p:nvSpPr>
          <p:cNvPr id="9" name="Text 7"/>
          <p:cNvSpPr/>
          <p:nvPr/>
        </p:nvSpPr>
        <p:spPr>
          <a:xfrm>
            <a:off x="716738" y="2444998"/>
            <a:ext cx="220855" cy="276126"/>
          </a:xfrm>
          <a:prstGeom prst="rect">
            <a:avLst/>
          </a:prstGeom>
          <a:noFill/>
          <a:ln/>
        </p:spPr>
        <p:txBody>
          <a:bodyPr wrap="none" lIns="0" tIns="0" rIns="0" bIns="0" rtlCol="0" anchor="ctr"/>
          <a:lstStyle/>
          <a:p>
            <a:pPr algn="ctr" indent="0" marL="0">
              <a:lnSpc>
                <a:spcPct val="100000"/>
              </a:lnSpc>
              <a:buNone/>
            </a:pPr>
            <a:r>
              <a:rPr lang="en-US" sz="1700" dirty="0">
                <a:solidFill>
                  <a:srgbClr val="3C3939"/>
                </a:solidFill>
                <a:latin typeface="Raleway" pitchFamily="34" charset="0"/>
                <a:ea typeface="Raleway" pitchFamily="34" charset="-122"/>
                <a:cs typeface="Raleway" pitchFamily="34" charset="-120"/>
              </a:rPr>
              <a:t>2</a:t>
            </a:r>
            <a:endParaRPr lang="en-US" sz="1700" dirty="0"/>
          </a:p>
        </p:txBody>
      </p:sp>
      <p:sp>
        <p:nvSpPr>
          <p:cNvPr id="10" name="Text 8"/>
          <p:cNvSpPr/>
          <p:nvPr/>
        </p:nvSpPr>
        <p:spPr>
          <a:xfrm>
            <a:off x="1124021" y="2467967"/>
            <a:ext cx="10406199"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Explain graph-based agent architecture</a:t>
            </a:r>
            <a:endParaRPr lang="en-US" sz="1400" dirty="0"/>
          </a:p>
        </p:txBody>
      </p:sp>
      <p:sp>
        <p:nvSpPr>
          <p:cNvPr id="11" name="Text 9"/>
          <p:cNvSpPr/>
          <p:nvPr/>
        </p:nvSpPr>
        <p:spPr>
          <a:xfrm>
            <a:off x="1124021" y="2776835"/>
            <a:ext cx="10406199"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Describe how nodes, edges, and state combine to form a controllable agent execution graph.</a:t>
            </a:r>
            <a:endParaRPr lang="en-US" sz="1150" dirty="0"/>
          </a:p>
        </p:txBody>
      </p:sp>
      <p:sp>
        <p:nvSpPr>
          <p:cNvPr id="12" name="Shape 10"/>
          <p:cNvSpPr/>
          <p:nvPr/>
        </p:nvSpPr>
        <p:spPr>
          <a:xfrm>
            <a:off x="661475" y="3262015"/>
            <a:ext cx="331382" cy="331391"/>
          </a:xfrm>
          <a:prstGeom prst="roundRect">
            <a:avLst>
              <a:gd name="adj" fmla="val 18669"/>
            </a:avLst>
          </a:prstGeom>
          <a:solidFill>
            <a:srgbClr val="E1E1EA"/>
          </a:solidFill>
          <a:ln w="6350">
            <a:solidFill>
              <a:srgbClr val="C7C7D0"/>
            </a:solidFill>
            <a:prstDash val="solid"/>
          </a:ln>
        </p:spPr>
      </p:sp>
      <p:sp>
        <p:nvSpPr>
          <p:cNvPr id="13" name="Text 11"/>
          <p:cNvSpPr/>
          <p:nvPr/>
        </p:nvSpPr>
        <p:spPr>
          <a:xfrm>
            <a:off x="716738" y="3289647"/>
            <a:ext cx="220855" cy="276126"/>
          </a:xfrm>
          <a:prstGeom prst="rect">
            <a:avLst/>
          </a:prstGeom>
          <a:noFill/>
          <a:ln/>
        </p:spPr>
        <p:txBody>
          <a:bodyPr wrap="none" lIns="0" tIns="0" rIns="0" bIns="0" rtlCol="0" anchor="ctr"/>
          <a:lstStyle/>
          <a:p>
            <a:pPr algn="ctr" indent="0" marL="0">
              <a:lnSpc>
                <a:spcPct val="100000"/>
              </a:lnSpc>
              <a:buNone/>
            </a:pPr>
            <a:r>
              <a:rPr lang="en-US" sz="1700" dirty="0">
                <a:solidFill>
                  <a:srgbClr val="3C3939"/>
                </a:solidFill>
                <a:latin typeface="Raleway" pitchFamily="34" charset="0"/>
                <a:ea typeface="Raleway" pitchFamily="34" charset="-122"/>
                <a:cs typeface="Raleway" pitchFamily="34" charset="-120"/>
              </a:rPr>
              <a:t>3</a:t>
            </a:r>
            <a:endParaRPr lang="en-US" sz="1700" dirty="0"/>
          </a:p>
        </p:txBody>
      </p:sp>
      <p:sp>
        <p:nvSpPr>
          <p:cNvPr id="14" name="Text 12"/>
          <p:cNvSpPr/>
          <p:nvPr/>
        </p:nvSpPr>
        <p:spPr>
          <a:xfrm>
            <a:off x="1124021" y="3312616"/>
            <a:ext cx="10406199"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Define and manage agent state</a:t>
            </a:r>
            <a:endParaRPr lang="en-US" sz="1400" dirty="0"/>
          </a:p>
        </p:txBody>
      </p:sp>
      <p:sp>
        <p:nvSpPr>
          <p:cNvPr id="15" name="Text 13"/>
          <p:cNvSpPr/>
          <p:nvPr/>
        </p:nvSpPr>
        <p:spPr>
          <a:xfrm>
            <a:off x="1124021" y="3621484"/>
            <a:ext cx="10406199"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Design a state schema appropriate to a given agent task and manage state updates across graph execution.</a:t>
            </a:r>
            <a:endParaRPr lang="en-US" sz="1150" dirty="0"/>
          </a:p>
        </p:txBody>
      </p:sp>
      <p:sp>
        <p:nvSpPr>
          <p:cNvPr id="16" name="Shape 14"/>
          <p:cNvSpPr/>
          <p:nvPr/>
        </p:nvSpPr>
        <p:spPr>
          <a:xfrm>
            <a:off x="661475" y="4106664"/>
            <a:ext cx="331382" cy="331391"/>
          </a:xfrm>
          <a:prstGeom prst="roundRect">
            <a:avLst>
              <a:gd name="adj" fmla="val 18669"/>
            </a:avLst>
          </a:prstGeom>
          <a:solidFill>
            <a:srgbClr val="E1E1EA"/>
          </a:solidFill>
          <a:ln w="6350">
            <a:solidFill>
              <a:srgbClr val="C7C7D0"/>
            </a:solidFill>
            <a:prstDash val="solid"/>
          </a:ln>
        </p:spPr>
      </p:sp>
      <p:sp>
        <p:nvSpPr>
          <p:cNvPr id="17" name="Text 15"/>
          <p:cNvSpPr/>
          <p:nvPr/>
        </p:nvSpPr>
        <p:spPr>
          <a:xfrm>
            <a:off x="716738" y="4134296"/>
            <a:ext cx="220855" cy="276126"/>
          </a:xfrm>
          <a:prstGeom prst="rect">
            <a:avLst/>
          </a:prstGeom>
          <a:noFill/>
          <a:ln/>
        </p:spPr>
        <p:txBody>
          <a:bodyPr wrap="none" lIns="0" tIns="0" rIns="0" bIns="0" rtlCol="0" anchor="ctr"/>
          <a:lstStyle/>
          <a:p>
            <a:pPr algn="ctr" indent="0" marL="0">
              <a:lnSpc>
                <a:spcPct val="100000"/>
              </a:lnSpc>
              <a:buNone/>
            </a:pPr>
            <a:r>
              <a:rPr lang="en-US" sz="1700" dirty="0">
                <a:solidFill>
                  <a:srgbClr val="3C3939"/>
                </a:solidFill>
                <a:latin typeface="Raleway" pitchFamily="34" charset="0"/>
                <a:ea typeface="Raleway" pitchFamily="34" charset="-122"/>
                <a:cs typeface="Raleway" pitchFamily="34" charset="-120"/>
              </a:rPr>
              <a:t>4</a:t>
            </a:r>
            <a:endParaRPr lang="en-US" sz="1700" dirty="0"/>
          </a:p>
        </p:txBody>
      </p:sp>
      <p:sp>
        <p:nvSpPr>
          <p:cNvPr id="18" name="Text 16"/>
          <p:cNvSpPr/>
          <p:nvPr/>
        </p:nvSpPr>
        <p:spPr>
          <a:xfrm>
            <a:off x="1124021" y="4157266"/>
            <a:ext cx="10406199"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Create nodes and edges</a:t>
            </a:r>
            <a:endParaRPr lang="en-US" sz="1400" dirty="0"/>
          </a:p>
        </p:txBody>
      </p:sp>
      <p:sp>
        <p:nvSpPr>
          <p:cNvPr id="19" name="Text 17"/>
          <p:cNvSpPr/>
          <p:nvPr/>
        </p:nvSpPr>
        <p:spPr>
          <a:xfrm>
            <a:off x="1124021" y="4466134"/>
            <a:ext cx="10406199"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Implement processing nodes and connect them with both direct and conditional edges.</a:t>
            </a:r>
            <a:endParaRPr lang="en-US" sz="1150" dirty="0"/>
          </a:p>
        </p:txBody>
      </p:sp>
      <p:sp>
        <p:nvSpPr>
          <p:cNvPr id="20" name="Shape 18"/>
          <p:cNvSpPr/>
          <p:nvPr/>
        </p:nvSpPr>
        <p:spPr>
          <a:xfrm>
            <a:off x="661475" y="4951313"/>
            <a:ext cx="331382" cy="331391"/>
          </a:xfrm>
          <a:prstGeom prst="roundRect">
            <a:avLst>
              <a:gd name="adj" fmla="val 18669"/>
            </a:avLst>
          </a:prstGeom>
          <a:solidFill>
            <a:srgbClr val="E1E1EA"/>
          </a:solidFill>
          <a:ln w="6350">
            <a:solidFill>
              <a:srgbClr val="C7C7D0"/>
            </a:solidFill>
            <a:prstDash val="solid"/>
          </a:ln>
        </p:spPr>
      </p:sp>
      <p:sp>
        <p:nvSpPr>
          <p:cNvPr id="21" name="Text 19"/>
          <p:cNvSpPr/>
          <p:nvPr/>
        </p:nvSpPr>
        <p:spPr>
          <a:xfrm>
            <a:off x="716738" y="4978946"/>
            <a:ext cx="220855" cy="276126"/>
          </a:xfrm>
          <a:prstGeom prst="rect">
            <a:avLst/>
          </a:prstGeom>
          <a:noFill/>
          <a:ln/>
        </p:spPr>
        <p:txBody>
          <a:bodyPr wrap="none" lIns="0" tIns="0" rIns="0" bIns="0" rtlCol="0" anchor="ctr"/>
          <a:lstStyle/>
          <a:p>
            <a:pPr algn="ctr" indent="0" marL="0">
              <a:lnSpc>
                <a:spcPct val="100000"/>
              </a:lnSpc>
              <a:buNone/>
            </a:pPr>
            <a:r>
              <a:rPr lang="en-US" sz="1700" dirty="0">
                <a:solidFill>
                  <a:srgbClr val="3C3939"/>
                </a:solidFill>
                <a:latin typeface="Raleway" pitchFamily="34" charset="0"/>
                <a:ea typeface="Raleway" pitchFamily="34" charset="-122"/>
                <a:cs typeface="Raleway" pitchFamily="34" charset="-120"/>
              </a:rPr>
              <a:t>5</a:t>
            </a:r>
            <a:endParaRPr lang="en-US" sz="1700" dirty="0"/>
          </a:p>
        </p:txBody>
      </p:sp>
      <p:sp>
        <p:nvSpPr>
          <p:cNvPr id="22" name="Text 20"/>
          <p:cNvSpPr/>
          <p:nvPr/>
        </p:nvSpPr>
        <p:spPr>
          <a:xfrm>
            <a:off x="1124021" y="5001915"/>
            <a:ext cx="10406199"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Implement conditional routing</a:t>
            </a:r>
            <a:endParaRPr lang="en-US" sz="1400" dirty="0"/>
          </a:p>
        </p:txBody>
      </p:sp>
      <p:sp>
        <p:nvSpPr>
          <p:cNvPr id="23" name="Text 21"/>
          <p:cNvSpPr/>
          <p:nvPr/>
        </p:nvSpPr>
        <p:spPr>
          <a:xfrm>
            <a:off x="1124021" y="5310783"/>
            <a:ext cx="10406199"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Write routing logic that directs execution based on the current state of the graph.</a:t>
            </a:r>
            <a:endParaRPr lang="en-US" sz="1150" dirty="0"/>
          </a:p>
        </p:txBody>
      </p:sp>
      <p:sp>
        <p:nvSpPr>
          <p:cNvPr id="24" name="Shape 22"/>
          <p:cNvSpPr/>
          <p:nvPr/>
        </p:nvSpPr>
        <p:spPr>
          <a:xfrm>
            <a:off x="661475" y="5795963"/>
            <a:ext cx="331382" cy="331391"/>
          </a:xfrm>
          <a:prstGeom prst="roundRect">
            <a:avLst>
              <a:gd name="adj" fmla="val 18669"/>
            </a:avLst>
          </a:prstGeom>
          <a:solidFill>
            <a:srgbClr val="E1E1EA"/>
          </a:solidFill>
          <a:ln w="6350">
            <a:solidFill>
              <a:srgbClr val="C7C7D0"/>
            </a:solidFill>
            <a:prstDash val="solid"/>
          </a:ln>
        </p:spPr>
      </p:sp>
      <p:sp>
        <p:nvSpPr>
          <p:cNvPr id="25" name="Text 23"/>
          <p:cNvSpPr/>
          <p:nvPr/>
        </p:nvSpPr>
        <p:spPr>
          <a:xfrm>
            <a:off x="716738" y="5823595"/>
            <a:ext cx="220855" cy="276126"/>
          </a:xfrm>
          <a:prstGeom prst="rect">
            <a:avLst/>
          </a:prstGeom>
          <a:noFill/>
          <a:ln/>
        </p:spPr>
        <p:txBody>
          <a:bodyPr wrap="none" lIns="0" tIns="0" rIns="0" bIns="0" rtlCol="0" anchor="ctr"/>
          <a:lstStyle/>
          <a:p>
            <a:pPr algn="ctr" indent="0" marL="0">
              <a:lnSpc>
                <a:spcPct val="100000"/>
              </a:lnSpc>
              <a:buNone/>
            </a:pPr>
            <a:r>
              <a:rPr lang="en-US" sz="1700" dirty="0">
                <a:solidFill>
                  <a:srgbClr val="3C3939"/>
                </a:solidFill>
                <a:latin typeface="Raleway" pitchFamily="34" charset="0"/>
                <a:ea typeface="Raleway" pitchFamily="34" charset="-122"/>
                <a:cs typeface="Raleway" pitchFamily="34" charset="-120"/>
              </a:rPr>
              <a:t>6</a:t>
            </a:r>
            <a:endParaRPr lang="en-US" sz="1700" dirty="0"/>
          </a:p>
        </p:txBody>
      </p:sp>
      <p:sp>
        <p:nvSpPr>
          <p:cNvPr id="26" name="Text 24"/>
          <p:cNvSpPr/>
          <p:nvPr/>
        </p:nvSpPr>
        <p:spPr>
          <a:xfrm>
            <a:off x="1124021" y="5846564"/>
            <a:ext cx="10406199"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Integrate tools and build a stateful agent</a:t>
            </a:r>
            <a:endParaRPr lang="en-US" sz="1400" dirty="0"/>
          </a:p>
        </p:txBody>
      </p:sp>
      <p:sp>
        <p:nvSpPr>
          <p:cNvPr id="27" name="Text 25"/>
          <p:cNvSpPr/>
          <p:nvPr/>
        </p:nvSpPr>
        <p:spPr>
          <a:xfrm>
            <a:off x="1124021" y="6155432"/>
            <a:ext cx="10406199" cy="222845"/>
          </a:xfrm>
          <a:prstGeom prst="rect">
            <a:avLst/>
          </a:prstGeom>
          <a:noFill/>
          <a:ln/>
        </p:spPr>
        <p:txBody>
          <a:bodyPr wrap="none" lIns="0" tIns="0" rIns="0" bIns="0" rtlCol="0" anchor="t"/>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Connect Python-defined tools to an LLM node and build a complete, testable stateful agent.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4477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What is LangGraph?</a:t>
            </a:r>
            <a:endParaRPr lang="en-US" sz="3250" dirty="0"/>
          </a:p>
        </p:txBody>
      </p:sp>
      <p:sp>
        <p:nvSpPr>
          <p:cNvPr id="3" name="Text 1"/>
          <p:cNvSpPr/>
          <p:nvPr/>
        </p:nvSpPr>
        <p:spPr>
          <a:xfrm>
            <a:off x="661475" y="1892201"/>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LangGraph is a framework for building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stateful, multi-step agent applications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Rather than expressing logic as a linear sequence of calls, LangGraph represents application logic as a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graph</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 a structure composed of nodes, edges, and shared state.</a:t>
            </a:r>
            <a:endParaRPr lang="en-US" sz="1300" dirty="0"/>
          </a:p>
        </p:txBody>
      </p:sp>
      <p:sp>
        <p:nvSpPr>
          <p:cNvPr id="4" name="Shape 2"/>
          <p:cNvSpPr/>
          <p:nvPr/>
        </p:nvSpPr>
        <p:spPr>
          <a:xfrm>
            <a:off x="661475" y="2607469"/>
            <a:ext cx="5351725" cy="1520230"/>
          </a:xfrm>
          <a:prstGeom prst="roundRect">
            <a:avLst>
              <a:gd name="adj" fmla="val 4569"/>
            </a:avLst>
          </a:prstGeom>
          <a:solidFill>
            <a:srgbClr val="FFFFFF">
              <a:alpha val="95000"/>
            </a:srgbClr>
          </a:solidFill>
          <a:ln w="19050">
            <a:solidFill>
              <a:srgbClr val="C7C7D0"/>
            </a:solidFill>
            <a:prstDash val="solid"/>
          </a:ln>
        </p:spPr>
      </p:sp>
      <p:sp>
        <p:nvSpPr>
          <p:cNvPr id="5" name="Text 3"/>
          <p:cNvSpPr/>
          <p:nvPr/>
        </p:nvSpPr>
        <p:spPr>
          <a:xfrm>
            <a:off x="845819" y="2791817"/>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Graph Representation</a:t>
            </a:r>
            <a:endParaRPr lang="en-US" sz="1600" dirty="0"/>
          </a:p>
        </p:txBody>
      </p:sp>
      <p:sp>
        <p:nvSpPr>
          <p:cNvPr id="6" name="Text 4"/>
          <p:cNvSpPr/>
          <p:nvPr/>
        </p:nvSpPr>
        <p:spPr>
          <a:xfrm>
            <a:off x="845819" y="3149501"/>
            <a:ext cx="498303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Application logic is modelled as a directed graph. The graph defines every possible path execution can take, making complex agent behavior explicit and inspectable.</a:t>
            </a:r>
            <a:endParaRPr lang="en-US" sz="1300" dirty="0"/>
          </a:p>
        </p:txBody>
      </p:sp>
      <p:sp>
        <p:nvSpPr>
          <p:cNvPr id="7" name="Shape 5"/>
          <p:cNvSpPr/>
          <p:nvPr/>
        </p:nvSpPr>
        <p:spPr>
          <a:xfrm>
            <a:off x="6178495" y="2607469"/>
            <a:ext cx="5351725" cy="1520230"/>
          </a:xfrm>
          <a:prstGeom prst="roundRect">
            <a:avLst>
              <a:gd name="adj" fmla="val 4569"/>
            </a:avLst>
          </a:prstGeom>
          <a:solidFill>
            <a:srgbClr val="FFFFFF">
              <a:alpha val="95000"/>
            </a:srgbClr>
          </a:solidFill>
          <a:ln w="19050">
            <a:solidFill>
              <a:srgbClr val="C7C7D0"/>
            </a:solidFill>
            <a:prstDash val="solid"/>
          </a:ln>
        </p:spPr>
      </p:sp>
      <p:sp>
        <p:nvSpPr>
          <p:cNvPr id="8" name="Text 6"/>
          <p:cNvSpPr/>
          <p:nvPr/>
        </p:nvSpPr>
        <p:spPr>
          <a:xfrm>
            <a:off x="6362838" y="2791817"/>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Nodes Perform Work</a:t>
            </a:r>
            <a:endParaRPr lang="en-US" sz="1600" dirty="0"/>
          </a:p>
        </p:txBody>
      </p:sp>
      <p:sp>
        <p:nvSpPr>
          <p:cNvPr id="9" name="Text 7"/>
          <p:cNvSpPr/>
          <p:nvPr/>
        </p:nvSpPr>
        <p:spPr>
          <a:xfrm>
            <a:off x="6362838" y="3149501"/>
            <a:ext cx="498303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Each node is a discrete function responsible for a specific operation — calling an LLM, executing a tool, validating output, or formatting a response.</a:t>
            </a:r>
            <a:endParaRPr lang="en-US" sz="1300" dirty="0"/>
          </a:p>
        </p:txBody>
      </p:sp>
      <p:sp>
        <p:nvSpPr>
          <p:cNvPr id="10" name="Shape 8"/>
          <p:cNvSpPr/>
          <p:nvPr/>
        </p:nvSpPr>
        <p:spPr>
          <a:xfrm>
            <a:off x="661475" y="4292997"/>
            <a:ext cx="5351725" cy="1520230"/>
          </a:xfrm>
          <a:prstGeom prst="roundRect">
            <a:avLst>
              <a:gd name="adj" fmla="val 4569"/>
            </a:avLst>
          </a:prstGeom>
          <a:solidFill>
            <a:srgbClr val="FFFFFF">
              <a:alpha val="95000"/>
            </a:srgbClr>
          </a:solidFill>
          <a:ln w="19050">
            <a:solidFill>
              <a:srgbClr val="C7C7D0"/>
            </a:solidFill>
            <a:prstDash val="solid"/>
          </a:ln>
        </p:spPr>
      </p:sp>
      <p:sp>
        <p:nvSpPr>
          <p:cNvPr id="11" name="Text 9"/>
          <p:cNvSpPr/>
          <p:nvPr/>
        </p:nvSpPr>
        <p:spPr>
          <a:xfrm>
            <a:off x="845819" y="4477345"/>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Edges Determine Flow</a:t>
            </a:r>
            <a:endParaRPr lang="en-US" sz="1600" dirty="0"/>
          </a:p>
        </p:txBody>
      </p:sp>
      <p:sp>
        <p:nvSpPr>
          <p:cNvPr id="12" name="Text 10"/>
          <p:cNvSpPr/>
          <p:nvPr/>
        </p:nvSpPr>
        <p:spPr>
          <a:xfrm>
            <a:off x="845819" y="4835029"/>
            <a:ext cx="498303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Edges connect nodes and define what happens next. They can be direct (always go to node B) or conditional (go to B or C depending on state).</a:t>
            </a:r>
            <a:endParaRPr lang="en-US" sz="1300" dirty="0"/>
          </a:p>
        </p:txBody>
      </p:sp>
      <p:sp>
        <p:nvSpPr>
          <p:cNvPr id="13" name="Shape 11"/>
          <p:cNvSpPr/>
          <p:nvPr/>
        </p:nvSpPr>
        <p:spPr>
          <a:xfrm>
            <a:off x="6178495" y="4292997"/>
            <a:ext cx="5351725" cy="1520230"/>
          </a:xfrm>
          <a:prstGeom prst="roundRect">
            <a:avLst>
              <a:gd name="adj" fmla="val 4569"/>
            </a:avLst>
          </a:prstGeom>
          <a:solidFill>
            <a:srgbClr val="FFFFFF">
              <a:alpha val="95000"/>
            </a:srgbClr>
          </a:solidFill>
          <a:ln w="19050">
            <a:solidFill>
              <a:srgbClr val="C7C7D0"/>
            </a:solidFill>
            <a:prstDash val="solid"/>
          </a:ln>
        </p:spPr>
      </p:sp>
      <p:sp>
        <p:nvSpPr>
          <p:cNvPr id="14" name="Text 12"/>
          <p:cNvSpPr/>
          <p:nvPr/>
        </p:nvSpPr>
        <p:spPr>
          <a:xfrm>
            <a:off x="6362838" y="4477345"/>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State Carries Information</a:t>
            </a:r>
            <a:endParaRPr lang="en-US" sz="1600" dirty="0"/>
          </a:p>
        </p:txBody>
      </p:sp>
      <p:sp>
        <p:nvSpPr>
          <p:cNvPr id="15" name="Text 13"/>
          <p:cNvSpPr/>
          <p:nvPr/>
        </p:nvSpPr>
        <p:spPr>
          <a:xfrm>
            <a:off x="6362838" y="4835029"/>
            <a:ext cx="498303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 shared state object is passed through the graph. Nodes read from and write to state, providing continuity across every step of execution.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26573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Why LangGraph?</a:t>
            </a:r>
            <a:endParaRPr lang="en-US" sz="3250" dirty="0"/>
          </a:p>
        </p:txBody>
      </p:sp>
      <p:sp>
        <p:nvSpPr>
          <p:cNvPr id="3" name="Text 1"/>
          <p:cNvSpPr/>
          <p:nvPr/>
        </p:nvSpPr>
        <p:spPr>
          <a:xfrm>
            <a:off x="661475" y="2113161"/>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Traditional LLM chains are designed for predictable, linear sequences. Agents, however, require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loops, branches, and decisions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 capabilities that chains do not naturally support.</a:t>
            </a:r>
            <a:endParaRPr lang="en-US" sz="1300" dirty="0"/>
          </a:p>
        </p:txBody>
      </p:sp>
      <p:sp>
        <p:nvSpPr>
          <p:cNvPr id="4" name="Shape 2"/>
          <p:cNvSpPr/>
          <p:nvPr/>
        </p:nvSpPr>
        <p:spPr>
          <a:xfrm>
            <a:off x="542415" y="2828429"/>
            <a:ext cx="5470785" cy="2763738"/>
          </a:xfrm>
          <a:prstGeom prst="roundRect">
            <a:avLst>
              <a:gd name="adj" fmla="val 4309"/>
            </a:avLst>
          </a:prstGeom>
          <a:solidFill>
            <a:srgbClr val="1B1B27">
              <a:alpha val="95000"/>
            </a:srgbClr>
          </a:solidFill>
          <a:ln/>
        </p:spPr>
      </p:sp>
      <p:sp>
        <p:nvSpPr>
          <p:cNvPr id="5" name="Text 3"/>
          <p:cNvSpPr/>
          <p:nvPr/>
        </p:nvSpPr>
        <p:spPr>
          <a:xfrm>
            <a:off x="707710" y="2993727"/>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FFFFFF"/>
                </a:solidFill>
                <a:latin typeface="Raleway" pitchFamily="34" charset="0"/>
                <a:ea typeface="Raleway" pitchFamily="34" charset="-122"/>
                <a:cs typeface="Raleway" pitchFamily="34" charset="-120"/>
              </a:rPr>
              <a:t>The Problem with Linear Chains</a:t>
            </a:r>
            <a:endParaRPr lang="en-US" sz="1600" dirty="0"/>
          </a:p>
        </p:txBody>
      </p:sp>
      <p:sp>
        <p:nvSpPr>
          <p:cNvPr id="6" name="Text 4"/>
          <p:cNvSpPr/>
          <p:nvPr/>
        </p:nvSpPr>
        <p:spPr>
          <a:xfrm>
            <a:off x="707710" y="3417491"/>
            <a:ext cx="5140196"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Roboto" pitchFamily="34" charset="0"/>
                <a:ea typeface="Roboto" pitchFamily="34" charset="-122"/>
                <a:cs typeface="Roboto" pitchFamily="34" charset="-120"/>
              </a:rPr>
              <a:t>Chains move from step A to step B to step C in a fixed order. When an agent needs to call a tool, evaluate the result, and decide whether to call another tool or finish, a linear chain cannot express that logic cleanly.</a:t>
            </a:r>
            <a:endParaRPr lang="en-US" sz="1300" dirty="0"/>
          </a:p>
        </p:txBody>
      </p:sp>
      <p:sp>
        <p:nvSpPr>
          <p:cNvPr id="7" name="Text 5"/>
          <p:cNvSpPr/>
          <p:nvPr/>
        </p:nvSpPr>
        <p:spPr>
          <a:xfrm>
            <a:off x="707710" y="4624784"/>
            <a:ext cx="5140196" cy="909538"/>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Agents involve loops and decisions</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Traditional chains are often linear</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Branching and looping are implicit or impossible</a:t>
            </a:r>
            <a:endParaRPr lang="en-US" sz="1300" dirty="0"/>
          </a:p>
        </p:txBody>
      </p:sp>
      <p:sp>
        <p:nvSpPr>
          <p:cNvPr id="8" name="Text 6"/>
          <p:cNvSpPr/>
          <p:nvPr/>
        </p:nvSpPr>
        <p:spPr>
          <a:xfrm>
            <a:off x="6303904" y="2993727"/>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What LangGraph Provides</a:t>
            </a:r>
            <a:endParaRPr lang="en-US" sz="1600" dirty="0"/>
          </a:p>
        </p:txBody>
      </p:sp>
      <p:sp>
        <p:nvSpPr>
          <p:cNvPr id="9" name="Text 7"/>
          <p:cNvSpPr/>
          <p:nvPr/>
        </p:nvSpPr>
        <p:spPr>
          <a:xfrm>
            <a:off x="6303904" y="3417491"/>
            <a:ext cx="5232666" cy="1876921"/>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Makes branching and looping </a:t>
            </a:r>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explicit</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in the graph structure</a:t>
            </a:r>
            <a:endParaRPr lang="en-US" sz="1300" dirty="0"/>
          </a:p>
          <a:p>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Provides fine-grained </a:t>
            </a:r>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control over agent execution</a:t>
            </a:r>
            <a:endParaRPr lang="en-US" sz="1300" dirty="0"/>
          </a:p>
          <a:p>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Supports </a:t>
            </a:r>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state</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information persists across steps</a:t>
            </a:r>
            <a:endParaRPr lang="en-US" sz="1300" dirty="0"/>
          </a:p>
          <a:p>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Supports </a:t>
            </a:r>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persistence</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execution can be saved and resumed</a:t>
            </a:r>
            <a:endParaRPr lang="en-US" sz="1300" dirty="0"/>
          </a:p>
          <a:p>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Supports </a:t>
            </a:r>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human intervention</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execution can pause for approval</a:t>
            </a:r>
            <a:endParaRPr lang="en-US" sz="1300" dirty="0"/>
          </a:p>
          <a:p>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Supports </a:t>
            </a:r>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tool use</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tools are first-class citizens in the graph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65188"/>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Chain vs Graph</a:t>
            </a:r>
            <a:endParaRPr lang="en-US" sz="3250" dirty="0"/>
          </a:p>
        </p:txBody>
      </p:sp>
      <p:sp>
        <p:nvSpPr>
          <p:cNvPr id="3" name="Text 1"/>
          <p:cNvSpPr/>
          <p:nvPr/>
        </p:nvSpPr>
        <p:spPr>
          <a:xfrm>
            <a:off x="661475" y="1712615"/>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Understanding the distinction between a chain and a graph is foundational to understanding why LangGraph exists and when to use it.</a:t>
            </a:r>
            <a:endParaRPr lang="en-US" sz="1300" dirty="0"/>
          </a:p>
        </p:txBody>
      </p:sp>
      <p:sp>
        <p:nvSpPr>
          <p:cNvPr id="4" name="Shape 2"/>
          <p:cNvSpPr/>
          <p:nvPr/>
        </p:nvSpPr>
        <p:spPr>
          <a:xfrm>
            <a:off x="661475" y="2163266"/>
            <a:ext cx="10868745" cy="2123281"/>
          </a:xfrm>
          <a:prstGeom prst="roundRect">
            <a:avLst>
              <a:gd name="adj" fmla="val 3272"/>
            </a:avLst>
          </a:prstGeom>
          <a:solidFill>
            <a:srgbClr val="E1E1EA"/>
          </a:solidFill>
          <a:ln w="6350">
            <a:solidFill>
              <a:srgbClr val="C7C7D0"/>
            </a:solidFill>
            <a:prstDash val="solid"/>
          </a:ln>
        </p:spPr>
      </p:sp>
      <p:sp>
        <p:nvSpPr>
          <p:cNvPr id="5" name="Shape 3"/>
          <p:cNvSpPr/>
          <p:nvPr/>
        </p:nvSpPr>
        <p:spPr>
          <a:xfrm>
            <a:off x="667825" y="2169616"/>
            <a:ext cx="5428023" cy="2110581"/>
          </a:xfrm>
          <a:custGeom>
            <a:avLst/>
            <a:gdLst/>
            <a:ahLst/>
            <a:cxnLst/>
            <a:rect l="l" t="t" r="r" b="b"/>
            <a:pathLst>
              <a:path w="5428023" h="2110581">
                <a:moveTo>
                  <a:pt x="57887" y="0"/>
                </a:moveTo>
                <a:lnTo>
                  <a:pt x="5428023" y="0"/>
                </a:lnTo>
                <a:lnTo>
                  <a:pt x="5428023" y="2110581"/>
                </a:lnTo>
                <a:lnTo>
                  <a:pt x="57887" y="2110581"/>
                </a:lnTo>
                <a:arcTo hR="57888" wR="57887" stAng="5400000" swAng="5400000"/>
                <a:lnTo>
                  <a:pt x="0" y="57888"/>
                </a:lnTo>
                <a:arcTo hR="57888" wR="57887" stAng="10800000" swAng="5400000"/>
                <a:close/>
              </a:path>
            </a:pathLst>
          </a:custGeom>
          <a:solidFill>
            <a:srgbClr val="E1E1EA"/>
          </a:solidFill>
          <a:ln/>
        </p:spPr>
      </p:sp>
      <p:sp>
        <p:nvSpPr>
          <p:cNvPr id="6" name="Text 4"/>
          <p:cNvSpPr/>
          <p:nvPr/>
        </p:nvSpPr>
        <p:spPr>
          <a:xfrm>
            <a:off x="833119" y="2334915"/>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Chain</a:t>
            </a:r>
            <a:endParaRPr lang="en-US" sz="1600" dirty="0"/>
          </a:p>
        </p:txBody>
      </p:sp>
      <p:sp>
        <p:nvSpPr>
          <p:cNvPr id="7" name="Text 5"/>
          <p:cNvSpPr/>
          <p:nvPr/>
        </p:nvSpPr>
        <p:spPr>
          <a:xfrm>
            <a:off x="833119" y="2692598"/>
            <a:ext cx="5097434" cy="1422301"/>
          </a:xfrm>
          <a:prstGeom prst="rect">
            <a:avLst/>
          </a:prstGeom>
          <a:noFill/>
          <a:ln/>
        </p:spPr>
        <p:txBody>
          <a:bodyPr wrap="square" lIns="0" tIns="0" rIns="0" bIns="0" rtlCol="0" anchor="t"/>
          <a:lstStyle/>
          <a:p>
            <a:pPr algn="l" indent="0" marL="0">
              <a:lnSpc>
                <a:spcPct val="133000"/>
              </a:lnSpc>
              <a:spcAft>
                <a:spcPts val="750"/>
              </a:spcAft>
              <a:buNone/>
            </a:pPr>
            <a:r>
              <a:rPr lang="en-US" sz="1300" b="1" dirty="0">
                <a:solidFill>
                  <a:srgbClr val="3C3939"/>
                </a:solidFill>
                <a:latin typeface="Roboto Bold" pitchFamily="34" charset="0"/>
                <a:ea typeface="Roboto Bold" pitchFamily="34" charset="-122"/>
                <a:cs typeface="Roboto Bold" pitchFamily="34" charset="-120"/>
              </a:rPr>
              <a:t>Step A → Step B → Step C</a:t>
            </a:r>
            <a:endParaRPr lang="en-US" sz="1300" dirty="0"/>
          </a:p>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 chain is a linear, ordered sequence of operations. Each step executes once, in order. Chains are appropriate for predictable, deterministic workflows where the path never changes based on intermediate results.</a:t>
            </a:r>
            <a:endParaRPr lang="en-US" sz="1300" dirty="0"/>
          </a:p>
        </p:txBody>
      </p:sp>
      <p:sp>
        <p:nvSpPr>
          <p:cNvPr id="8" name="Shape 6"/>
          <p:cNvSpPr/>
          <p:nvPr/>
        </p:nvSpPr>
        <p:spPr>
          <a:xfrm>
            <a:off x="6095848" y="2169616"/>
            <a:ext cx="5428023" cy="2110581"/>
          </a:xfrm>
          <a:custGeom>
            <a:avLst/>
            <a:gdLst/>
            <a:ahLst/>
            <a:cxnLst/>
            <a:rect l="l" t="t" r="r" b="b"/>
            <a:pathLst>
              <a:path w="5428023" h="2110581">
                <a:moveTo>
                  <a:pt x="0" y="0"/>
                </a:moveTo>
                <a:lnTo>
                  <a:pt x="5370136" y="0"/>
                </a:lnTo>
                <a:arcTo hR="57888" wR="57887" stAng="16200000" swAng="5400000"/>
                <a:lnTo>
                  <a:pt x="5428023" y="2052693"/>
                </a:lnTo>
                <a:arcTo hR="57888" wR="57887" stAng="0" swAng="5400000"/>
                <a:lnTo>
                  <a:pt x="0" y="2110581"/>
                </a:lnTo>
                <a:lnTo>
                  <a:pt x="0" y="0"/>
                </a:lnTo>
                <a:close/>
              </a:path>
            </a:pathLst>
          </a:custGeom>
          <a:solidFill>
            <a:srgbClr val="E1E1EA"/>
          </a:solidFill>
          <a:ln/>
        </p:spPr>
      </p:sp>
      <p:sp>
        <p:nvSpPr>
          <p:cNvPr id="9" name="Shape 7"/>
          <p:cNvSpPr/>
          <p:nvPr/>
        </p:nvSpPr>
        <p:spPr>
          <a:xfrm>
            <a:off x="6095848" y="2169616"/>
            <a:ext cx="19050" cy="2110581"/>
          </a:xfrm>
          <a:prstGeom prst="roundRect">
            <a:avLst>
              <a:gd name="adj" fmla="val 49999"/>
            </a:avLst>
          </a:prstGeom>
          <a:solidFill>
            <a:srgbClr val="C7C7D0"/>
          </a:solidFill>
          <a:ln/>
        </p:spPr>
      </p:sp>
      <p:sp>
        <p:nvSpPr>
          <p:cNvPr id="10" name="Text 8"/>
          <p:cNvSpPr/>
          <p:nvPr/>
        </p:nvSpPr>
        <p:spPr>
          <a:xfrm>
            <a:off x="6261142" y="2334915"/>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Graph</a:t>
            </a:r>
            <a:endParaRPr lang="en-US" sz="1600" dirty="0"/>
          </a:p>
        </p:txBody>
      </p:sp>
      <p:sp>
        <p:nvSpPr>
          <p:cNvPr id="11" name="Text 9"/>
          <p:cNvSpPr/>
          <p:nvPr/>
        </p:nvSpPr>
        <p:spPr>
          <a:xfrm>
            <a:off x="6261142" y="2692598"/>
            <a:ext cx="5097434" cy="1157684"/>
          </a:xfrm>
          <a:prstGeom prst="rect">
            <a:avLst/>
          </a:prstGeom>
          <a:noFill/>
          <a:ln/>
        </p:spPr>
        <p:txBody>
          <a:bodyPr wrap="square" lIns="0" tIns="0" rIns="0" bIns="0" rtlCol="0" anchor="t"/>
          <a:lstStyle/>
          <a:p>
            <a:pPr algn="l" indent="0" marL="0">
              <a:lnSpc>
                <a:spcPct val="133000"/>
              </a:lnSpc>
              <a:spcAft>
                <a:spcPts val="750"/>
              </a:spcAft>
              <a:buNone/>
            </a:pPr>
            <a:r>
              <a:rPr lang="en-US" sz="1300" b="1" dirty="0">
                <a:solidFill>
                  <a:srgbClr val="3C3939"/>
                </a:solidFill>
                <a:latin typeface="Roboto Bold" pitchFamily="34" charset="0"/>
                <a:ea typeface="Roboto Bold" pitchFamily="34" charset="-122"/>
                <a:cs typeface="Roboto Bold" pitchFamily="34" charset="-120"/>
              </a:rPr>
              <a:t>Nodes can branch, loop, and return to previous nodes</a:t>
            </a:r>
            <a:endParaRPr lang="en-US" sz="1300" dirty="0"/>
          </a:p>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 graph allows execution to take different paths depending on state. Nodes can be revisited, execution can loop until a condition is met, and multiple branches can exist for different scenarios.</a:t>
            </a:r>
            <a:endParaRPr lang="en-US" sz="130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4472583"/>
            <a:ext cx="5351725" cy="1520230"/>
          </a:xfrm>
          <a:prstGeom prst="rect">
            <a:avLst/>
          </a:prstGeom>
        </p:spPr>
      </p:pic>
      <p:sp>
        <p:nvSpPr>
          <p:cNvPr id="13" name="Text 10"/>
          <p:cNvSpPr/>
          <p:nvPr/>
        </p:nvSpPr>
        <p:spPr>
          <a:xfrm>
            <a:off x="922017" y="4656931"/>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Use Chains For</a:t>
            </a:r>
            <a:endParaRPr lang="en-US" sz="1600" dirty="0"/>
          </a:p>
        </p:txBody>
      </p:sp>
      <p:sp>
        <p:nvSpPr>
          <p:cNvPr id="14" name="Text 11"/>
          <p:cNvSpPr/>
          <p:nvPr/>
        </p:nvSpPr>
        <p:spPr>
          <a:xfrm>
            <a:off x="922017" y="5014615"/>
            <a:ext cx="490684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Predictable sequences — document summarization pipelines, structured data extraction, fixed multi-step prompts where the path never varies.</a:t>
            </a:r>
            <a:endParaRPr lang="en-US" sz="1300" dirty="0"/>
          </a:p>
        </p:txBody>
      </p:sp>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8495" y="4472583"/>
            <a:ext cx="5351725" cy="1520230"/>
          </a:xfrm>
          <a:prstGeom prst="rect">
            <a:avLst/>
          </a:prstGeom>
        </p:spPr>
      </p:pic>
      <p:sp>
        <p:nvSpPr>
          <p:cNvPr id="16" name="Text 12"/>
          <p:cNvSpPr/>
          <p:nvPr/>
        </p:nvSpPr>
        <p:spPr>
          <a:xfrm>
            <a:off x="6439037" y="4656931"/>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Use Graphs For</a:t>
            </a:r>
            <a:endParaRPr lang="en-US" sz="1600" dirty="0"/>
          </a:p>
        </p:txBody>
      </p:sp>
      <p:sp>
        <p:nvSpPr>
          <p:cNvPr id="17" name="Text 13"/>
          <p:cNvSpPr/>
          <p:nvPr/>
        </p:nvSpPr>
        <p:spPr>
          <a:xfrm>
            <a:off x="6439037" y="5014615"/>
            <a:ext cx="4906840"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Dynamic agent behavior — tool-calling agents, research agents, multi-step reasoning, retry logic, human-in-the-loop workflows, and any scenario where the next step depends on the current result.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56530"/>
            <a:ext cx="10868745" cy="508695"/>
          </a:xfrm>
          <a:prstGeom prst="rect">
            <a:avLst/>
          </a:prstGeom>
          <a:noFill/>
          <a:ln/>
        </p:spPr>
        <p:txBody>
          <a:bodyPr wrap="none" lIns="0" tIns="0" rIns="0" bIns="0" rtlCol="0" anchor="t"/>
          <a:lstStyle/>
          <a:p>
            <a:pPr algn="l" indent="0" marL="0">
              <a:lnSpc>
                <a:spcPct val="104000"/>
              </a:lnSpc>
              <a:buNone/>
            </a:pPr>
            <a:r>
              <a:rPr lang="en-US" sz="3200" dirty="0">
                <a:solidFill>
                  <a:srgbClr val="1B1B27"/>
                </a:solidFill>
                <a:latin typeface="Raleway" pitchFamily="34" charset="0"/>
                <a:ea typeface="Raleway" pitchFamily="34" charset="-122"/>
                <a:cs typeface="Raleway" pitchFamily="34" charset="-120"/>
              </a:rPr>
              <a:t>Basic LangGraph Architecture</a:t>
            </a:r>
            <a:endParaRPr lang="en-US" sz="3200" dirty="0"/>
          </a:p>
        </p:txBody>
      </p:sp>
      <p:sp>
        <p:nvSpPr>
          <p:cNvPr id="3" name="Text 1"/>
          <p:cNvSpPr/>
          <p:nvPr/>
        </p:nvSpPr>
        <p:spPr>
          <a:xfrm>
            <a:off x="661475" y="1485702"/>
            <a:ext cx="11478330" cy="258465"/>
          </a:xfrm>
          <a:prstGeom prst="rect">
            <a:avLst/>
          </a:prstGeom>
          <a:noFill/>
          <a:ln/>
        </p:spPr>
        <p:txBody>
          <a:bodyPr wrap="none" lIns="0" tIns="0" rIns="0" bIns="0" rtlCol="0" anchor="t"/>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A LangGraph application is composed of seven core architectural elements. Every agent built with LangGraph is an assembly of these components.</a:t>
            </a:r>
            <a:endParaRPr lang="en-US" sz="12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924447"/>
            <a:ext cx="406985" cy="406995"/>
          </a:xfrm>
          <a:prstGeom prst="rect">
            <a:avLst/>
          </a:prstGeom>
        </p:spPr>
      </p:pic>
      <p:sp>
        <p:nvSpPr>
          <p:cNvPr id="5" name="Text 2"/>
          <p:cNvSpPr/>
          <p:nvPr/>
        </p:nvSpPr>
        <p:spPr>
          <a:xfrm>
            <a:off x="1268778" y="1924447"/>
            <a:ext cx="2882034"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State</a:t>
            </a:r>
            <a:endParaRPr lang="en-US" sz="1600" dirty="0"/>
          </a:p>
        </p:txBody>
      </p:sp>
      <p:sp>
        <p:nvSpPr>
          <p:cNvPr id="6" name="Text 3"/>
          <p:cNvSpPr/>
          <p:nvPr/>
        </p:nvSpPr>
        <p:spPr>
          <a:xfrm>
            <a:off x="1268778" y="2274888"/>
            <a:ext cx="2882034" cy="1033859"/>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The shared data object passed through the graph. Contains all information nodes need to read and write during execution.</a:t>
            </a:r>
            <a:endParaRPr lang="en-US" sz="12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1129" y="1924447"/>
            <a:ext cx="406985" cy="406995"/>
          </a:xfrm>
          <a:prstGeom prst="rect">
            <a:avLst/>
          </a:prstGeom>
        </p:spPr>
      </p:pic>
      <p:sp>
        <p:nvSpPr>
          <p:cNvPr id="8" name="Text 4"/>
          <p:cNvSpPr/>
          <p:nvPr/>
        </p:nvSpPr>
        <p:spPr>
          <a:xfrm>
            <a:off x="4958432" y="1924447"/>
            <a:ext cx="2882034"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Nodes</a:t>
            </a:r>
            <a:endParaRPr lang="en-US" sz="1600" dirty="0"/>
          </a:p>
        </p:txBody>
      </p:sp>
      <p:sp>
        <p:nvSpPr>
          <p:cNvPr id="9" name="Text 5"/>
          <p:cNvSpPr/>
          <p:nvPr/>
        </p:nvSpPr>
        <p:spPr>
          <a:xfrm>
            <a:off x="4958432" y="2274888"/>
            <a:ext cx="2882034" cy="1033859"/>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Functions that perform discrete operations — LLM calls, tool execution, validation, formatting, or any custom logic.</a:t>
            </a:r>
            <a:endParaRPr lang="en-US" sz="12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0784" y="1924447"/>
            <a:ext cx="406985" cy="406995"/>
          </a:xfrm>
          <a:prstGeom prst="rect">
            <a:avLst/>
          </a:prstGeom>
        </p:spPr>
      </p:pic>
      <p:sp>
        <p:nvSpPr>
          <p:cNvPr id="11" name="Text 6"/>
          <p:cNvSpPr/>
          <p:nvPr/>
        </p:nvSpPr>
        <p:spPr>
          <a:xfrm>
            <a:off x="8648087" y="1924447"/>
            <a:ext cx="2882133"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Edges</a:t>
            </a:r>
            <a:endParaRPr lang="en-US" sz="1600" dirty="0"/>
          </a:p>
        </p:txBody>
      </p:sp>
      <p:sp>
        <p:nvSpPr>
          <p:cNvPr id="12" name="Text 7"/>
          <p:cNvSpPr/>
          <p:nvPr/>
        </p:nvSpPr>
        <p:spPr>
          <a:xfrm>
            <a:off x="8648087" y="2274888"/>
            <a:ext cx="2882133"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Connections between nodes that define the default control flow of the graph.</a:t>
            </a:r>
            <a:endParaRPr lang="en-US" sz="12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629223"/>
            <a:ext cx="406985" cy="406995"/>
          </a:xfrm>
          <a:prstGeom prst="rect">
            <a:avLst/>
          </a:prstGeom>
        </p:spPr>
      </p:pic>
      <p:sp>
        <p:nvSpPr>
          <p:cNvPr id="14" name="Text 8"/>
          <p:cNvSpPr/>
          <p:nvPr/>
        </p:nvSpPr>
        <p:spPr>
          <a:xfrm>
            <a:off x="1268778" y="3629223"/>
            <a:ext cx="2882034"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Conditional Edges</a:t>
            </a:r>
            <a:endParaRPr lang="en-US" sz="1600" dirty="0"/>
          </a:p>
        </p:txBody>
      </p:sp>
      <p:sp>
        <p:nvSpPr>
          <p:cNvPr id="15" name="Text 9"/>
          <p:cNvSpPr/>
          <p:nvPr/>
        </p:nvSpPr>
        <p:spPr>
          <a:xfrm>
            <a:off x="1268778" y="3979664"/>
            <a:ext cx="2882034"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Routing logic that selects the next node based on the current state — enabling decisions and branching.</a:t>
            </a:r>
            <a:endParaRPr lang="en-US" sz="12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51129" y="3629223"/>
            <a:ext cx="406985" cy="406995"/>
          </a:xfrm>
          <a:prstGeom prst="rect">
            <a:avLst/>
          </a:prstGeom>
        </p:spPr>
      </p:pic>
      <p:sp>
        <p:nvSpPr>
          <p:cNvPr id="17" name="Text 10"/>
          <p:cNvSpPr/>
          <p:nvPr/>
        </p:nvSpPr>
        <p:spPr>
          <a:xfrm>
            <a:off x="4958432" y="3629223"/>
            <a:ext cx="2882034"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Start and End Points</a:t>
            </a:r>
            <a:endParaRPr lang="en-US" sz="1600" dirty="0"/>
          </a:p>
        </p:txBody>
      </p:sp>
      <p:sp>
        <p:nvSpPr>
          <p:cNvPr id="18" name="Text 11"/>
          <p:cNvSpPr/>
          <p:nvPr/>
        </p:nvSpPr>
        <p:spPr>
          <a:xfrm>
            <a:off x="4958432" y="3979664"/>
            <a:ext cx="2882034"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Explicit entry and exit points that define where graph execution begins and where it terminates.</a:t>
            </a:r>
            <a:endParaRPr lang="en-US" sz="125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40784" y="3629223"/>
            <a:ext cx="406985" cy="406995"/>
          </a:xfrm>
          <a:prstGeom prst="rect">
            <a:avLst/>
          </a:prstGeom>
        </p:spPr>
      </p:pic>
      <p:sp>
        <p:nvSpPr>
          <p:cNvPr id="20" name="Text 12"/>
          <p:cNvSpPr/>
          <p:nvPr/>
        </p:nvSpPr>
        <p:spPr>
          <a:xfrm>
            <a:off x="8648087" y="3629223"/>
            <a:ext cx="2882133"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Tools</a:t>
            </a:r>
            <a:endParaRPr lang="en-US" sz="1600" dirty="0"/>
          </a:p>
        </p:txBody>
      </p:sp>
      <p:sp>
        <p:nvSpPr>
          <p:cNvPr id="21" name="Text 13"/>
          <p:cNvSpPr/>
          <p:nvPr/>
        </p:nvSpPr>
        <p:spPr>
          <a:xfrm>
            <a:off x="8648087" y="3979664"/>
            <a:ext cx="2882133"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Python functions exposed to the LLM, enabling the agent to take actions such as calculation, search, or API calls.</a:t>
            </a:r>
            <a:endParaRPr lang="en-US" sz="1250" dirty="0"/>
          </a:p>
        </p:txBody>
      </p:sp>
      <p:pic>
        <p:nvPicPr>
          <p:cNvPr id="22"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475" y="5075535"/>
            <a:ext cx="406985" cy="406995"/>
          </a:xfrm>
          <a:prstGeom prst="rect">
            <a:avLst/>
          </a:prstGeom>
        </p:spPr>
      </p:pic>
      <p:sp>
        <p:nvSpPr>
          <p:cNvPr id="23" name="Text 14"/>
          <p:cNvSpPr/>
          <p:nvPr/>
        </p:nvSpPr>
        <p:spPr>
          <a:xfrm>
            <a:off x="1268778" y="5075535"/>
            <a:ext cx="2882034"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Checkpointing / Persistence</a:t>
            </a:r>
            <a:endParaRPr lang="en-US" sz="1600" dirty="0"/>
          </a:p>
        </p:txBody>
      </p:sp>
      <p:sp>
        <p:nvSpPr>
          <p:cNvPr id="24" name="Text 15"/>
          <p:cNvSpPr/>
          <p:nvPr/>
        </p:nvSpPr>
        <p:spPr>
          <a:xfrm>
            <a:off x="1268778" y="5425976"/>
            <a:ext cx="2882034"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Mechanisms to save graph state at any point, enabling resumption, debugging, and human-in-the-loop workflows.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046659"/>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Understanding State</a:t>
            </a:r>
            <a:endParaRPr lang="en-US" sz="3250" dirty="0"/>
          </a:p>
        </p:txBody>
      </p:sp>
      <p:sp>
        <p:nvSpPr>
          <p:cNvPr id="3" name="Text 1"/>
          <p:cNvSpPr/>
          <p:nvPr/>
        </p:nvSpPr>
        <p:spPr>
          <a:xfrm>
            <a:off x="661475" y="1894086"/>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State is the central concept in LangGraph. It is the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shared information object</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that flows through every node in the graph, providing continuity and context across the entire execution.</a:t>
            </a:r>
            <a:endParaRPr lang="en-US" sz="1300" dirty="0"/>
          </a:p>
        </p:txBody>
      </p:sp>
      <p:sp>
        <p:nvSpPr>
          <p:cNvPr id="4" name="Shape 2"/>
          <p:cNvSpPr/>
          <p:nvPr/>
        </p:nvSpPr>
        <p:spPr>
          <a:xfrm>
            <a:off x="542415" y="2609354"/>
            <a:ext cx="5470785" cy="3201888"/>
          </a:xfrm>
          <a:prstGeom prst="roundRect">
            <a:avLst>
              <a:gd name="adj" fmla="val 3719"/>
            </a:avLst>
          </a:prstGeom>
          <a:solidFill>
            <a:srgbClr val="1B1B27">
              <a:alpha val="95000"/>
            </a:srgbClr>
          </a:solidFill>
          <a:ln/>
        </p:spPr>
      </p:sp>
      <p:sp>
        <p:nvSpPr>
          <p:cNvPr id="5" name="Text 3"/>
          <p:cNvSpPr/>
          <p:nvPr/>
        </p:nvSpPr>
        <p:spPr>
          <a:xfrm>
            <a:off x="707710" y="2774652"/>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FFFFFF"/>
                </a:solidFill>
                <a:latin typeface="Raleway" pitchFamily="34" charset="0"/>
                <a:ea typeface="Raleway" pitchFamily="34" charset="-122"/>
                <a:cs typeface="Raleway" pitchFamily="34" charset="-120"/>
              </a:rPr>
              <a:t>What State Contains</a:t>
            </a:r>
            <a:endParaRPr lang="en-US" sz="1600" dirty="0"/>
          </a:p>
        </p:txBody>
      </p:sp>
      <p:sp>
        <p:nvSpPr>
          <p:cNvPr id="6" name="Text 4"/>
          <p:cNvSpPr/>
          <p:nvPr/>
        </p:nvSpPr>
        <p:spPr>
          <a:xfrm>
            <a:off x="707710" y="3198416"/>
            <a:ext cx="514019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Roboto" pitchFamily="34" charset="0"/>
                <a:ea typeface="Roboto" pitchFamily="34" charset="-122"/>
                <a:cs typeface="Roboto" pitchFamily="34" charset="-120"/>
              </a:rPr>
              <a:t>State can hold any information the graph needs to function. Common contents include:</a:t>
            </a:r>
            <a:endParaRPr lang="en-US" sz="1300" dirty="0"/>
          </a:p>
        </p:txBody>
      </p:sp>
      <p:sp>
        <p:nvSpPr>
          <p:cNvPr id="7" name="Text 5"/>
          <p:cNvSpPr/>
          <p:nvPr/>
        </p:nvSpPr>
        <p:spPr>
          <a:xfrm>
            <a:off x="707710" y="3876477"/>
            <a:ext cx="5140196" cy="1876921"/>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The original user request</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The full message history (human, AI, and tool messages)</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Tool results from previous steps</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Intermediate data produced during execution</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Decisions made by the LLM or routing logic</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The final response to be returned to the user</a:t>
            </a:r>
            <a:endParaRPr lang="en-US" sz="1300" dirty="0"/>
          </a:p>
        </p:txBody>
      </p:sp>
      <p:sp>
        <p:nvSpPr>
          <p:cNvPr id="8" name="Text 6"/>
          <p:cNvSpPr/>
          <p:nvPr/>
        </p:nvSpPr>
        <p:spPr>
          <a:xfrm>
            <a:off x="6303904" y="2774652"/>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How State Works</a:t>
            </a:r>
            <a:endParaRPr lang="en-US" sz="1600" dirty="0"/>
          </a:p>
        </p:txBody>
      </p:sp>
      <p:sp>
        <p:nvSpPr>
          <p:cNvPr id="9" name="Text 7"/>
          <p:cNvSpPr/>
          <p:nvPr/>
        </p:nvSpPr>
        <p:spPr>
          <a:xfrm>
            <a:off x="6303904" y="3198416"/>
            <a:ext cx="5232666"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Nodes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read</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from state to access the information they need, and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update</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state with the results of their operation. State is not global mutable data — each node receives the current state and returns a partial update, which LangGraph merges into the overall state.</a:t>
            </a:r>
            <a:endParaRPr lang="en-US" sz="1300" dirty="0"/>
          </a:p>
        </p:txBody>
      </p:sp>
      <p:sp>
        <p:nvSpPr>
          <p:cNvPr id="10" name="Shape 8"/>
          <p:cNvSpPr/>
          <p:nvPr/>
        </p:nvSpPr>
        <p:spPr>
          <a:xfrm>
            <a:off x="6303904" y="4442916"/>
            <a:ext cx="5232666" cy="909439"/>
          </a:xfrm>
          <a:prstGeom prst="roundRect">
            <a:avLst>
              <a:gd name="adj" fmla="val 7638"/>
            </a:avLst>
          </a:prstGeom>
          <a:solidFill>
            <a:srgbClr val="E1E1EA"/>
          </a:solidFill>
          <a:ln/>
        </p:spPr>
      </p:sp>
      <p:pic>
        <p:nvPicPr>
          <p:cNvPr id="11" name="Image 0" descr="preencoded.png">    </p:cNvPr>
          <p:cNvPicPr>
            <a:picLocks noChangeAspect="1"/>
          </p:cNvPicPr>
          <p:nvPr/>
        </p:nvPicPr>
        <p:blipFill>
          <a:blip r:embed="rId1"/>
          <a:stretch>
            <a:fillRect/>
          </a:stretch>
        </p:blipFill>
        <p:spPr>
          <a:xfrm>
            <a:off x="6469198" y="4688979"/>
            <a:ext cx="206667" cy="165298"/>
          </a:xfrm>
          <a:prstGeom prst="rect">
            <a:avLst/>
          </a:prstGeom>
        </p:spPr>
      </p:pic>
      <p:sp>
        <p:nvSpPr>
          <p:cNvPr id="12" name="Text 9"/>
          <p:cNvSpPr/>
          <p:nvPr/>
        </p:nvSpPr>
        <p:spPr>
          <a:xfrm>
            <a:off x="6841160" y="4633020"/>
            <a:ext cx="453011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State provides continuity: without it, each node would operate in isolation with no knowledge of what came before.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903585"/>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Defining State</a:t>
            </a:r>
            <a:endParaRPr lang="en-US" sz="3250" dirty="0"/>
          </a:p>
        </p:txBody>
      </p:sp>
      <p:sp>
        <p:nvSpPr>
          <p:cNvPr id="3" name="Text 1"/>
          <p:cNvSpPr/>
          <p:nvPr/>
        </p:nvSpPr>
        <p:spPr>
          <a:xfrm>
            <a:off x="661475" y="1751013"/>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State must be explicitly defined before a graph can be constructed. The state schema tells LangGraph what information the graph will manage throughout its execution.</a:t>
            </a:r>
            <a:endParaRPr lang="en-US" sz="1300" dirty="0"/>
          </a:p>
        </p:txBody>
      </p:sp>
      <p:sp>
        <p:nvSpPr>
          <p:cNvPr id="4" name="Text 2"/>
          <p:cNvSpPr/>
          <p:nvPr/>
        </p:nvSpPr>
        <p:spPr>
          <a:xfrm>
            <a:off x="661475" y="2466280"/>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01</a:t>
            </a:r>
            <a:endParaRPr lang="en-US" sz="1300" dirty="0"/>
          </a:p>
        </p:txBody>
      </p:sp>
      <p:sp>
        <p:nvSpPr>
          <p:cNvPr id="5" name="Shape 3"/>
          <p:cNvSpPr/>
          <p:nvPr/>
        </p:nvSpPr>
        <p:spPr>
          <a:xfrm>
            <a:off x="661475" y="2728218"/>
            <a:ext cx="5351725" cy="19050"/>
          </a:xfrm>
          <a:prstGeom prst="rect">
            <a:avLst/>
          </a:prstGeom>
          <a:solidFill>
            <a:srgbClr val="1B1B27"/>
          </a:solidFill>
          <a:ln/>
        </p:spPr>
      </p:sp>
      <p:sp>
        <p:nvSpPr>
          <p:cNvPr id="6" name="Text 4"/>
          <p:cNvSpPr/>
          <p:nvPr/>
        </p:nvSpPr>
        <p:spPr>
          <a:xfrm>
            <a:off x="661475" y="2848967"/>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Choose a Schema Format</a:t>
            </a:r>
            <a:endParaRPr lang="en-US" sz="1600" dirty="0"/>
          </a:p>
        </p:txBody>
      </p:sp>
      <p:sp>
        <p:nvSpPr>
          <p:cNvPr id="7" name="Text 5"/>
          <p:cNvSpPr/>
          <p:nvPr/>
        </p:nvSpPr>
        <p:spPr>
          <a:xfrm>
            <a:off x="661475" y="3206651"/>
            <a:ext cx="535172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State is typically represented using a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TypedDict</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or a similar schema definition. This provides type safety and makes the state structure explicit and inspectable.</a:t>
            </a:r>
            <a:endParaRPr lang="en-US" sz="1300" dirty="0"/>
          </a:p>
        </p:txBody>
      </p:sp>
      <p:sp>
        <p:nvSpPr>
          <p:cNvPr id="8" name="Text 6"/>
          <p:cNvSpPr/>
          <p:nvPr/>
        </p:nvSpPr>
        <p:spPr>
          <a:xfrm>
            <a:off x="6178495" y="2466280"/>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02</a:t>
            </a:r>
            <a:endParaRPr lang="en-US" sz="1300" dirty="0"/>
          </a:p>
        </p:txBody>
      </p:sp>
      <p:sp>
        <p:nvSpPr>
          <p:cNvPr id="9" name="Shape 7"/>
          <p:cNvSpPr/>
          <p:nvPr/>
        </p:nvSpPr>
        <p:spPr>
          <a:xfrm>
            <a:off x="6178495" y="2728218"/>
            <a:ext cx="5351725" cy="19050"/>
          </a:xfrm>
          <a:prstGeom prst="rect">
            <a:avLst/>
          </a:prstGeom>
          <a:solidFill>
            <a:srgbClr val="1B1B27"/>
          </a:solidFill>
          <a:ln/>
        </p:spPr>
      </p:sp>
      <p:sp>
        <p:nvSpPr>
          <p:cNvPr id="10" name="Text 8"/>
          <p:cNvSpPr/>
          <p:nvPr/>
        </p:nvSpPr>
        <p:spPr>
          <a:xfrm>
            <a:off x="6178495" y="2848967"/>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Define Required Fields</a:t>
            </a:r>
            <a:endParaRPr lang="en-US" sz="1600" dirty="0"/>
          </a:p>
        </p:txBody>
      </p:sp>
      <p:sp>
        <p:nvSpPr>
          <p:cNvPr id="11" name="Text 9"/>
          <p:cNvSpPr/>
          <p:nvPr/>
        </p:nvSpPr>
        <p:spPr>
          <a:xfrm>
            <a:off x="6178495" y="3206651"/>
            <a:ext cx="535172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Identify the information the graph needs to carry between nodes. Include message history, task-specific data, intermediate results, and any flags or decisions the routing logic will inspect.</a:t>
            </a:r>
            <a:endParaRPr lang="en-US" sz="1300" dirty="0"/>
          </a:p>
        </p:txBody>
      </p:sp>
      <p:sp>
        <p:nvSpPr>
          <p:cNvPr id="12" name="Text 10"/>
          <p:cNvSpPr/>
          <p:nvPr/>
        </p:nvSpPr>
        <p:spPr>
          <a:xfrm>
            <a:off x="661475" y="4296172"/>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03</a:t>
            </a:r>
            <a:endParaRPr lang="en-US" sz="1300" dirty="0"/>
          </a:p>
        </p:txBody>
      </p:sp>
      <p:sp>
        <p:nvSpPr>
          <p:cNvPr id="13" name="Shape 11"/>
          <p:cNvSpPr/>
          <p:nvPr/>
        </p:nvSpPr>
        <p:spPr>
          <a:xfrm>
            <a:off x="661475" y="4558109"/>
            <a:ext cx="5351725" cy="19050"/>
          </a:xfrm>
          <a:prstGeom prst="rect">
            <a:avLst/>
          </a:prstGeom>
          <a:solidFill>
            <a:srgbClr val="1B1B27"/>
          </a:solidFill>
          <a:ln/>
        </p:spPr>
      </p:sp>
      <p:sp>
        <p:nvSpPr>
          <p:cNvPr id="14" name="Text 12"/>
          <p:cNvSpPr/>
          <p:nvPr/>
        </p:nvSpPr>
        <p:spPr>
          <a:xfrm>
            <a:off x="661475" y="4678859"/>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Keep State Focused</a:t>
            </a:r>
            <a:endParaRPr lang="en-US" sz="1600" dirty="0"/>
          </a:p>
        </p:txBody>
      </p:sp>
      <p:sp>
        <p:nvSpPr>
          <p:cNvPr id="15" name="Text 13"/>
          <p:cNvSpPr/>
          <p:nvPr/>
        </p:nvSpPr>
        <p:spPr>
          <a:xfrm>
            <a:off x="661475" y="5036542"/>
            <a:ext cx="535172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State should contain only what the graph genuinely needs. Avoid storing data that is not used by any node — a focused state schema is easier to reason about and debug.</a:t>
            </a:r>
            <a:endParaRPr lang="en-US" sz="1300" dirty="0"/>
          </a:p>
        </p:txBody>
      </p:sp>
      <p:sp>
        <p:nvSpPr>
          <p:cNvPr id="16" name="Text 14"/>
          <p:cNvSpPr/>
          <p:nvPr/>
        </p:nvSpPr>
        <p:spPr>
          <a:xfrm>
            <a:off x="6178495" y="4296172"/>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04</a:t>
            </a:r>
            <a:endParaRPr lang="en-US" sz="1300" dirty="0"/>
          </a:p>
        </p:txBody>
      </p:sp>
      <p:sp>
        <p:nvSpPr>
          <p:cNvPr id="17" name="Shape 15"/>
          <p:cNvSpPr/>
          <p:nvPr/>
        </p:nvSpPr>
        <p:spPr>
          <a:xfrm>
            <a:off x="6178495" y="4558109"/>
            <a:ext cx="5351725" cy="19050"/>
          </a:xfrm>
          <a:prstGeom prst="rect">
            <a:avLst/>
          </a:prstGeom>
          <a:solidFill>
            <a:srgbClr val="1B1B27"/>
          </a:solidFill>
          <a:ln/>
        </p:spPr>
      </p:sp>
      <p:sp>
        <p:nvSpPr>
          <p:cNvPr id="18" name="Text 16"/>
          <p:cNvSpPr/>
          <p:nvPr/>
        </p:nvSpPr>
        <p:spPr>
          <a:xfrm>
            <a:off x="6178495" y="4678859"/>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State Provides Continuity</a:t>
            </a:r>
            <a:endParaRPr lang="en-US" sz="1600" dirty="0"/>
          </a:p>
        </p:txBody>
      </p:sp>
      <p:sp>
        <p:nvSpPr>
          <p:cNvPr id="19" name="Text 17"/>
          <p:cNvSpPr/>
          <p:nvPr/>
        </p:nvSpPr>
        <p:spPr>
          <a:xfrm>
            <a:off x="6178495" y="5036542"/>
            <a:ext cx="535172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Once defined, state is initialized with the user's input and updated by each node as execution progresses. The final state contains the complete record of the agent's work and its output.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8709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What is a Node?</a:t>
            </a:r>
            <a:endParaRPr lang="en-US" sz="3250" dirty="0"/>
          </a:p>
        </p:txBody>
      </p:sp>
      <p:sp>
        <p:nvSpPr>
          <p:cNvPr id="3" name="Text 1"/>
          <p:cNvSpPr/>
          <p:nvPr/>
        </p:nvSpPr>
        <p:spPr>
          <a:xfrm>
            <a:off x="661475" y="1534517"/>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 node is a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Python function</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that performs a specific, discrete operation within the graph. Nodes are the units of work in LangGraph — every action the agent takes is implemented as a node.</a:t>
            </a:r>
            <a:endParaRPr lang="en-US" sz="1300" dirty="0"/>
          </a:p>
        </p:txBody>
      </p:sp>
      <p:sp>
        <p:nvSpPr>
          <p:cNvPr id="4" name="Shape 2"/>
          <p:cNvSpPr/>
          <p:nvPr/>
        </p:nvSpPr>
        <p:spPr>
          <a:xfrm>
            <a:off x="661475" y="2249785"/>
            <a:ext cx="3512653" cy="1784846"/>
          </a:xfrm>
          <a:prstGeom prst="roundRect">
            <a:avLst>
              <a:gd name="adj" fmla="val 3892"/>
            </a:avLst>
          </a:prstGeom>
          <a:solidFill>
            <a:srgbClr val="FFFFFF">
              <a:alpha val="95000"/>
            </a:srgbClr>
          </a:solidFill>
          <a:ln w="19050">
            <a:solidFill>
              <a:srgbClr val="C7C7D0"/>
            </a:solidFill>
            <a:prstDash val="solid"/>
          </a:ln>
        </p:spPr>
      </p:sp>
      <p:sp>
        <p:nvSpPr>
          <p:cNvPr id="5" name="Text 3"/>
          <p:cNvSpPr/>
          <p:nvPr/>
        </p:nvSpPr>
        <p:spPr>
          <a:xfrm>
            <a:off x="845819" y="2434134"/>
            <a:ext cx="314396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Call an LLM</a:t>
            </a:r>
            <a:endParaRPr lang="en-US" sz="1600" dirty="0"/>
          </a:p>
        </p:txBody>
      </p:sp>
      <p:sp>
        <p:nvSpPr>
          <p:cNvPr id="6" name="Text 4"/>
          <p:cNvSpPr/>
          <p:nvPr/>
        </p:nvSpPr>
        <p:spPr>
          <a:xfrm>
            <a:off x="845819" y="2791817"/>
            <a:ext cx="314396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most common node type. Passes the current state (typically the message history) to a language model and stores the model's response back into state.</a:t>
            </a:r>
            <a:endParaRPr lang="en-US" sz="1300" dirty="0"/>
          </a:p>
        </p:txBody>
      </p:sp>
      <p:sp>
        <p:nvSpPr>
          <p:cNvPr id="7" name="Shape 5"/>
          <p:cNvSpPr/>
          <p:nvPr/>
        </p:nvSpPr>
        <p:spPr>
          <a:xfrm>
            <a:off x="4339422" y="2249785"/>
            <a:ext cx="3512752" cy="1784846"/>
          </a:xfrm>
          <a:prstGeom prst="roundRect">
            <a:avLst>
              <a:gd name="adj" fmla="val 3892"/>
            </a:avLst>
          </a:prstGeom>
          <a:solidFill>
            <a:srgbClr val="FFFFFF">
              <a:alpha val="95000"/>
            </a:srgbClr>
          </a:solidFill>
          <a:ln w="19050">
            <a:solidFill>
              <a:srgbClr val="C7C7D0"/>
            </a:solidFill>
            <a:prstDash val="solid"/>
          </a:ln>
        </p:spPr>
      </p:sp>
      <p:sp>
        <p:nvSpPr>
          <p:cNvPr id="8" name="Text 6"/>
          <p:cNvSpPr/>
          <p:nvPr/>
        </p:nvSpPr>
        <p:spPr>
          <a:xfrm>
            <a:off x="4523766" y="2434134"/>
            <a:ext cx="314406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Execute a Tool</a:t>
            </a:r>
            <a:endParaRPr lang="en-US" sz="1600" dirty="0"/>
          </a:p>
        </p:txBody>
      </p:sp>
      <p:sp>
        <p:nvSpPr>
          <p:cNvPr id="9" name="Text 7"/>
          <p:cNvSpPr/>
          <p:nvPr/>
        </p:nvSpPr>
        <p:spPr>
          <a:xfrm>
            <a:off x="4523766" y="2791817"/>
            <a:ext cx="3144064"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Runs a tool requested by the LLM — a calculator, a search engine, a database query, or any Python function — and returns the result to state.</a:t>
            </a:r>
            <a:endParaRPr lang="en-US" sz="1300" dirty="0"/>
          </a:p>
        </p:txBody>
      </p:sp>
      <p:sp>
        <p:nvSpPr>
          <p:cNvPr id="10" name="Shape 8"/>
          <p:cNvSpPr/>
          <p:nvPr/>
        </p:nvSpPr>
        <p:spPr>
          <a:xfrm>
            <a:off x="8017468" y="2249785"/>
            <a:ext cx="3512653" cy="1784846"/>
          </a:xfrm>
          <a:prstGeom prst="roundRect">
            <a:avLst>
              <a:gd name="adj" fmla="val 3892"/>
            </a:avLst>
          </a:prstGeom>
          <a:solidFill>
            <a:srgbClr val="FFFFFF">
              <a:alpha val="95000"/>
            </a:srgbClr>
          </a:solidFill>
          <a:ln w="19050">
            <a:solidFill>
              <a:srgbClr val="C7C7D0"/>
            </a:solidFill>
            <a:prstDash val="solid"/>
          </a:ln>
        </p:spPr>
      </p:sp>
      <p:sp>
        <p:nvSpPr>
          <p:cNvPr id="11" name="Text 9"/>
          <p:cNvSpPr/>
          <p:nvPr/>
        </p:nvSpPr>
        <p:spPr>
          <a:xfrm>
            <a:off x="8201812" y="2434134"/>
            <a:ext cx="314396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Validate Output</a:t>
            </a:r>
            <a:endParaRPr lang="en-US" sz="1600" dirty="0"/>
          </a:p>
        </p:txBody>
      </p:sp>
      <p:sp>
        <p:nvSpPr>
          <p:cNvPr id="12" name="Text 10"/>
          <p:cNvSpPr/>
          <p:nvPr/>
        </p:nvSpPr>
        <p:spPr>
          <a:xfrm>
            <a:off x="8201812" y="2791817"/>
            <a:ext cx="314396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Inspects the current state to check whether the agent's output meets required criteria before proceeding or looping back.</a:t>
            </a:r>
            <a:endParaRPr lang="en-US" sz="1300" dirty="0"/>
          </a:p>
        </p:txBody>
      </p:sp>
      <p:sp>
        <p:nvSpPr>
          <p:cNvPr id="13" name="Shape 11"/>
          <p:cNvSpPr/>
          <p:nvPr/>
        </p:nvSpPr>
        <p:spPr>
          <a:xfrm>
            <a:off x="661475" y="4199930"/>
            <a:ext cx="5351626" cy="1255613"/>
          </a:xfrm>
          <a:prstGeom prst="roundRect">
            <a:avLst>
              <a:gd name="adj" fmla="val 5532"/>
            </a:avLst>
          </a:prstGeom>
          <a:solidFill>
            <a:srgbClr val="FFFFFF">
              <a:alpha val="95000"/>
            </a:srgbClr>
          </a:solidFill>
          <a:ln w="19050">
            <a:solidFill>
              <a:srgbClr val="C7C7D0"/>
            </a:solidFill>
            <a:prstDash val="solid"/>
          </a:ln>
        </p:spPr>
      </p:sp>
      <p:sp>
        <p:nvSpPr>
          <p:cNvPr id="14" name="Text 12"/>
          <p:cNvSpPr/>
          <p:nvPr/>
        </p:nvSpPr>
        <p:spPr>
          <a:xfrm>
            <a:off x="845819" y="4384278"/>
            <a:ext cx="4982939"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Retrieve Information</a:t>
            </a:r>
            <a:endParaRPr lang="en-US" sz="1600" dirty="0"/>
          </a:p>
        </p:txBody>
      </p:sp>
      <p:sp>
        <p:nvSpPr>
          <p:cNvPr id="15" name="Text 13"/>
          <p:cNvSpPr/>
          <p:nvPr/>
        </p:nvSpPr>
        <p:spPr>
          <a:xfrm>
            <a:off x="845819" y="4741962"/>
            <a:ext cx="498293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Fetches data from an external source — a vector store, an API, or a database — and adds it to state for the LLM to reason over.</a:t>
            </a:r>
            <a:endParaRPr lang="en-US" sz="1300" dirty="0"/>
          </a:p>
        </p:txBody>
      </p:sp>
      <p:sp>
        <p:nvSpPr>
          <p:cNvPr id="16" name="Shape 14"/>
          <p:cNvSpPr/>
          <p:nvPr/>
        </p:nvSpPr>
        <p:spPr>
          <a:xfrm>
            <a:off x="6178395" y="4199930"/>
            <a:ext cx="5351725" cy="1255613"/>
          </a:xfrm>
          <a:prstGeom prst="roundRect">
            <a:avLst>
              <a:gd name="adj" fmla="val 5532"/>
            </a:avLst>
          </a:prstGeom>
          <a:solidFill>
            <a:srgbClr val="FFFFFF">
              <a:alpha val="95000"/>
            </a:srgbClr>
          </a:solidFill>
          <a:ln w="19050">
            <a:solidFill>
              <a:srgbClr val="C7C7D0"/>
            </a:solidFill>
            <a:prstDash val="solid"/>
          </a:ln>
        </p:spPr>
      </p:sp>
      <p:sp>
        <p:nvSpPr>
          <p:cNvPr id="17" name="Text 15"/>
          <p:cNvSpPr/>
          <p:nvPr/>
        </p:nvSpPr>
        <p:spPr>
          <a:xfrm>
            <a:off x="6362739" y="4384278"/>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Format Response</a:t>
            </a:r>
            <a:endParaRPr lang="en-US" sz="1600" dirty="0"/>
          </a:p>
        </p:txBody>
      </p:sp>
      <p:sp>
        <p:nvSpPr>
          <p:cNvPr id="18" name="Text 16"/>
          <p:cNvSpPr/>
          <p:nvPr/>
        </p:nvSpPr>
        <p:spPr>
          <a:xfrm>
            <a:off x="6362739" y="4741962"/>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Transforms the raw output in state into a structured, user-facing response before the graph reaches its end point.</a:t>
            </a:r>
            <a:endParaRPr lang="en-US" sz="1300" dirty="0"/>
          </a:p>
        </p:txBody>
      </p:sp>
      <p:sp>
        <p:nvSpPr>
          <p:cNvPr id="19" name="Text 17"/>
          <p:cNvSpPr/>
          <p:nvPr/>
        </p:nvSpPr>
        <p:spPr>
          <a:xfrm>
            <a:off x="661475" y="5641578"/>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Nodes receive the current state as input and return a dictionary of state updates. LangGraph merges those updates into the overall state before passing it to the next node.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75655"/>
            <a:ext cx="10868745" cy="508695"/>
          </a:xfrm>
          <a:prstGeom prst="rect">
            <a:avLst/>
          </a:prstGeom>
          <a:noFill/>
          <a:ln/>
        </p:spPr>
        <p:txBody>
          <a:bodyPr wrap="none" lIns="0" tIns="0" rIns="0" bIns="0" rtlCol="0" anchor="t"/>
          <a:lstStyle/>
          <a:p>
            <a:pPr algn="l" indent="0" marL="0">
              <a:lnSpc>
                <a:spcPct val="104000"/>
              </a:lnSpc>
              <a:buNone/>
            </a:pPr>
            <a:r>
              <a:rPr lang="en-US" sz="3200" dirty="0">
                <a:solidFill>
                  <a:srgbClr val="1B1B27"/>
                </a:solidFill>
                <a:latin typeface="Raleway" pitchFamily="34" charset="0"/>
                <a:ea typeface="Raleway" pitchFamily="34" charset="-122"/>
                <a:cs typeface="Raleway" pitchFamily="34" charset="-120"/>
              </a:rPr>
              <a:t>What is an Edge?</a:t>
            </a:r>
            <a:endParaRPr lang="en-US" sz="3200" dirty="0"/>
          </a:p>
        </p:txBody>
      </p:sp>
      <p:sp>
        <p:nvSpPr>
          <p:cNvPr id="3" name="Text 1"/>
          <p:cNvSpPr/>
          <p:nvPr/>
        </p:nvSpPr>
        <p:spPr>
          <a:xfrm>
            <a:off x="661475" y="1304826"/>
            <a:ext cx="10868745"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An edge is the connection between two nodes. Edges define the </a:t>
            </a:r>
            <a:pPr algn="l" indent="0" marL="0">
              <a:lnSpc>
                <a:spcPct val="132000"/>
              </a:lnSpc>
              <a:buNone/>
            </a:pPr>
            <a:r>
              <a:rPr lang="en-US" sz="1250" b="1" dirty="0">
                <a:solidFill>
                  <a:srgbClr val="3C3939"/>
                </a:solidFill>
                <a:latin typeface="Roboto Bold" pitchFamily="34" charset="0"/>
                <a:ea typeface="Roboto Bold" pitchFamily="34" charset="-122"/>
                <a:cs typeface="Roboto Bold" pitchFamily="34" charset="-120"/>
              </a:rPr>
              <a:t>control flow</a:t>
            </a:r>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 of the graph — they determine which node executes after the current one completes.</a:t>
            </a:r>
            <a:endParaRPr lang="en-US" sz="1250" dirty="0"/>
          </a:p>
        </p:txBody>
      </p:sp>
      <p:pic>
        <p:nvPicPr>
          <p:cNvPr id="4" name="Image 0" descr="preencoded.png">    </p:cNvPr>
          <p:cNvPicPr>
            <a:picLocks noChangeAspect="1"/>
          </p:cNvPicPr>
          <p:nvPr/>
        </p:nvPicPr>
        <p:blipFill>
          <a:blip r:embed="rId1"/>
          <a:stretch>
            <a:fillRect/>
          </a:stretch>
        </p:blipFill>
        <p:spPr>
          <a:xfrm>
            <a:off x="661475" y="2002036"/>
            <a:ext cx="5434373" cy="651173"/>
          </a:xfrm>
          <a:prstGeom prst="rect">
            <a:avLst/>
          </a:prstGeom>
        </p:spPr>
      </p:pic>
      <p:sp>
        <p:nvSpPr>
          <p:cNvPr id="5" name="Text 2"/>
          <p:cNvSpPr/>
          <p:nvPr/>
        </p:nvSpPr>
        <p:spPr>
          <a:xfrm>
            <a:off x="824190" y="2813447"/>
            <a:ext cx="5108943"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START</a:t>
            </a:r>
            <a:endParaRPr lang="en-US" sz="1600" dirty="0"/>
          </a:p>
        </p:txBody>
      </p:sp>
      <p:sp>
        <p:nvSpPr>
          <p:cNvPr id="6" name="Text 3"/>
          <p:cNvSpPr/>
          <p:nvPr/>
        </p:nvSpPr>
        <p:spPr>
          <a:xfrm>
            <a:off x="824190" y="3163888"/>
            <a:ext cx="5108943"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The entry point of the graph. Execution always begins here, with the initial state provided by the caller.</a:t>
            </a:r>
            <a:endParaRPr lang="en-US" sz="1250" dirty="0"/>
          </a:p>
        </p:txBody>
      </p:sp>
      <p:pic>
        <p:nvPicPr>
          <p:cNvPr id="7" name="Image 1" descr="preencoded.png">    </p:cNvPr>
          <p:cNvPicPr>
            <a:picLocks noChangeAspect="1"/>
          </p:cNvPicPr>
          <p:nvPr/>
        </p:nvPicPr>
        <p:blipFill>
          <a:blip r:embed="rId2"/>
          <a:stretch>
            <a:fillRect/>
          </a:stretch>
        </p:blipFill>
        <p:spPr>
          <a:xfrm>
            <a:off x="6095848" y="2002036"/>
            <a:ext cx="5434373" cy="651173"/>
          </a:xfrm>
          <a:prstGeom prst="rect">
            <a:avLst/>
          </a:prstGeom>
        </p:spPr>
      </p:pic>
      <p:sp>
        <p:nvSpPr>
          <p:cNvPr id="8" name="Text 4"/>
          <p:cNvSpPr/>
          <p:nvPr/>
        </p:nvSpPr>
        <p:spPr>
          <a:xfrm>
            <a:off x="6258562" y="2813447"/>
            <a:ext cx="5108943"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Node A</a:t>
            </a:r>
            <a:endParaRPr lang="en-US" sz="1600" dirty="0"/>
          </a:p>
        </p:txBody>
      </p:sp>
      <p:sp>
        <p:nvSpPr>
          <p:cNvPr id="9" name="Text 5"/>
          <p:cNvSpPr/>
          <p:nvPr/>
        </p:nvSpPr>
        <p:spPr>
          <a:xfrm>
            <a:off x="6258562" y="3163888"/>
            <a:ext cx="5108943"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The first processing node. Receives the initial state, performs its operation, and updates state with its result.</a:t>
            </a:r>
            <a:endParaRPr lang="en-US" sz="1250" dirty="0"/>
          </a:p>
        </p:txBody>
      </p:sp>
      <p:pic>
        <p:nvPicPr>
          <p:cNvPr id="10" name="Image 2" descr="preencoded.png">    </p:cNvPr>
          <p:cNvPicPr>
            <a:picLocks noChangeAspect="1"/>
          </p:cNvPicPr>
          <p:nvPr/>
        </p:nvPicPr>
        <p:blipFill>
          <a:blip r:embed="rId3"/>
          <a:stretch>
            <a:fillRect/>
          </a:stretch>
        </p:blipFill>
        <p:spPr>
          <a:xfrm>
            <a:off x="661475" y="3843536"/>
            <a:ext cx="5434373" cy="651173"/>
          </a:xfrm>
          <a:prstGeom prst="rect">
            <a:avLst/>
          </a:prstGeom>
        </p:spPr>
      </p:pic>
      <p:sp>
        <p:nvSpPr>
          <p:cNvPr id="11" name="Text 6"/>
          <p:cNvSpPr/>
          <p:nvPr/>
        </p:nvSpPr>
        <p:spPr>
          <a:xfrm>
            <a:off x="824190" y="4654947"/>
            <a:ext cx="5108943"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Node B</a:t>
            </a:r>
            <a:endParaRPr lang="en-US" sz="1600" dirty="0"/>
          </a:p>
        </p:txBody>
      </p:sp>
      <p:sp>
        <p:nvSpPr>
          <p:cNvPr id="12" name="Text 7"/>
          <p:cNvSpPr/>
          <p:nvPr/>
        </p:nvSpPr>
        <p:spPr>
          <a:xfrm>
            <a:off x="824190" y="5005388"/>
            <a:ext cx="5108943"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The second processing node. Receives the updated state from Node A and continues the work.</a:t>
            </a:r>
            <a:endParaRPr lang="en-US" sz="1250" dirty="0"/>
          </a:p>
        </p:txBody>
      </p:sp>
      <p:pic>
        <p:nvPicPr>
          <p:cNvPr id="13" name="Image 3" descr="preencoded.png">    </p:cNvPr>
          <p:cNvPicPr>
            <a:picLocks noChangeAspect="1"/>
          </p:cNvPicPr>
          <p:nvPr/>
        </p:nvPicPr>
        <p:blipFill>
          <a:blip r:embed="rId4"/>
          <a:stretch>
            <a:fillRect/>
          </a:stretch>
        </p:blipFill>
        <p:spPr>
          <a:xfrm>
            <a:off x="6095848" y="3843536"/>
            <a:ext cx="5434373" cy="651173"/>
          </a:xfrm>
          <a:prstGeom prst="rect">
            <a:avLst/>
          </a:prstGeom>
        </p:spPr>
      </p:pic>
      <p:sp>
        <p:nvSpPr>
          <p:cNvPr id="14" name="Text 8"/>
          <p:cNvSpPr/>
          <p:nvPr/>
        </p:nvSpPr>
        <p:spPr>
          <a:xfrm>
            <a:off x="6258562" y="4654947"/>
            <a:ext cx="5108943"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END</a:t>
            </a:r>
            <a:endParaRPr lang="en-US" sz="1600" dirty="0"/>
          </a:p>
        </p:txBody>
      </p:sp>
      <p:sp>
        <p:nvSpPr>
          <p:cNvPr id="15" name="Text 9"/>
          <p:cNvSpPr/>
          <p:nvPr/>
        </p:nvSpPr>
        <p:spPr>
          <a:xfrm>
            <a:off x="6258562" y="5005388"/>
            <a:ext cx="5108943"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The exit point of the graph. When execution reaches END, the final state is returned to the caller.</a:t>
            </a:r>
            <a:endParaRPr lang="en-US" sz="1250" dirty="0"/>
          </a:p>
        </p:txBody>
      </p:sp>
      <p:sp>
        <p:nvSpPr>
          <p:cNvPr id="16" name="Text 10"/>
          <p:cNvSpPr/>
          <p:nvPr/>
        </p:nvSpPr>
        <p:spPr>
          <a:xfrm>
            <a:off x="661475" y="5865316"/>
            <a:ext cx="10868745"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In a basic graph, edges are </a:t>
            </a:r>
            <a:pPr algn="l" indent="0" marL="0">
              <a:lnSpc>
                <a:spcPct val="132000"/>
              </a:lnSpc>
              <a:buNone/>
            </a:pPr>
            <a:r>
              <a:rPr lang="en-US" sz="1250" b="1" dirty="0">
                <a:solidFill>
                  <a:srgbClr val="3C3939"/>
                </a:solidFill>
                <a:latin typeface="Roboto Bold" pitchFamily="34" charset="0"/>
                <a:ea typeface="Roboto Bold" pitchFamily="34" charset="-122"/>
                <a:cs typeface="Roboto Bold" pitchFamily="34" charset="-120"/>
              </a:rPr>
              <a:t>direct</a:t>
            </a:r>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 — the next node is always the same regardless of state. For dynamic agent behavior, </a:t>
            </a:r>
            <a:pPr algn="l" indent="0" marL="0">
              <a:lnSpc>
                <a:spcPct val="132000"/>
              </a:lnSpc>
              <a:buNone/>
            </a:pPr>
            <a:r>
              <a:rPr lang="en-US" sz="1250" b="1" dirty="0">
                <a:solidFill>
                  <a:srgbClr val="3C3939"/>
                </a:solidFill>
                <a:latin typeface="Roboto Bold" pitchFamily="34" charset="0"/>
                <a:ea typeface="Roboto Bold" pitchFamily="34" charset="-122"/>
                <a:cs typeface="Roboto Bold" pitchFamily="34" charset="-120"/>
              </a:rPr>
              <a:t>conditional edges</a:t>
            </a:r>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 are used to select the next node based on the current state.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815181"/>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Conditional Edges</a:t>
            </a:r>
            <a:endParaRPr lang="en-US" sz="3250" dirty="0"/>
          </a:p>
        </p:txBody>
      </p:sp>
      <p:sp>
        <p:nvSpPr>
          <p:cNvPr id="3" name="Text 1"/>
          <p:cNvSpPr/>
          <p:nvPr/>
        </p:nvSpPr>
        <p:spPr>
          <a:xfrm>
            <a:off x="661475" y="1662609"/>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Conditional edges are the mechanism that gives LangGraph agents their decision-making capability. Rather than always routing to the same next node, a conditional edge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inspects the current state</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and selects the appropriate next node based on what it finds.</a:t>
            </a:r>
            <a:endParaRPr lang="en-US" sz="1300" dirty="0"/>
          </a:p>
        </p:txBody>
      </p:sp>
      <p:sp>
        <p:nvSpPr>
          <p:cNvPr id="4" name="Shape 2"/>
          <p:cNvSpPr/>
          <p:nvPr/>
        </p:nvSpPr>
        <p:spPr>
          <a:xfrm>
            <a:off x="542415" y="2377877"/>
            <a:ext cx="5470785" cy="3664942"/>
          </a:xfrm>
          <a:prstGeom prst="roundRect">
            <a:avLst>
              <a:gd name="adj" fmla="val 3249"/>
            </a:avLst>
          </a:prstGeom>
          <a:solidFill>
            <a:srgbClr val="1B1B27">
              <a:alpha val="95000"/>
            </a:srgbClr>
          </a:solidFill>
          <a:ln/>
        </p:spPr>
      </p:sp>
      <p:sp>
        <p:nvSpPr>
          <p:cNvPr id="5" name="Text 3"/>
          <p:cNvSpPr/>
          <p:nvPr/>
        </p:nvSpPr>
        <p:spPr>
          <a:xfrm>
            <a:off x="707710" y="2543175"/>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FFFFFF"/>
                </a:solidFill>
                <a:latin typeface="Raleway" pitchFamily="34" charset="0"/>
                <a:ea typeface="Raleway" pitchFamily="34" charset="-122"/>
                <a:cs typeface="Raleway" pitchFamily="34" charset="-120"/>
              </a:rPr>
              <a:t>How Conditional Edges Work</a:t>
            </a:r>
            <a:endParaRPr lang="en-US" sz="1600" dirty="0"/>
          </a:p>
        </p:txBody>
      </p:sp>
      <p:sp>
        <p:nvSpPr>
          <p:cNvPr id="6" name="Text 4"/>
          <p:cNvSpPr/>
          <p:nvPr/>
        </p:nvSpPr>
        <p:spPr>
          <a:xfrm>
            <a:off x="707710" y="2966938"/>
            <a:ext cx="5140196" cy="1736527"/>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dirty="0">
                <a:solidFill>
                  <a:srgbClr val="FFFFFF"/>
                </a:solidFill>
                <a:latin typeface="Roboto" pitchFamily="34" charset="0"/>
                <a:ea typeface="Roboto" pitchFamily="34" charset="-122"/>
                <a:cs typeface="Roboto" pitchFamily="34" charset="-120"/>
              </a:rPr>
              <a:t>A conditional edge is implemented as a routing function. The function receives the current state, applies logic to it, and returns the name of the next node to execute.</a:t>
            </a:r>
            <a:endParaRPr lang="en-US" sz="1300" dirty="0"/>
          </a:p>
          <a:p>
            <a:pPr algn="l" indent="0" marL="0">
              <a:lnSpc>
                <a:spcPct val="133000"/>
              </a:lnSpc>
              <a:buNone/>
            </a:pPr>
            <a:r>
              <a:rPr lang="en-US" sz="1300" dirty="0">
                <a:solidFill>
                  <a:srgbClr val="FFFFFF"/>
                </a:solidFill>
                <a:latin typeface="Roboto" pitchFamily="34" charset="0"/>
                <a:ea typeface="Roboto" pitchFamily="34" charset="-122"/>
                <a:cs typeface="Roboto" pitchFamily="34" charset="-120"/>
              </a:rPr>
              <a:t>The graph is configured with a mapping from return values to node names, so the routing function's output determines the execution path.</a:t>
            </a:r>
            <a:endParaRPr lang="en-US" sz="1300" dirty="0"/>
          </a:p>
        </p:txBody>
      </p:sp>
      <p:sp>
        <p:nvSpPr>
          <p:cNvPr id="7" name="Text 5"/>
          <p:cNvSpPr/>
          <p:nvPr/>
        </p:nvSpPr>
        <p:spPr>
          <a:xfrm>
            <a:off x="6303904" y="2543175"/>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Example: Tool Call Routing</a:t>
            </a:r>
            <a:endParaRPr lang="en-US" sz="1600" dirty="0"/>
          </a:p>
        </p:txBody>
      </p:sp>
      <p:sp>
        <p:nvSpPr>
          <p:cNvPr id="8" name="Text 6"/>
          <p:cNvSpPr/>
          <p:nvPr/>
        </p:nvSpPr>
        <p:spPr>
          <a:xfrm>
            <a:off x="6303904" y="2966938"/>
            <a:ext cx="523266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After the LLM node executes, a conditional edge inspects the AI message in state:</a:t>
            </a:r>
            <a:endParaRPr lang="en-US" sz="1300" dirty="0"/>
          </a:p>
        </p:txBody>
      </p:sp>
      <p:sp>
        <p:nvSpPr>
          <p:cNvPr id="9" name="Text 7"/>
          <p:cNvSpPr/>
          <p:nvPr/>
        </p:nvSpPr>
        <p:spPr>
          <a:xfrm>
            <a:off x="6303904" y="3644999"/>
            <a:ext cx="5232666" cy="851694"/>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If the message contains a tool call</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route to the Tool Node</a:t>
            </a:r>
            <a:endParaRPr lang="en-US" sz="1300" dirty="0"/>
          </a:p>
          <a:p>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If the message contains no tool call</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route to Final Response / END</a:t>
            </a:r>
            <a:endParaRPr lang="en-US" sz="1300" dirty="0"/>
          </a:p>
        </p:txBody>
      </p:sp>
      <p:sp>
        <p:nvSpPr>
          <p:cNvPr id="10" name="Shape 8"/>
          <p:cNvSpPr/>
          <p:nvPr/>
        </p:nvSpPr>
        <p:spPr>
          <a:xfrm>
            <a:off x="6303904" y="4682728"/>
            <a:ext cx="5232666" cy="1174055"/>
          </a:xfrm>
          <a:prstGeom prst="roundRect">
            <a:avLst>
              <a:gd name="adj" fmla="val 5917"/>
            </a:avLst>
          </a:prstGeom>
          <a:solidFill>
            <a:srgbClr val="E1E1EA"/>
          </a:solidFill>
          <a:ln/>
        </p:spPr>
      </p:sp>
      <p:pic>
        <p:nvPicPr>
          <p:cNvPr id="11" name="Image 0" descr="preencoded.png">    </p:cNvPr>
          <p:cNvPicPr>
            <a:picLocks noChangeAspect="1"/>
          </p:cNvPicPr>
          <p:nvPr/>
        </p:nvPicPr>
        <p:blipFill>
          <a:blip r:embed="rId1"/>
          <a:stretch>
            <a:fillRect/>
          </a:stretch>
        </p:blipFill>
        <p:spPr>
          <a:xfrm>
            <a:off x="6469198" y="4928791"/>
            <a:ext cx="206667" cy="165298"/>
          </a:xfrm>
          <a:prstGeom prst="rect">
            <a:avLst/>
          </a:prstGeom>
        </p:spPr>
      </p:pic>
      <p:sp>
        <p:nvSpPr>
          <p:cNvPr id="12" name="Text 9"/>
          <p:cNvSpPr/>
          <p:nvPr/>
        </p:nvSpPr>
        <p:spPr>
          <a:xfrm>
            <a:off x="6841160" y="4872831"/>
            <a:ext cx="4530116"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Conditional routing is essential for agentic behavior. Without it, the graph cannot make decisions — it can only follow a fixed path.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Simple Agent Graph</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The simplest complete agent graph combines an LLM node, a tool node, and conditional routing into a loop that continues until the agent has finished its task.</a:t>
            </a:r>
            <a:endParaRPr lang="en-US" sz="650" dirty="0"/>
          </a:p>
        </p:txBody>
      </p:sp>
      <p:pic>
        <p:nvPicPr>
          <p:cNvPr id="4" name="Image 0" descr="preencoded.png">    </p:cNvPr>
          <p:cNvPicPr>
            <a:picLocks noChangeAspect="1"/>
          </p:cNvPicPr>
          <p:nvPr/>
        </p:nvPicPr>
        <p:blipFill>
          <a:blip r:embed="rId1"/>
          <a:stretch>
            <a:fillRect/>
          </a:stretch>
        </p:blipFill>
        <p:spPr>
          <a:xfrm>
            <a:off x="749281" y="941487"/>
            <a:ext cx="10693132" cy="5256709"/>
          </a:xfrm>
          <a:prstGeom prst="rect">
            <a:avLst/>
          </a:prstGeom>
        </p:spPr>
      </p:pic>
      <p:sp>
        <p:nvSpPr>
          <p:cNvPr id="5" name="Text 2"/>
          <p:cNvSpPr/>
          <p:nvPr/>
        </p:nvSpPr>
        <p:spPr>
          <a:xfrm>
            <a:off x="5981706" y="1434302"/>
            <a:ext cx="2445432"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End</a:t>
            </a:r>
            <a:endParaRPr lang="en-US" sz="1900" dirty="0"/>
          </a:p>
        </p:txBody>
      </p:sp>
      <p:sp>
        <p:nvSpPr>
          <p:cNvPr id="6" name="Text 3"/>
          <p:cNvSpPr/>
          <p:nvPr/>
        </p:nvSpPr>
        <p:spPr>
          <a:xfrm>
            <a:off x="5981706" y="1826939"/>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Task completed</a:t>
            </a:r>
            <a:endParaRPr lang="en-US" sz="1500" dirty="0"/>
          </a:p>
        </p:txBody>
      </p:sp>
      <p:sp>
        <p:nvSpPr>
          <p:cNvPr id="7" name="Text 4"/>
          <p:cNvSpPr/>
          <p:nvPr/>
        </p:nvSpPr>
        <p:spPr>
          <a:xfrm>
            <a:off x="5981706" y="2662483"/>
            <a:ext cx="2445432"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Tool Node</a:t>
            </a:r>
            <a:endParaRPr lang="en-US" sz="1900" dirty="0"/>
          </a:p>
        </p:txBody>
      </p:sp>
      <p:sp>
        <p:nvSpPr>
          <p:cNvPr id="8" name="Text 5"/>
          <p:cNvSpPr/>
          <p:nvPr/>
        </p:nvSpPr>
        <p:spPr>
          <a:xfrm>
            <a:off x="5981706" y="3055121"/>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Run tool if required</a:t>
            </a:r>
            <a:endParaRPr lang="en-US" sz="1500" dirty="0"/>
          </a:p>
        </p:txBody>
      </p:sp>
      <p:sp>
        <p:nvSpPr>
          <p:cNvPr id="9" name="Text 6"/>
          <p:cNvSpPr/>
          <p:nvPr/>
        </p:nvSpPr>
        <p:spPr>
          <a:xfrm>
            <a:off x="5981706" y="3890664"/>
            <a:ext cx="2445432"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LLM Node</a:t>
            </a:r>
            <a:endParaRPr lang="en-US" sz="1900" dirty="0"/>
          </a:p>
        </p:txBody>
      </p:sp>
      <p:sp>
        <p:nvSpPr>
          <p:cNvPr id="10" name="Text 7"/>
          <p:cNvSpPr/>
          <p:nvPr/>
        </p:nvSpPr>
        <p:spPr>
          <a:xfrm>
            <a:off x="5981706" y="4283302"/>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Process and decide next</a:t>
            </a:r>
            <a:endParaRPr lang="en-US" sz="1500" dirty="0"/>
          </a:p>
        </p:txBody>
      </p:sp>
      <p:sp>
        <p:nvSpPr>
          <p:cNvPr id="11" name="Text 8"/>
          <p:cNvSpPr/>
          <p:nvPr/>
        </p:nvSpPr>
        <p:spPr>
          <a:xfrm>
            <a:off x="5992575" y="5118845"/>
            <a:ext cx="2445433"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Start</a:t>
            </a:r>
            <a:endParaRPr lang="en-US" sz="1900" dirty="0"/>
          </a:p>
        </p:txBody>
      </p:sp>
      <p:sp>
        <p:nvSpPr>
          <p:cNvPr id="12" name="Text 9"/>
          <p:cNvSpPr/>
          <p:nvPr/>
        </p:nvSpPr>
        <p:spPr>
          <a:xfrm>
            <a:off x="5992575" y="5511483"/>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Begin with user request</a:t>
            </a:r>
            <a:endParaRPr lang="en-US" sz="1500" dirty="0"/>
          </a:p>
        </p:txBody>
      </p:sp>
      <p:pic>
        <p:nvPicPr>
          <p:cNvPr id="1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6244630"/>
            <a:ext cx="3595399" cy="642045"/>
          </a:xfrm>
          <a:prstGeom prst="rect">
            <a:avLst/>
          </a:prstGeom>
        </p:spPr>
      </p:pic>
      <p:sp>
        <p:nvSpPr>
          <p:cNvPr id="14" name="Text 10"/>
          <p:cNvSpPr/>
          <p:nvPr/>
        </p:nvSpPr>
        <p:spPr>
          <a:xfrm>
            <a:off x="807620" y="6339979"/>
            <a:ext cx="3353907" cy="129183"/>
          </a:xfrm>
          <a:prstGeom prst="rect">
            <a:avLst/>
          </a:prstGeom>
          <a:noFill/>
          <a:ln/>
        </p:spPr>
        <p:txBody>
          <a:bodyPr wrap="none" lIns="0" tIns="0" rIns="0" bIns="0" rtlCol="0" anchor="t"/>
          <a:lstStyle/>
          <a:p>
            <a:pPr algn="l" indent="0" marL="0">
              <a:lnSpc>
                <a:spcPct val="104000"/>
              </a:lnSpc>
              <a:buNone/>
            </a:pPr>
            <a:r>
              <a:rPr lang="en-US" sz="800" dirty="0">
                <a:solidFill>
                  <a:srgbClr val="3C3939"/>
                </a:solidFill>
                <a:latin typeface="Raleway" pitchFamily="34" charset="0"/>
                <a:ea typeface="Raleway" pitchFamily="34" charset="-122"/>
                <a:cs typeface="Raleway" pitchFamily="34" charset="-120"/>
              </a:rPr>
              <a:t>START → LLM</a:t>
            </a:r>
            <a:endParaRPr lang="en-US" sz="800" dirty="0"/>
          </a:p>
        </p:txBody>
      </p:sp>
      <p:sp>
        <p:nvSpPr>
          <p:cNvPr id="15" name="Text 11"/>
          <p:cNvSpPr/>
          <p:nvPr/>
        </p:nvSpPr>
        <p:spPr>
          <a:xfrm>
            <a:off x="807620" y="6493966"/>
            <a:ext cx="3353907"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The user's initial request is placed into state. The LLM node receives the state, reasons over the request, and produces either a direct answer or a tool call.</a:t>
            </a:r>
            <a:endParaRPr lang="en-US" sz="650" dirty="0"/>
          </a:p>
        </p:txBody>
      </p:sp>
      <p:pic>
        <p:nvPicPr>
          <p:cNvPr id="1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98148" y="6244630"/>
            <a:ext cx="3595399" cy="642045"/>
          </a:xfrm>
          <a:prstGeom prst="rect">
            <a:avLst/>
          </a:prstGeom>
        </p:spPr>
      </p:pic>
      <p:sp>
        <p:nvSpPr>
          <p:cNvPr id="17" name="Text 12"/>
          <p:cNvSpPr/>
          <p:nvPr/>
        </p:nvSpPr>
        <p:spPr>
          <a:xfrm>
            <a:off x="4444294" y="6339979"/>
            <a:ext cx="3353907" cy="129183"/>
          </a:xfrm>
          <a:prstGeom prst="rect">
            <a:avLst/>
          </a:prstGeom>
          <a:noFill/>
          <a:ln/>
        </p:spPr>
        <p:txBody>
          <a:bodyPr wrap="none" lIns="0" tIns="0" rIns="0" bIns="0" rtlCol="0" anchor="t"/>
          <a:lstStyle/>
          <a:p>
            <a:pPr algn="l" indent="0" marL="0">
              <a:lnSpc>
                <a:spcPct val="104000"/>
              </a:lnSpc>
              <a:buNone/>
            </a:pPr>
            <a:r>
              <a:rPr lang="en-US" sz="800" dirty="0">
                <a:solidFill>
                  <a:srgbClr val="3C3939"/>
                </a:solidFill>
                <a:latin typeface="Raleway" pitchFamily="34" charset="0"/>
                <a:ea typeface="Raleway" pitchFamily="34" charset="-122"/>
                <a:cs typeface="Raleway" pitchFamily="34" charset="-120"/>
              </a:rPr>
              <a:t>Tool Required? → Yes → Tool → LLM</a:t>
            </a:r>
            <a:endParaRPr lang="en-US" sz="800" dirty="0"/>
          </a:p>
        </p:txBody>
      </p:sp>
      <p:sp>
        <p:nvSpPr>
          <p:cNvPr id="18" name="Text 13"/>
          <p:cNvSpPr/>
          <p:nvPr/>
        </p:nvSpPr>
        <p:spPr>
          <a:xfrm>
            <a:off x="4444294" y="6493966"/>
            <a:ext cx="3353907" cy="29735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If the LLM's response contains a tool call, the conditional edge routes to the Tool Node. The tool executes, its result is added to state, and execution returns to the LLM node for further reasoning.</a:t>
            </a:r>
            <a:endParaRPr lang="en-US" sz="650" dirty="0"/>
          </a:p>
        </p:txBody>
      </p:sp>
      <p:pic>
        <p:nvPicPr>
          <p:cNvPr id="1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34821" y="6244630"/>
            <a:ext cx="3595399" cy="642045"/>
          </a:xfrm>
          <a:prstGeom prst="rect">
            <a:avLst/>
          </a:prstGeom>
        </p:spPr>
      </p:pic>
      <p:sp>
        <p:nvSpPr>
          <p:cNvPr id="20" name="Text 14"/>
          <p:cNvSpPr/>
          <p:nvPr/>
        </p:nvSpPr>
        <p:spPr>
          <a:xfrm>
            <a:off x="8080967" y="6339979"/>
            <a:ext cx="3353907" cy="129183"/>
          </a:xfrm>
          <a:prstGeom prst="rect">
            <a:avLst/>
          </a:prstGeom>
          <a:noFill/>
          <a:ln/>
        </p:spPr>
        <p:txBody>
          <a:bodyPr wrap="none" lIns="0" tIns="0" rIns="0" bIns="0" rtlCol="0" anchor="t"/>
          <a:lstStyle/>
          <a:p>
            <a:pPr algn="l" indent="0" marL="0">
              <a:lnSpc>
                <a:spcPct val="104000"/>
              </a:lnSpc>
              <a:buNone/>
            </a:pPr>
            <a:r>
              <a:rPr lang="en-US" sz="800" dirty="0">
                <a:solidFill>
                  <a:srgbClr val="3C3939"/>
                </a:solidFill>
                <a:latin typeface="Raleway" pitchFamily="34" charset="0"/>
                <a:ea typeface="Raleway" pitchFamily="34" charset="-122"/>
                <a:cs typeface="Raleway" pitchFamily="34" charset="-120"/>
              </a:rPr>
              <a:t>Tool Required? → No → END</a:t>
            </a:r>
            <a:endParaRPr lang="en-US" sz="800" dirty="0"/>
          </a:p>
        </p:txBody>
      </p:sp>
      <p:sp>
        <p:nvSpPr>
          <p:cNvPr id="21" name="Text 15"/>
          <p:cNvSpPr/>
          <p:nvPr/>
        </p:nvSpPr>
        <p:spPr>
          <a:xfrm>
            <a:off x="8080967" y="6493966"/>
            <a:ext cx="3353907"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If the LLM's response contains no tool call, the agent has finished. The conditional edge routes to END and the final state — containing the agent's answer — is returned.</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459184"/>
            <a:ext cx="10868745" cy="492621"/>
          </a:xfrm>
          <a:prstGeom prst="rect">
            <a:avLst/>
          </a:prstGeom>
          <a:noFill/>
          <a:ln/>
        </p:spPr>
        <p:txBody>
          <a:bodyPr wrap="none" lIns="0" tIns="0" rIns="0" bIns="0" rtlCol="0" anchor="t"/>
          <a:lstStyle/>
          <a:p>
            <a:pPr algn="l" indent="0" marL="0">
              <a:lnSpc>
                <a:spcPct val="104000"/>
              </a:lnSpc>
              <a:buNone/>
            </a:pPr>
            <a:r>
              <a:rPr lang="en-US" sz="3100" dirty="0">
                <a:solidFill>
                  <a:srgbClr val="1B1B27"/>
                </a:solidFill>
                <a:latin typeface="Raleway" pitchFamily="34" charset="0"/>
                <a:ea typeface="Raleway" pitchFamily="34" charset="-122"/>
                <a:cs typeface="Raleway" pitchFamily="34" charset="-120"/>
              </a:rPr>
              <a:t>The LangGraph Agent Loop</a:t>
            </a:r>
            <a:endParaRPr lang="en-US" sz="3100" dirty="0"/>
          </a:p>
        </p:txBody>
      </p:sp>
      <p:sp>
        <p:nvSpPr>
          <p:cNvPr id="3" name="Text 1"/>
          <p:cNvSpPr/>
          <p:nvPr/>
        </p:nvSpPr>
        <p:spPr>
          <a:xfrm>
            <a:off x="661475" y="1252240"/>
            <a:ext cx="10868745"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C3939"/>
                </a:solidFill>
                <a:latin typeface="Roboto" pitchFamily="34" charset="0"/>
                <a:ea typeface="Roboto" pitchFamily="34" charset="-122"/>
                <a:cs typeface="Roboto" pitchFamily="34" charset="-120"/>
              </a:rPr>
              <a:t>The agent loop is the core execution pattern of a LangGraph agent. It describes the cycle of reasoning, acting, and evaluating that continues until the agent determines it has completed the task.</a:t>
            </a:r>
            <a:endParaRPr lang="en-US" sz="1200" dirty="0"/>
          </a:p>
        </p:txBody>
      </p:sp>
      <p:sp>
        <p:nvSpPr>
          <p:cNvPr id="4" name="Text 2"/>
          <p:cNvSpPr/>
          <p:nvPr/>
        </p:nvSpPr>
        <p:spPr>
          <a:xfrm>
            <a:off x="661475" y="1913731"/>
            <a:ext cx="315210" cy="197048"/>
          </a:xfrm>
          <a:prstGeom prst="rect">
            <a:avLst/>
          </a:prstGeom>
          <a:noFill/>
          <a:ln/>
        </p:spPr>
        <p:txBody>
          <a:bodyPr wrap="none" lIns="0" tIns="0" rIns="0" bIns="0" rtlCol="0" anchor="ctr"/>
          <a:lstStyle/>
          <a:p>
            <a:pPr algn="l" indent="0" marL="0">
              <a:lnSpc>
                <a:spcPct val="100000"/>
              </a:lnSpc>
              <a:buNone/>
            </a:pPr>
            <a:r>
              <a:rPr lang="en-US" sz="1200" dirty="0">
                <a:solidFill>
                  <a:srgbClr val="3C3939"/>
                </a:solidFill>
                <a:latin typeface="Raleway Light" pitchFamily="34" charset="0"/>
                <a:ea typeface="Raleway Light" pitchFamily="34" charset="-122"/>
                <a:cs typeface="Raleway Light" pitchFamily="34" charset="-120"/>
              </a:rPr>
              <a:t>01</a:t>
            </a:r>
            <a:endParaRPr lang="en-US" sz="1200" dirty="0"/>
          </a:p>
        </p:txBody>
      </p:sp>
      <p:sp>
        <p:nvSpPr>
          <p:cNvPr id="5" name="Shape 3"/>
          <p:cNvSpPr/>
          <p:nvPr/>
        </p:nvSpPr>
        <p:spPr>
          <a:xfrm>
            <a:off x="661475" y="2162572"/>
            <a:ext cx="5359266" cy="19050"/>
          </a:xfrm>
          <a:prstGeom prst="rect">
            <a:avLst/>
          </a:prstGeom>
          <a:solidFill>
            <a:srgbClr val="1B1B27"/>
          </a:solidFill>
          <a:ln/>
        </p:spPr>
      </p:sp>
      <p:sp>
        <p:nvSpPr>
          <p:cNvPr id="6" name="Text 4"/>
          <p:cNvSpPr/>
          <p:nvPr/>
        </p:nvSpPr>
        <p:spPr>
          <a:xfrm>
            <a:off x="661475" y="2279452"/>
            <a:ext cx="5359266" cy="246261"/>
          </a:xfrm>
          <a:prstGeom prst="rect">
            <a:avLst/>
          </a:prstGeom>
          <a:noFill/>
          <a:ln/>
        </p:spPr>
        <p:txBody>
          <a:bodyPr wrap="none" lIns="0" tIns="0" rIns="0" bIns="0" rtlCol="0" anchor="t"/>
          <a:lstStyle/>
          <a:p>
            <a:pPr algn="l" indent="0" marL="0">
              <a:lnSpc>
                <a:spcPct val="104000"/>
              </a:lnSpc>
              <a:buNone/>
            </a:pPr>
            <a:r>
              <a:rPr lang="en-US" sz="1550" dirty="0">
                <a:solidFill>
                  <a:srgbClr val="3C3939"/>
                </a:solidFill>
                <a:latin typeface="Raleway" pitchFamily="34" charset="0"/>
                <a:ea typeface="Raleway" pitchFamily="34" charset="-122"/>
                <a:cs typeface="Raleway" pitchFamily="34" charset="-120"/>
              </a:rPr>
              <a:t>User Request</a:t>
            </a:r>
            <a:endParaRPr lang="en-US" sz="1550" dirty="0"/>
          </a:p>
        </p:txBody>
      </p:sp>
      <p:sp>
        <p:nvSpPr>
          <p:cNvPr id="7" name="Text 5"/>
          <p:cNvSpPr/>
          <p:nvPr/>
        </p:nvSpPr>
        <p:spPr>
          <a:xfrm>
            <a:off x="661475" y="2615803"/>
            <a:ext cx="5359266"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C3939"/>
                </a:solidFill>
                <a:latin typeface="Roboto" pitchFamily="34" charset="0"/>
                <a:ea typeface="Roboto" pitchFamily="34" charset="-122"/>
                <a:cs typeface="Roboto" pitchFamily="34" charset="-120"/>
              </a:rPr>
              <a:t>The user's input is placed into the initial state as a human message. The graph is invoked with this state.</a:t>
            </a:r>
            <a:endParaRPr lang="en-US" sz="1200" dirty="0"/>
          </a:p>
        </p:txBody>
      </p:sp>
      <p:sp>
        <p:nvSpPr>
          <p:cNvPr id="8" name="Text 6"/>
          <p:cNvSpPr/>
          <p:nvPr/>
        </p:nvSpPr>
        <p:spPr>
          <a:xfrm>
            <a:off x="6170954" y="1913731"/>
            <a:ext cx="315210" cy="197048"/>
          </a:xfrm>
          <a:prstGeom prst="rect">
            <a:avLst/>
          </a:prstGeom>
          <a:noFill/>
          <a:ln/>
        </p:spPr>
        <p:txBody>
          <a:bodyPr wrap="none" lIns="0" tIns="0" rIns="0" bIns="0" rtlCol="0" anchor="ctr"/>
          <a:lstStyle/>
          <a:p>
            <a:pPr algn="l" indent="0" marL="0">
              <a:lnSpc>
                <a:spcPct val="100000"/>
              </a:lnSpc>
              <a:buNone/>
            </a:pPr>
            <a:r>
              <a:rPr lang="en-US" sz="1200" dirty="0">
                <a:solidFill>
                  <a:srgbClr val="3C3939"/>
                </a:solidFill>
                <a:latin typeface="Raleway Light" pitchFamily="34" charset="0"/>
                <a:ea typeface="Raleway Light" pitchFamily="34" charset="-122"/>
                <a:cs typeface="Raleway Light" pitchFamily="34" charset="-120"/>
              </a:rPr>
              <a:t>02</a:t>
            </a:r>
            <a:endParaRPr lang="en-US" sz="1200" dirty="0"/>
          </a:p>
        </p:txBody>
      </p:sp>
      <p:sp>
        <p:nvSpPr>
          <p:cNvPr id="9" name="Shape 7"/>
          <p:cNvSpPr/>
          <p:nvPr/>
        </p:nvSpPr>
        <p:spPr>
          <a:xfrm>
            <a:off x="6170954" y="2162572"/>
            <a:ext cx="5359266" cy="19050"/>
          </a:xfrm>
          <a:prstGeom prst="rect">
            <a:avLst/>
          </a:prstGeom>
          <a:solidFill>
            <a:srgbClr val="1B1B27"/>
          </a:solidFill>
          <a:ln/>
        </p:spPr>
      </p:sp>
      <p:sp>
        <p:nvSpPr>
          <p:cNvPr id="10" name="Text 8"/>
          <p:cNvSpPr/>
          <p:nvPr/>
        </p:nvSpPr>
        <p:spPr>
          <a:xfrm>
            <a:off x="6170954" y="2279452"/>
            <a:ext cx="5359266" cy="246261"/>
          </a:xfrm>
          <a:prstGeom prst="rect">
            <a:avLst/>
          </a:prstGeom>
          <a:noFill/>
          <a:ln/>
        </p:spPr>
        <p:txBody>
          <a:bodyPr wrap="none" lIns="0" tIns="0" rIns="0" bIns="0" rtlCol="0" anchor="t"/>
          <a:lstStyle/>
          <a:p>
            <a:pPr algn="l" indent="0" marL="0">
              <a:lnSpc>
                <a:spcPct val="104000"/>
              </a:lnSpc>
              <a:buNone/>
            </a:pPr>
            <a:r>
              <a:rPr lang="en-US" sz="1550" dirty="0">
                <a:solidFill>
                  <a:srgbClr val="3C3939"/>
                </a:solidFill>
                <a:latin typeface="Raleway" pitchFamily="34" charset="0"/>
                <a:ea typeface="Raleway" pitchFamily="34" charset="-122"/>
                <a:cs typeface="Raleway" pitchFamily="34" charset="-120"/>
              </a:rPr>
              <a:t>LLM Decides What to Do</a:t>
            </a:r>
            <a:endParaRPr lang="en-US" sz="1550" dirty="0"/>
          </a:p>
        </p:txBody>
      </p:sp>
      <p:sp>
        <p:nvSpPr>
          <p:cNvPr id="11" name="Text 9"/>
          <p:cNvSpPr/>
          <p:nvPr/>
        </p:nvSpPr>
        <p:spPr>
          <a:xfrm>
            <a:off x="6170954" y="2615803"/>
            <a:ext cx="5359266" cy="738783"/>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C3939"/>
                </a:solidFill>
                <a:latin typeface="Roboto" pitchFamily="34" charset="0"/>
                <a:ea typeface="Roboto" pitchFamily="34" charset="-122"/>
                <a:cs typeface="Roboto" pitchFamily="34" charset="-120"/>
              </a:rPr>
              <a:t>The LLM node receives the current message history and reasons over it. It either generates a direct response or identifies that a tool is needed and produces a tool call.</a:t>
            </a:r>
            <a:endParaRPr lang="en-US" sz="1200" dirty="0"/>
          </a:p>
        </p:txBody>
      </p:sp>
      <p:sp>
        <p:nvSpPr>
          <p:cNvPr id="12" name="Text 10"/>
          <p:cNvSpPr/>
          <p:nvPr/>
        </p:nvSpPr>
        <p:spPr>
          <a:xfrm>
            <a:off x="661475" y="3622973"/>
            <a:ext cx="315210" cy="197048"/>
          </a:xfrm>
          <a:prstGeom prst="rect">
            <a:avLst/>
          </a:prstGeom>
          <a:noFill/>
          <a:ln/>
        </p:spPr>
        <p:txBody>
          <a:bodyPr wrap="none" lIns="0" tIns="0" rIns="0" bIns="0" rtlCol="0" anchor="ctr"/>
          <a:lstStyle/>
          <a:p>
            <a:pPr algn="l" indent="0" marL="0">
              <a:lnSpc>
                <a:spcPct val="100000"/>
              </a:lnSpc>
              <a:buNone/>
            </a:pPr>
            <a:r>
              <a:rPr lang="en-US" sz="1200" dirty="0">
                <a:solidFill>
                  <a:srgbClr val="3C3939"/>
                </a:solidFill>
                <a:latin typeface="Raleway Light" pitchFamily="34" charset="0"/>
                <a:ea typeface="Raleway Light" pitchFamily="34" charset="-122"/>
                <a:cs typeface="Raleway Light" pitchFamily="34" charset="-120"/>
              </a:rPr>
              <a:t>03</a:t>
            </a:r>
            <a:endParaRPr lang="en-US" sz="1200" dirty="0"/>
          </a:p>
        </p:txBody>
      </p:sp>
      <p:sp>
        <p:nvSpPr>
          <p:cNvPr id="13" name="Shape 11"/>
          <p:cNvSpPr/>
          <p:nvPr/>
        </p:nvSpPr>
        <p:spPr>
          <a:xfrm>
            <a:off x="661475" y="3871813"/>
            <a:ext cx="5359266" cy="19050"/>
          </a:xfrm>
          <a:prstGeom prst="rect">
            <a:avLst/>
          </a:prstGeom>
          <a:solidFill>
            <a:srgbClr val="1B1B27"/>
          </a:solidFill>
          <a:ln/>
        </p:spPr>
      </p:sp>
      <p:sp>
        <p:nvSpPr>
          <p:cNvPr id="14" name="Text 12"/>
          <p:cNvSpPr/>
          <p:nvPr/>
        </p:nvSpPr>
        <p:spPr>
          <a:xfrm>
            <a:off x="661475" y="3988693"/>
            <a:ext cx="5359266" cy="246261"/>
          </a:xfrm>
          <a:prstGeom prst="rect">
            <a:avLst/>
          </a:prstGeom>
          <a:noFill/>
          <a:ln/>
        </p:spPr>
        <p:txBody>
          <a:bodyPr wrap="none" lIns="0" tIns="0" rIns="0" bIns="0" rtlCol="0" anchor="t"/>
          <a:lstStyle/>
          <a:p>
            <a:pPr algn="l" indent="0" marL="0">
              <a:lnSpc>
                <a:spcPct val="104000"/>
              </a:lnSpc>
              <a:buNone/>
            </a:pPr>
            <a:r>
              <a:rPr lang="en-US" sz="1550" dirty="0">
                <a:solidFill>
                  <a:srgbClr val="3C3939"/>
                </a:solidFill>
                <a:latin typeface="Raleway" pitchFamily="34" charset="0"/>
                <a:ea typeface="Raleway" pitchFamily="34" charset="-122"/>
                <a:cs typeface="Raleway" pitchFamily="34" charset="-120"/>
              </a:rPr>
              <a:t>Tool is Called if Required</a:t>
            </a:r>
            <a:endParaRPr lang="en-US" sz="1550" dirty="0"/>
          </a:p>
        </p:txBody>
      </p:sp>
      <p:sp>
        <p:nvSpPr>
          <p:cNvPr id="15" name="Text 13"/>
          <p:cNvSpPr/>
          <p:nvPr/>
        </p:nvSpPr>
        <p:spPr>
          <a:xfrm>
            <a:off x="661475" y="4325045"/>
            <a:ext cx="5359266"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C3939"/>
                </a:solidFill>
                <a:latin typeface="Roboto" pitchFamily="34" charset="0"/>
                <a:ea typeface="Roboto" pitchFamily="34" charset="-122"/>
                <a:cs typeface="Roboto" pitchFamily="34" charset="-120"/>
              </a:rPr>
              <a:t>If the LLM produced a tool call, the conditional edge routes to the Tool Node. The tool executes the requested operation.</a:t>
            </a:r>
            <a:endParaRPr lang="en-US" sz="1200" dirty="0"/>
          </a:p>
        </p:txBody>
      </p:sp>
      <p:sp>
        <p:nvSpPr>
          <p:cNvPr id="16" name="Text 14"/>
          <p:cNvSpPr/>
          <p:nvPr/>
        </p:nvSpPr>
        <p:spPr>
          <a:xfrm>
            <a:off x="6170954" y="3622973"/>
            <a:ext cx="315210" cy="197048"/>
          </a:xfrm>
          <a:prstGeom prst="rect">
            <a:avLst/>
          </a:prstGeom>
          <a:noFill/>
          <a:ln/>
        </p:spPr>
        <p:txBody>
          <a:bodyPr wrap="none" lIns="0" tIns="0" rIns="0" bIns="0" rtlCol="0" anchor="ctr"/>
          <a:lstStyle/>
          <a:p>
            <a:pPr algn="l" indent="0" marL="0">
              <a:lnSpc>
                <a:spcPct val="100000"/>
              </a:lnSpc>
              <a:buNone/>
            </a:pPr>
            <a:r>
              <a:rPr lang="en-US" sz="1200" dirty="0">
                <a:solidFill>
                  <a:srgbClr val="3C3939"/>
                </a:solidFill>
                <a:latin typeface="Raleway Light" pitchFamily="34" charset="0"/>
                <a:ea typeface="Raleway Light" pitchFamily="34" charset="-122"/>
                <a:cs typeface="Raleway Light" pitchFamily="34" charset="-120"/>
              </a:rPr>
              <a:t>04</a:t>
            </a:r>
            <a:endParaRPr lang="en-US" sz="1200" dirty="0"/>
          </a:p>
        </p:txBody>
      </p:sp>
      <p:sp>
        <p:nvSpPr>
          <p:cNvPr id="17" name="Shape 15"/>
          <p:cNvSpPr/>
          <p:nvPr/>
        </p:nvSpPr>
        <p:spPr>
          <a:xfrm>
            <a:off x="6170954" y="3871813"/>
            <a:ext cx="5359266" cy="19050"/>
          </a:xfrm>
          <a:prstGeom prst="rect">
            <a:avLst/>
          </a:prstGeom>
          <a:solidFill>
            <a:srgbClr val="1B1B27"/>
          </a:solidFill>
          <a:ln/>
        </p:spPr>
      </p:sp>
      <p:sp>
        <p:nvSpPr>
          <p:cNvPr id="18" name="Text 16"/>
          <p:cNvSpPr/>
          <p:nvPr/>
        </p:nvSpPr>
        <p:spPr>
          <a:xfrm>
            <a:off x="6170954" y="3988693"/>
            <a:ext cx="5359266" cy="246261"/>
          </a:xfrm>
          <a:prstGeom prst="rect">
            <a:avLst/>
          </a:prstGeom>
          <a:noFill/>
          <a:ln/>
        </p:spPr>
        <p:txBody>
          <a:bodyPr wrap="none" lIns="0" tIns="0" rIns="0" bIns="0" rtlCol="0" anchor="t"/>
          <a:lstStyle/>
          <a:p>
            <a:pPr algn="l" indent="0" marL="0">
              <a:lnSpc>
                <a:spcPct val="104000"/>
              </a:lnSpc>
              <a:buNone/>
            </a:pPr>
            <a:r>
              <a:rPr lang="en-US" sz="1550" dirty="0">
                <a:solidFill>
                  <a:srgbClr val="3C3939"/>
                </a:solidFill>
                <a:latin typeface="Raleway" pitchFamily="34" charset="0"/>
                <a:ea typeface="Raleway" pitchFamily="34" charset="-122"/>
                <a:cs typeface="Raleway" pitchFamily="34" charset="-120"/>
              </a:rPr>
              <a:t>Tool Result Added to State</a:t>
            </a:r>
            <a:endParaRPr lang="en-US" sz="1550" dirty="0"/>
          </a:p>
        </p:txBody>
      </p:sp>
      <p:sp>
        <p:nvSpPr>
          <p:cNvPr id="19" name="Text 17"/>
          <p:cNvSpPr/>
          <p:nvPr/>
        </p:nvSpPr>
        <p:spPr>
          <a:xfrm>
            <a:off x="6170954" y="4325045"/>
            <a:ext cx="5359266"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C3939"/>
                </a:solidFill>
                <a:latin typeface="Roboto" pitchFamily="34" charset="0"/>
                <a:ea typeface="Roboto" pitchFamily="34" charset="-122"/>
                <a:cs typeface="Roboto" pitchFamily="34" charset="-120"/>
              </a:rPr>
              <a:t>The tool's output is added to state as a tool message, extending the message history with the new information.</a:t>
            </a:r>
            <a:endParaRPr lang="en-US" sz="1200" dirty="0"/>
          </a:p>
        </p:txBody>
      </p:sp>
      <p:sp>
        <p:nvSpPr>
          <p:cNvPr id="20" name="Text 18"/>
          <p:cNvSpPr/>
          <p:nvPr/>
        </p:nvSpPr>
        <p:spPr>
          <a:xfrm>
            <a:off x="661475" y="5085953"/>
            <a:ext cx="315210" cy="197048"/>
          </a:xfrm>
          <a:prstGeom prst="rect">
            <a:avLst/>
          </a:prstGeom>
          <a:noFill/>
          <a:ln/>
        </p:spPr>
        <p:txBody>
          <a:bodyPr wrap="none" lIns="0" tIns="0" rIns="0" bIns="0" rtlCol="0" anchor="ctr"/>
          <a:lstStyle/>
          <a:p>
            <a:pPr algn="l" indent="0" marL="0">
              <a:lnSpc>
                <a:spcPct val="100000"/>
              </a:lnSpc>
              <a:buNone/>
            </a:pPr>
            <a:r>
              <a:rPr lang="en-US" sz="1200" dirty="0">
                <a:solidFill>
                  <a:srgbClr val="3C3939"/>
                </a:solidFill>
                <a:latin typeface="Raleway Light" pitchFamily="34" charset="0"/>
                <a:ea typeface="Raleway Light" pitchFamily="34" charset="-122"/>
                <a:cs typeface="Raleway Light" pitchFamily="34" charset="-120"/>
              </a:rPr>
              <a:t>05</a:t>
            </a:r>
            <a:endParaRPr lang="en-US" sz="1200" dirty="0"/>
          </a:p>
        </p:txBody>
      </p:sp>
      <p:sp>
        <p:nvSpPr>
          <p:cNvPr id="21" name="Shape 19"/>
          <p:cNvSpPr/>
          <p:nvPr/>
        </p:nvSpPr>
        <p:spPr>
          <a:xfrm>
            <a:off x="661475" y="5334794"/>
            <a:ext cx="5359266" cy="19050"/>
          </a:xfrm>
          <a:prstGeom prst="rect">
            <a:avLst/>
          </a:prstGeom>
          <a:solidFill>
            <a:srgbClr val="1B1B27"/>
          </a:solidFill>
          <a:ln/>
        </p:spPr>
      </p:sp>
      <p:sp>
        <p:nvSpPr>
          <p:cNvPr id="22" name="Text 20"/>
          <p:cNvSpPr/>
          <p:nvPr/>
        </p:nvSpPr>
        <p:spPr>
          <a:xfrm>
            <a:off x="661475" y="5451673"/>
            <a:ext cx="5359266" cy="246261"/>
          </a:xfrm>
          <a:prstGeom prst="rect">
            <a:avLst/>
          </a:prstGeom>
          <a:noFill/>
          <a:ln/>
        </p:spPr>
        <p:txBody>
          <a:bodyPr wrap="none" lIns="0" tIns="0" rIns="0" bIns="0" rtlCol="0" anchor="t"/>
          <a:lstStyle/>
          <a:p>
            <a:pPr algn="l" indent="0" marL="0">
              <a:lnSpc>
                <a:spcPct val="104000"/>
              </a:lnSpc>
              <a:buNone/>
            </a:pPr>
            <a:r>
              <a:rPr lang="en-US" sz="1550" dirty="0">
                <a:solidFill>
                  <a:srgbClr val="3C3939"/>
                </a:solidFill>
                <a:latin typeface="Raleway" pitchFamily="34" charset="0"/>
                <a:ea typeface="Raleway" pitchFamily="34" charset="-122"/>
                <a:cs typeface="Raleway" pitchFamily="34" charset="-120"/>
              </a:rPr>
              <a:t>LLM Evaluates the Result</a:t>
            </a:r>
            <a:endParaRPr lang="en-US" sz="1550" dirty="0"/>
          </a:p>
        </p:txBody>
      </p:sp>
      <p:sp>
        <p:nvSpPr>
          <p:cNvPr id="23" name="Text 21"/>
          <p:cNvSpPr/>
          <p:nvPr/>
        </p:nvSpPr>
        <p:spPr>
          <a:xfrm>
            <a:off x="661475" y="5788025"/>
            <a:ext cx="5359266"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C3939"/>
                </a:solidFill>
                <a:latin typeface="Roboto" pitchFamily="34" charset="0"/>
                <a:ea typeface="Roboto" pitchFamily="34" charset="-122"/>
                <a:cs typeface="Roboto" pitchFamily="34" charset="-120"/>
              </a:rPr>
              <a:t>Execution returns to the LLM node. The model now has access to the tool result and can reason over it to determine the next action.</a:t>
            </a:r>
            <a:endParaRPr lang="en-US" sz="1200" dirty="0"/>
          </a:p>
        </p:txBody>
      </p:sp>
      <p:sp>
        <p:nvSpPr>
          <p:cNvPr id="24" name="Text 22"/>
          <p:cNvSpPr/>
          <p:nvPr/>
        </p:nvSpPr>
        <p:spPr>
          <a:xfrm>
            <a:off x="6170954" y="5085953"/>
            <a:ext cx="315210" cy="197048"/>
          </a:xfrm>
          <a:prstGeom prst="rect">
            <a:avLst/>
          </a:prstGeom>
          <a:noFill/>
          <a:ln/>
        </p:spPr>
        <p:txBody>
          <a:bodyPr wrap="none" lIns="0" tIns="0" rIns="0" bIns="0" rtlCol="0" anchor="ctr"/>
          <a:lstStyle/>
          <a:p>
            <a:pPr algn="l" indent="0" marL="0">
              <a:lnSpc>
                <a:spcPct val="100000"/>
              </a:lnSpc>
              <a:buNone/>
            </a:pPr>
            <a:r>
              <a:rPr lang="en-US" sz="1200" dirty="0">
                <a:solidFill>
                  <a:srgbClr val="3C3939"/>
                </a:solidFill>
                <a:latin typeface="Raleway Light" pitchFamily="34" charset="0"/>
                <a:ea typeface="Raleway Light" pitchFamily="34" charset="-122"/>
                <a:cs typeface="Raleway Light" pitchFamily="34" charset="-120"/>
              </a:rPr>
              <a:t>06</a:t>
            </a:r>
            <a:endParaRPr lang="en-US" sz="1200" dirty="0"/>
          </a:p>
        </p:txBody>
      </p:sp>
      <p:sp>
        <p:nvSpPr>
          <p:cNvPr id="25" name="Shape 23"/>
          <p:cNvSpPr/>
          <p:nvPr/>
        </p:nvSpPr>
        <p:spPr>
          <a:xfrm>
            <a:off x="6170954" y="5334794"/>
            <a:ext cx="5359266" cy="19050"/>
          </a:xfrm>
          <a:prstGeom prst="rect">
            <a:avLst/>
          </a:prstGeom>
          <a:solidFill>
            <a:srgbClr val="1B1B27"/>
          </a:solidFill>
          <a:ln/>
        </p:spPr>
      </p:sp>
      <p:sp>
        <p:nvSpPr>
          <p:cNvPr id="26" name="Text 24"/>
          <p:cNvSpPr/>
          <p:nvPr/>
        </p:nvSpPr>
        <p:spPr>
          <a:xfrm>
            <a:off x="6170954" y="5451673"/>
            <a:ext cx="5359266" cy="246261"/>
          </a:xfrm>
          <a:prstGeom prst="rect">
            <a:avLst/>
          </a:prstGeom>
          <a:noFill/>
          <a:ln/>
        </p:spPr>
        <p:txBody>
          <a:bodyPr wrap="none" lIns="0" tIns="0" rIns="0" bIns="0" rtlCol="0" anchor="t"/>
          <a:lstStyle/>
          <a:p>
            <a:pPr algn="l" indent="0" marL="0">
              <a:lnSpc>
                <a:spcPct val="104000"/>
              </a:lnSpc>
              <a:buNone/>
            </a:pPr>
            <a:r>
              <a:rPr lang="en-US" sz="1550" dirty="0">
                <a:solidFill>
                  <a:srgbClr val="3C3939"/>
                </a:solidFill>
                <a:latin typeface="Raleway" pitchFamily="34" charset="0"/>
                <a:ea typeface="Raleway" pitchFamily="34" charset="-122"/>
                <a:cs typeface="Raleway" pitchFamily="34" charset="-120"/>
              </a:rPr>
              <a:t>Agent Calls Another Tool or Finishes</a:t>
            </a:r>
            <a:endParaRPr lang="en-US" sz="1550" dirty="0"/>
          </a:p>
        </p:txBody>
      </p:sp>
      <p:sp>
        <p:nvSpPr>
          <p:cNvPr id="27" name="Text 25"/>
          <p:cNvSpPr/>
          <p:nvPr/>
        </p:nvSpPr>
        <p:spPr>
          <a:xfrm>
            <a:off x="6170954" y="5788025"/>
            <a:ext cx="5359266"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C3939"/>
                </a:solidFill>
                <a:latin typeface="Roboto" pitchFamily="34" charset="0"/>
                <a:ea typeface="Roboto" pitchFamily="34" charset="-122"/>
                <a:cs typeface="Roboto" pitchFamily="34" charset="-120"/>
              </a:rPr>
              <a:t>The LLM either calls another tool (repeating the loop) or produces a final answer with no tool call, causing the conditional edge to route to END.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1145679"/>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Messages as State</a:t>
            </a:r>
            <a:endParaRPr lang="en-US" sz="3250" dirty="0"/>
          </a:p>
        </p:txBody>
      </p:sp>
      <p:sp>
        <p:nvSpPr>
          <p:cNvPr id="3" name="Text 1"/>
          <p:cNvSpPr/>
          <p:nvPr/>
        </p:nvSpPr>
        <p:spPr>
          <a:xfrm>
            <a:off x="661475" y="1993106"/>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In conversational agents, the state is most naturally represented as a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list of messages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This message list captures the full interaction history and is the primary input to the LLM at each step of the loop.</a:t>
            </a:r>
            <a:endParaRPr lang="en-US" sz="1300" dirty="0"/>
          </a:p>
        </p:txBody>
      </p:sp>
      <p:sp>
        <p:nvSpPr>
          <p:cNvPr id="4" name="Shape 2"/>
          <p:cNvSpPr/>
          <p:nvPr/>
        </p:nvSpPr>
        <p:spPr>
          <a:xfrm>
            <a:off x="661475" y="2708374"/>
            <a:ext cx="3512653" cy="2024063"/>
          </a:xfrm>
          <a:prstGeom prst="roundRect">
            <a:avLst>
              <a:gd name="adj" fmla="val 3432"/>
            </a:avLst>
          </a:prstGeom>
          <a:solidFill>
            <a:srgbClr val="E1E1EA"/>
          </a:solidFill>
          <a:ln w="6350">
            <a:solidFill>
              <a:srgbClr val="C7C7D0"/>
            </a:solidFill>
            <a:prstDash val="solid"/>
          </a:ln>
        </p:spPr>
      </p:sp>
      <p:sp>
        <p:nvSpPr>
          <p:cNvPr id="5" name="Text 3"/>
          <p:cNvSpPr/>
          <p:nvPr/>
        </p:nvSpPr>
        <p:spPr>
          <a:xfrm>
            <a:off x="833119" y="2880023"/>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Human Messages</a:t>
            </a:r>
            <a:endParaRPr lang="en-US" sz="1600" dirty="0"/>
          </a:p>
        </p:txBody>
      </p:sp>
      <p:sp>
        <p:nvSpPr>
          <p:cNvPr id="6" name="Text 4"/>
          <p:cNvSpPr/>
          <p:nvPr/>
        </p:nvSpPr>
        <p:spPr>
          <a:xfrm>
            <a:off x="833119" y="3237706"/>
            <a:ext cx="3169364"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Messages originating from the user. The initial human message contains the user's request. In multi-turn conversations, subsequent human messages continue the dialogue.</a:t>
            </a:r>
            <a:endParaRPr lang="en-US" sz="1300" dirty="0"/>
          </a:p>
        </p:txBody>
      </p:sp>
      <p:sp>
        <p:nvSpPr>
          <p:cNvPr id="7" name="Shape 5"/>
          <p:cNvSpPr/>
          <p:nvPr/>
        </p:nvSpPr>
        <p:spPr>
          <a:xfrm>
            <a:off x="4339422" y="2708374"/>
            <a:ext cx="3512752" cy="2024063"/>
          </a:xfrm>
          <a:prstGeom prst="roundRect">
            <a:avLst>
              <a:gd name="adj" fmla="val 3432"/>
            </a:avLst>
          </a:prstGeom>
          <a:solidFill>
            <a:srgbClr val="E1E1EA"/>
          </a:solidFill>
          <a:ln w="6350">
            <a:solidFill>
              <a:srgbClr val="C7C7D0"/>
            </a:solidFill>
            <a:prstDash val="solid"/>
          </a:ln>
        </p:spPr>
      </p:sp>
      <p:sp>
        <p:nvSpPr>
          <p:cNvPr id="8" name="Text 6"/>
          <p:cNvSpPr/>
          <p:nvPr/>
        </p:nvSpPr>
        <p:spPr>
          <a:xfrm>
            <a:off x="4511066" y="2880023"/>
            <a:ext cx="316946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AI Messages</a:t>
            </a:r>
            <a:endParaRPr lang="en-US" sz="1600" dirty="0"/>
          </a:p>
        </p:txBody>
      </p:sp>
      <p:sp>
        <p:nvSpPr>
          <p:cNvPr id="9" name="Text 7"/>
          <p:cNvSpPr/>
          <p:nvPr/>
        </p:nvSpPr>
        <p:spPr>
          <a:xfrm>
            <a:off x="4511066" y="3237706"/>
            <a:ext cx="3169464"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Messages produced by the language model. An AI message may contain a direct text response, a tool call request, or both. Tool call requests are structured objects embedded in the AI message.</a:t>
            </a:r>
            <a:endParaRPr lang="en-US" sz="1300" dirty="0"/>
          </a:p>
        </p:txBody>
      </p:sp>
      <p:sp>
        <p:nvSpPr>
          <p:cNvPr id="10" name="Shape 8"/>
          <p:cNvSpPr/>
          <p:nvPr/>
        </p:nvSpPr>
        <p:spPr>
          <a:xfrm>
            <a:off x="8017468" y="2708374"/>
            <a:ext cx="3512653" cy="2024063"/>
          </a:xfrm>
          <a:prstGeom prst="roundRect">
            <a:avLst>
              <a:gd name="adj" fmla="val 3432"/>
            </a:avLst>
          </a:prstGeom>
          <a:solidFill>
            <a:srgbClr val="E1E1EA"/>
          </a:solidFill>
          <a:ln w="6350">
            <a:solidFill>
              <a:srgbClr val="C7C7D0"/>
            </a:solidFill>
            <a:prstDash val="solid"/>
          </a:ln>
        </p:spPr>
      </p:sp>
      <p:sp>
        <p:nvSpPr>
          <p:cNvPr id="11" name="Text 9"/>
          <p:cNvSpPr/>
          <p:nvPr/>
        </p:nvSpPr>
        <p:spPr>
          <a:xfrm>
            <a:off x="8189112" y="2880023"/>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Tool Messages</a:t>
            </a:r>
            <a:endParaRPr lang="en-US" sz="1600" dirty="0"/>
          </a:p>
        </p:txBody>
      </p:sp>
      <p:sp>
        <p:nvSpPr>
          <p:cNvPr id="12" name="Text 10"/>
          <p:cNvSpPr/>
          <p:nvPr/>
        </p:nvSpPr>
        <p:spPr>
          <a:xfrm>
            <a:off x="8189112" y="3237706"/>
            <a:ext cx="3169364"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Messages that carry the result of a tool execution. Each tool message is associated with a specific tool call ID, allowing the LLM to match results to the requests it made.</a:t>
            </a:r>
            <a:endParaRPr lang="en-US" sz="1300" dirty="0"/>
          </a:p>
        </p:txBody>
      </p:sp>
      <p:sp>
        <p:nvSpPr>
          <p:cNvPr id="13" name="Text 11"/>
          <p:cNvSpPr/>
          <p:nvPr/>
        </p:nvSpPr>
        <p:spPr>
          <a:xfrm>
            <a:off x="661475" y="4918472"/>
            <a:ext cx="1086874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message list grows with each step of the agent loop. By passing the full message history to the LLM at each node, the model has complete context — it knows what the user asked, what tools it called, and what those tools returned. This is how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messages preserve the interaction history</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within the graph.</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506909"/>
            <a:ext cx="10868745" cy="347266"/>
          </a:xfrm>
          <a:prstGeom prst="rect">
            <a:avLst/>
          </a:prstGeom>
          <a:noFill/>
          <a:ln/>
        </p:spPr>
        <p:txBody>
          <a:bodyPr wrap="none" lIns="0" tIns="0" rIns="0" bIns="0" rtlCol="0" anchor="t"/>
          <a:lstStyle/>
          <a:p>
            <a:pPr algn="l" indent="0" marL="0">
              <a:lnSpc>
                <a:spcPct val="104000"/>
              </a:lnSpc>
              <a:buNone/>
            </a:pPr>
            <a:r>
              <a:rPr lang="en-US" sz="2150" dirty="0">
                <a:solidFill>
                  <a:srgbClr val="1B1B27"/>
                </a:solidFill>
                <a:latin typeface="Raleway" pitchFamily="34" charset="0"/>
                <a:ea typeface="Raleway" pitchFamily="34" charset="-122"/>
                <a:cs typeface="Raleway" pitchFamily="34" charset="-120"/>
              </a:rPr>
              <a:t>Building a Basic LangGraph</a:t>
            </a:r>
            <a:endParaRPr lang="en-US" sz="2150" dirty="0"/>
          </a:p>
        </p:txBody>
      </p:sp>
      <p:sp>
        <p:nvSpPr>
          <p:cNvPr id="3" name="Text 1"/>
          <p:cNvSpPr/>
          <p:nvPr/>
        </p:nvSpPr>
        <p:spPr>
          <a:xfrm>
            <a:off x="661475" y="1003498"/>
            <a:ext cx="11478330" cy="148630"/>
          </a:xfrm>
          <a:prstGeom prst="rect">
            <a:avLst/>
          </a:prstGeom>
          <a:noFill/>
          <a:ln/>
        </p:spPr>
        <p:txBody>
          <a:bodyPr wrap="none" lIns="0" tIns="0" rIns="0" bIns="0" rtlCol="0" anchor="t"/>
          <a:lstStyle/>
          <a:p>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Constructing a LangGraph application follows a consistent seven-step process. Each step builds on the previous, moving from abstract design to a running, testable agent.</a:t>
            </a:r>
            <a:endParaRPr lang="en-US" sz="850" dirty="0"/>
          </a:p>
        </p:txBody>
      </p:sp>
      <p:sp>
        <p:nvSpPr>
          <p:cNvPr id="4" name="Shape 2"/>
          <p:cNvSpPr/>
          <p:nvPr/>
        </p:nvSpPr>
        <p:spPr>
          <a:xfrm>
            <a:off x="772597" y="1402755"/>
            <a:ext cx="111122" cy="500063"/>
          </a:xfrm>
          <a:prstGeom prst="roundRect">
            <a:avLst>
              <a:gd name="adj" fmla="val 42000"/>
            </a:avLst>
          </a:prstGeom>
          <a:solidFill>
            <a:srgbClr val="E1E1EA"/>
          </a:solidFill>
          <a:ln w="6350">
            <a:solidFill>
              <a:srgbClr val="C7C7D0"/>
            </a:solidFill>
            <a:prstDash val="solid"/>
          </a:ln>
        </p:spPr>
      </p:sp>
      <p:sp>
        <p:nvSpPr>
          <p:cNvPr id="5" name="Text 3"/>
          <p:cNvSpPr/>
          <p:nvPr/>
        </p:nvSpPr>
        <p:spPr>
          <a:xfrm>
            <a:off x="1069452" y="1347192"/>
            <a:ext cx="10460768" cy="173633"/>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1. Define State</a:t>
            </a:r>
            <a:endParaRPr lang="en-US" sz="1050" dirty="0"/>
          </a:p>
        </p:txBody>
      </p:sp>
      <p:sp>
        <p:nvSpPr>
          <p:cNvPr id="6" name="Text 4"/>
          <p:cNvSpPr/>
          <p:nvPr/>
        </p:nvSpPr>
        <p:spPr>
          <a:xfrm>
            <a:off x="1069452" y="1565573"/>
            <a:ext cx="10460768" cy="154980"/>
          </a:xfrm>
          <a:prstGeom prst="rect">
            <a:avLst/>
          </a:prstGeom>
          <a:noFill/>
          <a:ln/>
        </p:spPr>
        <p:txBody>
          <a:bodyPr wrap="none" lIns="0" tIns="0" rIns="0" bIns="0" rtlCol="0" anchor="t"/>
          <a:lstStyle/>
          <a:p>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Create the state schema using </a:t>
            </a:r>
            <a:pPr algn="l" indent="0" marL="0">
              <a:lnSpc>
                <a:spcPct val="111000"/>
              </a:lnSpc>
              <a:buNone/>
            </a:pPr>
            <a:r>
              <a:rPr lang="en-US" sz="850" dirty="0">
                <a:solidFill>
                  <a:srgbClr val="3C3939"/>
                </a:solidFill>
                <a:highlight>
                  <a:srgbClr val="F2F2F2"/>
                </a:highlight>
                <a:latin typeface="Consolas" pitchFamily="34" charset="0"/>
                <a:ea typeface="Consolas" pitchFamily="34" charset="-122"/>
                <a:cs typeface="Consolas" pitchFamily="34" charset="-120"/>
              </a:rPr>
              <a:t>TypedDict</a:t>
            </a:r>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 Identify every field the graph will need — messages, task data, flags, and results.</a:t>
            </a:r>
            <a:endParaRPr lang="en-US" sz="850" dirty="0"/>
          </a:p>
        </p:txBody>
      </p:sp>
      <p:sp>
        <p:nvSpPr>
          <p:cNvPr id="7" name="Shape 5"/>
          <p:cNvSpPr/>
          <p:nvPr/>
        </p:nvSpPr>
        <p:spPr>
          <a:xfrm>
            <a:off x="939280" y="2144117"/>
            <a:ext cx="111122" cy="500063"/>
          </a:xfrm>
          <a:prstGeom prst="roundRect">
            <a:avLst>
              <a:gd name="adj" fmla="val 42000"/>
            </a:avLst>
          </a:prstGeom>
          <a:solidFill>
            <a:srgbClr val="E1E1EA"/>
          </a:solidFill>
          <a:ln w="6350">
            <a:solidFill>
              <a:srgbClr val="C7C7D0"/>
            </a:solidFill>
            <a:prstDash val="solid"/>
          </a:ln>
        </p:spPr>
      </p:sp>
      <p:sp>
        <p:nvSpPr>
          <p:cNvPr id="8" name="Text 6"/>
          <p:cNvSpPr/>
          <p:nvPr/>
        </p:nvSpPr>
        <p:spPr>
          <a:xfrm>
            <a:off x="1236135" y="2088555"/>
            <a:ext cx="10294085" cy="173633"/>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2. Create Nodes</a:t>
            </a:r>
            <a:endParaRPr lang="en-US" sz="1050" dirty="0"/>
          </a:p>
        </p:txBody>
      </p:sp>
      <p:sp>
        <p:nvSpPr>
          <p:cNvPr id="9" name="Text 7"/>
          <p:cNvSpPr/>
          <p:nvPr/>
        </p:nvSpPr>
        <p:spPr>
          <a:xfrm>
            <a:off x="1236135" y="2306935"/>
            <a:ext cx="10294085" cy="148630"/>
          </a:xfrm>
          <a:prstGeom prst="rect">
            <a:avLst/>
          </a:prstGeom>
          <a:noFill/>
          <a:ln/>
        </p:spPr>
        <p:txBody>
          <a:bodyPr wrap="none" lIns="0" tIns="0" rIns="0" bIns="0" rtlCol="0" anchor="t"/>
          <a:lstStyle/>
          <a:p>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Implement each node as a Python function. Each function accepts the current state and returns a dictionary of updates.</a:t>
            </a:r>
            <a:endParaRPr lang="en-US" sz="850" dirty="0"/>
          </a:p>
        </p:txBody>
      </p:sp>
      <p:sp>
        <p:nvSpPr>
          <p:cNvPr id="10" name="Shape 8"/>
          <p:cNvSpPr/>
          <p:nvPr/>
        </p:nvSpPr>
        <p:spPr>
          <a:xfrm>
            <a:off x="1105964" y="2885480"/>
            <a:ext cx="111122" cy="500063"/>
          </a:xfrm>
          <a:prstGeom prst="roundRect">
            <a:avLst>
              <a:gd name="adj" fmla="val 42000"/>
            </a:avLst>
          </a:prstGeom>
          <a:solidFill>
            <a:srgbClr val="E1E1EA"/>
          </a:solidFill>
          <a:ln w="6350">
            <a:solidFill>
              <a:srgbClr val="C7C7D0"/>
            </a:solidFill>
            <a:prstDash val="solid"/>
          </a:ln>
        </p:spPr>
      </p:sp>
      <p:sp>
        <p:nvSpPr>
          <p:cNvPr id="11" name="Text 9"/>
          <p:cNvSpPr/>
          <p:nvPr/>
        </p:nvSpPr>
        <p:spPr>
          <a:xfrm>
            <a:off x="1402819" y="2829917"/>
            <a:ext cx="10127401" cy="173633"/>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3. Add Nodes to the Graph</a:t>
            </a:r>
            <a:endParaRPr lang="en-US" sz="1050" dirty="0"/>
          </a:p>
        </p:txBody>
      </p:sp>
      <p:sp>
        <p:nvSpPr>
          <p:cNvPr id="12" name="Text 10"/>
          <p:cNvSpPr/>
          <p:nvPr/>
        </p:nvSpPr>
        <p:spPr>
          <a:xfrm>
            <a:off x="1402819" y="3048298"/>
            <a:ext cx="10127401" cy="154980"/>
          </a:xfrm>
          <a:prstGeom prst="rect">
            <a:avLst/>
          </a:prstGeom>
          <a:noFill/>
          <a:ln/>
        </p:spPr>
        <p:txBody>
          <a:bodyPr wrap="none" lIns="0" tIns="0" rIns="0" bIns="0" rtlCol="0" anchor="t"/>
          <a:lstStyle/>
          <a:p>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Register each node function with the </a:t>
            </a:r>
            <a:pPr algn="l" indent="0" marL="0">
              <a:lnSpc>
                <a:spcPct val="111000"/>
              </a:lnSpc>
              <a:buNone/>
            </a:pPr>
            <a:r>
              <a:rPr lang="en-US" sz="850" dirty="0">
                <a:solidFill>
                  <a:srgbClr val="3C3939"/>
                </a:solidFill>
                <a:highlight>
                  <a:srgbClr val="F2F2F2"/>
                </a:highlight>
                <a:latin typeface="Consolas" pitchFamily="34" charset="0"/>
                <a:ea typeface="Consolas" pitchFamily="34" charset="-122"/>
                <a:cs typeface="Consolas" pitchFamily="34" charset="-120"/>
              </a:rPr>
              <a:t>StateGraph</a:t>
            </a:r>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 instance, giving each node a name that edges will reference.</a:t>
            </a:r>
            <a:endParaRPr lang="en-US" sz="850" dirty="0"/>
          </a:p>
        </p:txBody>
      </p:sp>
      <p:sp>
        <p:nvSpPr>
          <p:cNvPr id="13" name="Shape 11"/>
          <p:cNvSpPr/>
          <p:nvPr/>
        </p:nvSpPr>
        <p:spPr>
          <a:xfrm>
            <a:off x="1272647" y="3626842"/>
            <a:ext cx="111122" cy="500063"/>
          </a:xfrm>
          <a:prstGeom prst="roundRect">
            <a:avLst>
              <a:gd name="adj" fmla="val 42000"/>
            </a:avLst>
          </a:prstGeom>
          <a:solidFill>
            <a:srgbClr val="E1E1EA"/>
          </a:solidFill>
          <a:ln w="6350">
            <a:solidFill>
              <a:srgbClr val="C7C7D0"/>
            </a:solidFill>
            <a:prstDash val="solid"/>
          </a:ln>
        </p:spPr>
      </p:sp>
      <p:sp>
        <p:nvSpPr>
          <p:cNvPr id="14" name="Text 12"/>
          <p:cNvSpPr/>
          <p:nvPr/>
        </p:nvSpPr>
        <p:spPr>
          <a:xfrm>
            <a:off x="1569502" y="3571280"/>
            <a:ext cx="9960718" cy="173633"/>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4. Connect Nodes with Edges</a:t>
            </a:r>
            <a:endParaRPr lang="en-US" sz="1050" dirty="0"/>
          </a:p>
        </p:txBody>
      </p:sp>
      <p:sp>
        <p:nvSpPr>
          <p:cNvPr id="15" name="Text 13"/>
          <p:cNvSpPr/>
          <p:nvPr/>
        </p:nvSpPr>
        <p:spPr>
          <a:xfrm>
            <a:off x="1569502" y="3789660"/>
            <a:ext cx="9960718" cy="148630"/>
          </a:xfrm>
          <a:prstGeom prst="rect">
            <a:avLst/>
          </a:prstGeom>
          <a:noFill/>
          <a:ln/>
        </p:spPr>
        <p:txBody>
          <a:bodyPr wrap="none" lIns="0" tIns="0" rIns="0" bIns="0" rtlCol="0" anchor="t"/>
          <a:lstStyle/>
          <a:p>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Add direct edges between nodes to define the default control flow. Connect START to the first node and terminal nodes to END.</a:t>
            </a:r>
            <a:endParaRPr lang="en-US" sz="850" dirty="0"/>
          </a:p>
        </p:txBody>
      </p:sp>
      <p:sp>
        <p:nvSpPr>
          <p:cNvPr id="16" name="Shape 14"/>
          <p:cNvSpPr/>
          <p:nvPr/>
        </p:nvSpPr>
        <p:spPr>
          <a:xfrm>
            <a:off x="1105964" y="4368205"/>
            <a:ext cx="111122" cy="500063"/>
          </a:xfrm>
          <a:prstGeom prst="roundRect">
            <a:avLst>
              <a:gd name="adj" fmla="val 42000"/>
            </a:avLst>
          </a:prstGeom>
          <a:solidFill>
            <a:srgbClr val="E1E1EA"/>
          </a:solidFill>
          <a:ln w="6350">
            <a:solidFill>
              <a:srgbClr val="C7C7D0"/>
            </a:solidFill>
            <a:prstDash val="solid"/>
          </a:ln>
        </p:spPr>
      </p:sp>
      <p:sp>
        <p:nvSpPr>
          <p:cNvPr id="17" name="Text 15"/>
          <p:cNvSpPr/>
          <p:nvPr/>
        </p:nvSpPr>
        <p:spPr>
          <a:xfrm>
            <a:off x="1402819" y="4312642"/>
            <a:ext cx="10127401" cy="173633"/>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5. Add Conditional Routing</a:t>
            </a:r>
            <a:endParaRPr lang="en-US" sz="1050" dirty="0"/>
          </a:p>
        </p:txBody>
      </p:sp>
      <p:sp>
        <p:nvSpPr>
          <p:cNvPr id="18" name="Text 16"/>
          <p:cNvSpPr/>
          <p:nvPr/>
        </p:nvSpPr>
        <p:spPr>
          <a:xfrm>
            <a:off x="1402819" y="4531023"/>
            <a:ext cx="10127401" cy="148630"/>
          </a:xfrm>
          <a:prstGeom prst="rect">
            <a:avLst/>
          </a:prstGeom>
          <a:noFill/>
          <a:ln/>
        </p:spPr>
        <p:txBody>
          <a:bodyPr wrap="none" lIns="0" tIns="0" rIns="0" bIns="0" rtlCol="0" anchor="t"/>
          <a:lstStyle/>
          <a:p>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Add conditional edges with routing functions that inspect state and return the name of the next node to execute.</a:t>
            </a:r>
            <a:endParaRPr lang="en-US" sz="850" dirty="0"/>
          </a:p>
        </p:txBody>
      </p:sp>
      <p:sp>
        <p:nvSpPr>
          <p:cNvPr id="19" name="Shape 17"/>
          <p:cNvSpPr/>
          <p:nvPr/>
        </p:nvSpPr>
        <p:spPr>
          <a:xfrm>
            <a:off x="939280" y="5109567"/>
            <a:ext cx="111122" cy="500063"/>
          </a:xfrm>
          <a:prstGeom prst="roundRect">
            <a:avLst>
              <a:gd name="adj" fmla="val 42000"/>
            </a:avLst>
          </a:prstGeom>
          <a:solidFill>
            <a:srgbClr val="E1E1EA"/>
          </a:solidFill>
          <a:ln w="6350">
            <a:solidFill>
              <a:srgbClr val="C7C7D0"/>
            </a:solidFill>
            <a:prstDash val="solid"/>
          </a:ln>
        </p:spPr>
      </p:sp>
      <p:sp>
        <p:nvSpPr>
          <p:cNvPr id="20" name="Text 18"/>
          <p:cNvSpPr/>
          <p:nvPr/>
        </p:nvSpPr>
        <p:spPr>
          <a:xfrm>
            <a:off x="1236135" y="5054005"/>
            <a:ext cx="10294085" cy="173633"/>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6. Compile the Graph</a:t>
            </a:r>
            <a:endParaRPr lang="en-US" sz="1050" dirty="0"/>
          </a:p>
        </p:txBody>
      </p:sp>
      <p:sp>
        <p:nvSpPr>
          <p:cNvPr id="21" name="Text 19"/>
          <p:cNvSpPr/>
          <p:nvPr/>
        </p:nvSpPr>
        <p:spPr>
          <a:xfrm>
            <a:off x="1236135" y="5272385"/>
            <a:ext cx="10294085" cy="154980"/>
          </a:xfrm>
          <a:prstGeom prst="rect">
            <a:avLst/>
          </a:prstGeom>
          <a:noFill/>
          <a:ln/>
        </p:spPr>
        <p:txBody>
          <a:bodyPr wrap="none" lIns="0" tIns="0" rIns="0" bIns="0" rtlCol="0" anchor="t"/>
          <a:lstStyle/>
          <a:p>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Call </a:t>
            </a:r>
            <a:pPr algn="l" indent="0" marL="0">
              <a:lnSpc>
                <a:spcPct val="111000"/>
              </a:lnSpc>
              <a:buNone/>
            </a:pPr>
            <a:r>
              <a:rPr lang="en-US" sz="850" dirty="0">
                <a:solidFill>
                  <a:srgbClr val="3C3939"/>
                </a:solidFill>
                <a:highlight>
                  <a:srgbClr val="F2F2F2"/>
                </a:highlight>
                <a:latin typeface="Consolas" pitchFamily="34" charset="0"/>
                <a:ea typeface="Consolas" pitchFamily="34" charset="-122"/>
                <a:cs typeface="Consolas" pitchFamily="34" charset="-120"/>
              </a:rPr>
              <a:t>.compile()</a:t>
            </a:r>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 on the </a:t>
            </a:r>
            <a:pPr algn="l" indent="0" marL="0">
              <a:lnSpc>
                <a:spcPct val="111000"/>
              </a:lnSpc>
              <a:buNone/>
            </a:pPr>
            <a:r>
              <a:rPr lang="en-US" sz="850" dirty="0">
                <a:solidFill>
                  <a:srgbClr val="3C3939"/>
                </a:solidFill>
                <a:highlight>
                  <a:srgbClr val="F2F2F2"/>
                </a:highlight>
                <a:latin typeface="Consolas" pitchFamily="34" charset="0"/>
                <a:ea typeface="Consolas" pitchFamily="34" charset="-122"/>
                <a:cs typeface="Consolas" pitchFamily="34" charset="-120"/>
              </a:rPr>
              <a:t>StateGraph</a:t>
            </a:r>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 This validates the graph structure and prepares it for execution.</a:t>
            </a:r>
            <a:endParaRPr lang="en-US" sz="850" dirty="0"/>
          </a:p>
        </p:txBody>
      </p:sp>
      <p:sp>
        <p:nvSpPr>
          <p:cNvPr id="22" name="Shape 20"/>
          <p:cNvSpPr/>
          <p:nvPr/>
        </p:nvSpPr>
        <p:spPr>
          <a:xfrm>
            <a:off x="772597" y="5850930"/>
            <a:ext cx="111122" cy="500063"/>
          </a:xfrm>
          <a:prstGeom prst="roundRect">
            <a:avLst>
              <a:gd name="adj" fmla="val 42000"/>
            </a:avLst>
          </a:prstGeom>
          <a:solidFill>
            <a:srgbClr val="E1E1EA"/>
          </a:solidFill>
          <a:ln w="6350">
            <a:solidFill>
              <a:srgbClr val="C7C7D0"/>
            </a:solidFill>
            <a:prstDash val="solid"/>
          </a:ln>
        </p:spPr>
      </p:sp>
      <p:sp>
        <p:nvSpPr>
          <p:cNvPr id="23" name="Text 21"/>
          <p:cNvSpPr/>
          <p:nvPr/>
        </p:nvSpPr>
        <p:spPr>
          <a:xfrm>
            <a:off x="1069452" y="5795367"/>
            <a:ext cx="10460768" cy="173633"/>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7. Invoke the Graph</a:t>
            </a:r>
            <a:endParaRPr lang="en-US" sz="1050" dirty="0"/>
          </a:p>
        </p:txBody>
      </p:sp>
      <p:sp>
        <p:nvSpPr>
          <p:cNvPr id="24" name="Text 22"/>
          <p:cNvSpPr/>
          <p:nvPr/>
        </p:nvSpPr>
        <p:spPr>
          <a:xfrm>
            <a:off x="1069452" y="6013748"/>
            <a:ext cx="10460768" cy="154980"/>
          </a:xfrm>
          <a:prstGeom prst="rect">
            <a:avLst/>
          </a:prstGeom>
          <a:noFill/>
          <a:ln/>
        </p:spPr>
        <p:txBody>
          <a:bodyPr wrap="none" lIns="0" tIns="0" rIns="0" bIns="0" rtlCol="0" anchor="t"/>
          <a:lstStyle/>
          <a:p>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Call </a:t>
            </a:r>
            <a:pPr algn="l" indent="0" marL="0">
              <a:lnSpc>
                <a:spcPct val="111000"/>
              </a:lnSpc>
              <a:buNone/>
            </a:pPr>
            <a:r>
              <a:rPr lang="en-US" sz="850" dirty="0">
                <a:solidFill>
                  <a:srgbClr val="3C3939"/>
                </a:solidFill>
                <a:highlight>
                  <a:srgbClr val="F2F2F2"/>
                </a:highlight>
                <a:latin typeface="Consolas" pitchFamily="34" charset="0"/>
                <a:ea typeface="Consolas" pitchFamily="34" charset="-122"/>
                <a:cs typeface="Consolas" pitchFamily="34" charset="-120"/>
              </a:rPr>
              <a:t>.invoke()</a:t>
            </a:r>
            <a:pPr algn="l" indent="0" marL="0">
              <a:lnSpc>
                <a:spcPct val="111000"/>
              </a:lnSpc>
              <a:buNone/>
            </a:pPr>
            <a:r>
              <a:rPr lang="en-US" sz="850" dirty="0">
                <a:solidFill>
                  <a:srgbClr val="3C3939"/>
                </a:solidFill>
                <a:latin typeface="Roboto" pitchFamily="34" charset="0"/>
                <a:ea typeface="Roboto" pitchFamily="34" charset="-122"/>
                <a:cs typeface="Roboto" pitchFamily="34" charset="-120"/>
              </a:rPr>
              <a:t> with the initial state. The graph executes, nodes run in sequence, and the final state is returned.</a:t>
            </a:r>
            <a:endParaRPr lang="en-US" sz="850" dirty="0"/>
          </a:p>
        </p:txBody>
      </p:sp>
      <p:sp>
        <p:nvSpPr>
          <p:cNvPr id="25" name="Shape 23"/>
          <p:cNvSpPr/>
          <p:nvPr/>
        </p:nvSpPr>
        <p:spPr>
          <a:xfrm>
            <a:off x="661475" y="1329829"/>
            <a:ext cx="333367" cy="333375"/>
          </a:xfrm>
          <a:prstGeom prst="ellipse">
            <a:avLst/>
          </a:prstGeom>
          <a:solidFill>
            <a:srgbClr val="E1E1EA"/>
          </a:solidFill>
          <a:ln w="6350">
            <a:solidFill>
              <a:srgbClr val="C7C7D0"/>
            </a:solidFill>
            <a:prstDash val="solid"/>
          </a:ln>
        </p:spPr>
      </p:sp>
      <p:pic>
        <p:nvPicPr>
          <p:cNvPr id="2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4817" y="1413173"/>
            <a:ext cx="166683" cy="166687"/>
          </a:xfrm>
          <a:prstGeom prst="rect">
            <a:avLst/>
          </a:prstGeom>
        </p:spPr>
      </p:pic>
      <p:sp>
        <p:nvSpPr>
          <p:cNvPr id="27" name="Shape 24"/>
          <p:cNvSpPr/>
          <p:nvPr/>
        </p:nvSpPr>
        <p:spPr>
          <a:xfrm>
            <a:off x="828158" y="2071191"/>
            <a:ext cx="333367" cy="333375"/>
          </a:xfrm>
          <a:prstGeom prst="ellipse">
            <a:avLst/>
          </a:prstGeom>
          <a:solidFill>
            <a:srgbClr val="E1E1EA"/>
          </a:solidFill>
          <a:ln w="6350">
            <a:solidFill>
              <a:srgbClr val="C7C7D0"/>
            </a:solidFill>
            <a:prstDash val="solid"/>
          </a:ln>
        </p:spPr>
      </p:sp>
      <p:pic>
        <p:nvPicPr>
          <p:cNvPr id="2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1500" y="2154535"/>
            <a:ext cx="166683" cy="166687"/>
          </a:xfrm>
          <a:prstGeom prst="rect">
            <a:avLst/>
          </a:prstGeom>
        </p:spPr>
      </p:pic>
      <p:sp>
        <p:nvSpPr>
          <p:cNvPr id="29" name="Shape 25"/>
          <p:cNvSpPr/>
          <p:nvPr/>
        </p:nvSpPr>
        <p:spPr>
          <a:xfrm>
            <a:off x="994842" y="2812554"/>
            <a:ext cx="333367" cy="333375"/>
          </a:xfrm>
          <a:prstGeom prst="ellipse">
            <a:avLst/>
          </a:prstGeom>
          <a:solidFill>
            <a:srgbClr val="E1E1EA"/>
          </a:solidFill>
          <a:ln w="6350">
            <a:solidFill>
              <a:srgbClr val="C7C7D0"/>
            </a:solidFill>
            <a:prstDash val="solid"/>
          </a:ln>
        </p:spPr>
      </p:sp>
      <p:pic>
        <p:nvPicPr>
          <p:cNvPr id="3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8183" y="2895898"/>
            <a:ext cx="166683" cy="166687"/>
          </a:xfrm>
          <a:prstGeom prst="rect">
            <a:avLst/>
          </a:prstGeom>
        </p:spPr>
      </p:pic>
      <p:sp>
        <p:nvSpPr>
          <p:cNvPr id="31" name="Shape 26"/>
          <p:cNvSpPr/>
          <p:nvPr/>
        </p:nvSpPr>
        <p:spPr>
          <a:xfrm>
            <a:off x="1161525" y="3553916"/>
            <a:ext cx="333367" cy="333375"/>
          </a:xfrm>
          <a:prstGeom prst="ellipse">
            <a:avLst/>
          </a:prstGeom>
          <a:solidFill>
            <a:srgbClr val="E1E1EA"/>
          </a:solidFill>
          <a:ln w="6350">
            <a:solidFill>
              <a:srgbClr val="C7C7D0"/>
            </a:solidFill>
            <a:prstDash val="solid"/>
          </a:ln>
        </p:spPr>
      </p:sp>
      <p:pic>
        <p:nvPicPr>
          <p:cNvPr id="3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44867" y="3637260"/>
            <a:ext cx="166683" cy="166687"/>
          </a:xfrm>
          <a:prstGeom prst="rect">
            <a:avLst/>
          </a:prstGeom>
        </p:spPr>
      </p:pic>
      <p:sp>
        <p:nvSpPr>
          <p:cNvPr id="33" name="Shape 27"/>
          <p:cNvSpPr/>
          <p:nvPr/>
        </p:nvSpPr>
        <p:spPr>
          <a:xfrm>
            <a:off x="994842" y="4295279"/>
            <a:ext cx="333367" cy="333375"/>
          </a:xfrm>
          <a:prstGeom prst="ellipse">
            <a:avLst/>
          </a:prstGeom>
          <a:solidFill>
            <a:srgbClr val="E1E1EA"/>
          </a:solidFill>
          <a:ln w="6350">
            <a:solidFill>
              <a:srgbClr val="C7C7D0"/>
            </a:solidFill>
            <a:prstDash val="solid"/>
          </a:ln>
        </p:spPr>
      </p:sp>
      <p:pic>
        <p:nvPicPr>
          <p:cNvPr id="3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78183" y="4378623"/>
            <a:ext cx="166683" cy="166687"/>
          </a:xfrm>
          <a:prstGeom prst="rect">
            <a:avLst/>
          </a:prstGeom>
        </p:spPr>
      </p:pic>
      <p:sp>
        <p:nvSpPr>
          <p:cNvPr id="35" name="Shape 28"/>
          <p:cNvSpPr/>
          <p:nvPr/>
        </p:nvSpPr>
        <p:spPr>
          <a:xfrm>
            <a:off x="828158" y="5036641"/>
            <a:ext cx="333367" cy="333375"/>
          </a:xfrm>
          <a:prstGeom prst="ellipse">
            <a:avLst/>
          </a:prstGeom>
          <a:solidFill>
            <a:srgbClr val="E1E1EA"/>
          </a:solidFill>
          <a:ln w="6350">
            <a:solidFill>
              <a:srgbClr val="C7C7D0"/>
            </a:solidFill>
            <a:prstDash val="solid"/>
          </a:ln>
        </p:spPr>
      </p:sp>
      <p:pic>
        <p:nvPicPr>
          <p:cNvPr id="3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11500" y="5119985"/>
            <a:ext cx="166683" cy="166687"/>
          </a:xfrm>
          <a:prstGeom prst="rect">
            <a:avLst/>
          </a:prstGeom>
        </p:spPr>
      </p:pic>
      <p:sp>
        <p:nvSpPr>
          <p:cNvPr id="37" name="Shape 29"/>
          <p:cNvSpPr/>
          <p:nvPr/>
        </p:nvSpPr>
        <p:spPr>
          <a:xfrm>
            <a:off x="661475" y="5778004"/>
            <a:ext cx="333367" cy="333375"/>
          </a:xfrm>
          <a:prstGeom prst="ellipse">
            <a:avLst/>
          </a:prstGeom>
          <a:solidFill>
            <a:srgbClr val="E1E1EA"/>
          </a:solidFill>
          <a:ln w="6350">
            <a:solidFill>
              <a:srgbClr val="C7C7D0"/>
            </a:solidFill>
            <a:prstDash val="solid"/>
          </a:ln>
        </p:spPr>
      </p:sp>
      <p:pic>
        <p:nvPicPr>
          <p:cNvPr id="3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4817" y="5861348"/>
            <a:ext cx="166683" cy="16668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89406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StateGraph</a:t>
            </a:r>
            <a:endParaRPr lang="en-US" sz="3250" dirty="0"/>
          </a:p>
        </p:txBody>
      </p:sp>
      <p:sp>
        <p:nvSpPr>
          <p:cNvPr id="3" name="Text 1"/>
          <p:cNvSpPr/>
          <p:nvPr/>
        </p:nvSpPr>
        <p:spPr>
          <a:xfrm>
            <a:off x="661475" y="1741488"/>
            <a:ext cx="10868745"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StateGraph</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is the primary class in LangGraph used to construct a graph around a defined state schema. It is the container that holds nodes, edges, and routing logic, and it produces the compiled, executable graph.</a:t>
            </a:r>
            <a:endParaRPr lang="en-US" sz="1300" dirty="0"/>
          </a:p>
        </p:txBody>
      </p:sp>
      <p:sp>
        <p:nvSpPr>
          <p:cNvPr id="4" name="Text 2"/>
          <p:cNvSpPr/>
          <p:nvPr/>
        </p:nvSpPr>
        <p:spPr>
          <a:xfrm>
            <a:off x="661475" y="2463105"/>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01</a:t>
            </a:r>
            <a:endParaRPr lang="en-US" sz="1300" dirty="0"/>
          </a:p>
        </p:txBody>
      </p:sp>
      <p:sp>
        <p:nvSpPr>
          <p:cNvPr id="5" name="Shape 3"/>
          <p:cNvSpPr/>
          <p:nvPr/>
        </p:nvSpPr>
        <p:spPr>
          <a:xfrm>
            <a:off x="661475" y="2725043"/>
            <a:ext cx="5351725" cy="19050"/>
          </a:xfrm>
          <a:prstGeom prst="rect">
            <a:avLst/>
          </a:prstGeom>
          <a:solidFill>
            <a:srgbClr val="1B1B27"/>
          </a:solidFill>
          <a:ln/>
        </p:spPr>
      </p:sp>
      <p:sp>
        <p:nvSpPr>
          <p:cNvPr id="6" name="Text 4"/>
          <p:cNvSpPr/>
          <p:nvPr/>
        </p:nvSpPr>
        <p:spPr>
          <a:xfrm>
            <a:off x="661475" y="2845792"/>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Define the State First</a:t>
            </a:r>
            <a:endParaRPr lang="en-US" sz="1600" dirty="0"/>
          </a:p>
        </p:txBody>
      </p:sp>
      <p:sp>
        <p:nvSpPr>
          <p:cNvPr id="7" name="Text 5"/>
          <p:cNvSpPr/>
          <p:nvPr/>
        </p:nvSpPr>
        <p:spPr>
          <a:xfrm>
            <a:off x="661475" y="3203476"/>
            <a:ext cx="535172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Before creating a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StateGraph</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define the state schema. The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StateGraph</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is instantiated with the state class as its argument — this binds the graph to that specific state structure.</a:t>
            </a:r>
            <a:endParaRPr lang="en-US" sz="1300" dirty="0"/>
          </a:p>
        </p:txBody>
      </p:sp>
      <p:sp>
        <p:nvSpPr>
          <p:cNvPr id="8" name="Text 6"/>
          <p:cNvSpPr/>
          <p:nvPr/>
        </p:nvSpPr>
        <p:spPr>
          <a:xfrm>
            <a:off x="6178495" y="2463105"/>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02</a:t>
            </a:r>
            <a:endParaRPr lang="en-US" sz="1300" dirty="0"/>
          </a:p>
        </p:txBody>
      </p:sp>
      <p:sp>
        <p:nvSpPr>
          <p:cNvPr id="9" name="Shape 7"/>
          <p:cNvSpPr/>
          <p:nvPr/>
        </p:nvSpPr>
        <p:spPr>
          <a:xfrm>
            <a:off x="6178495" y="2725043"/>
            <a:ext cx="5351725" cy="19050"/>
          </a:xfrm>
          <a:prstGeom prst="rect">
            <a:avLst/>
          </a:prstGeom>
          <a:solidFill>
            <a:srgbClr val="1B1B27"/>
          </a:solidFill>
          <a:ln/>
        </p:spPr>
      </p:sp>
      <p:sp>
        <p:nvSpPr>
          <p:cNvPr id="10" name="Text 8"/>
          <p:cNvSpPr/>
          <p:nvPr/>
        </p:nvSpPr>
        <p:spPr>
          <a:xfrm>
            <a:off x="6178495" y="2845792"/>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Add Processing Nodes</a:t>
            </a:r>
            <a:endParaRPr lang="en-US" sz="1600" dirty="0"/>
          </a:p>
        </p:txBody>
      </p:sp>
      <p:sp>
        <p:nvSpPr>
          <p:cNvPr id="11" name="Text 9"/>
          <p:cNvSpPr/>
          <p:nvPr/>
        </p:nvSpPr>
        <p:spPr>
          <a:xfrm>
            <a:off x="6178495" y="3203476"/>
            <a:ext cx="535172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Use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.add_node(name, function)</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to register each node. The name is a string identifier used when defining edges. The function is the Python callable that implements the node's logic.</a:t>
            </a:r>
            <a:endParaRPr lang="en-US" sz="1300" dirty="0"/>
          </a:p>
        </p:txBody>
      </p:sp>
      <p:sp>
        <p:nvSpPr>
          <p:cNvPr id="12" name="Text 10"/>
          <p:cNvSpPr/>
          <p:nvPr/>
        </p:nvSpPr>
        <p:spPr>
          <a:xfrm>
            <a:off x="661475" y="4292997"/>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03</a:t>
            </a:r>
            <a:endParaRPr lang="en-US" sz="1300" dirty="0"/>
          </a:p>
        </p:txBody>
      </p:sp>
      <p:sp>
        <p:nvSpPr>
          <p:cNvPr id="13" name="Shape 11"/>
          <p:cNvSpPr/>
          <p:nvPr/>
        </p:nvSpPr>
        <p:spPr>
          <a:xfrm>
            <a:off x="661475" y="4554934"/>
            <a:ext cx="5351725" cy="19050"/>
          </a:xfrm>
          <a:prstGeom prst="rect">
            <a:avLst/>
          </a:prstGeom>
          <a:solidFill>
            <a:srgbClr val="1B1B27"/>
          </a:solidFill>
          <a:ln/>
        </p:spPr>
      </p:sp>
      <p:sp>
        <p:nvSpPr>
          <p:cNvPr id="14" name="Text 12"/>
          <p:cNvSpPr/>
          <p:nvPr/>
        </p:nvSpPr>
        <p:spPr>
          <a:xfrm>
            <a:off x="661475" y="4675684"/>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Define Transitions</a:t>
            </a:r>
            <a:endParaRPr lang="en-US" sz="1600" dirty="0"/>
          </a:p>
        </p:txBody>
      </p:sp>
      <p:sp>
        <p:nvSpPr>
          <p:cNvPr id="15" name="Text 13"/>
          <p:cNvSpPr/>
          <p:nvPr/>
        </p:nvSpPr>
        <p:spPr>
          <a:xfrm>
            <a:off x="661475" y="5033367"/>
            <a:ext cx="5351725" cy="8065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Use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.add_edge()</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for direct transitions and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.add_conditional_edges()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for routing logic. Set the entry point with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.set_entry_point()</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to connect START to the first node.</a:t>
            </a:r>
            <a:endParaRPr lang="en-US" sz="1300" dirty="0"/>
          </a:p>
        </p:txBody>
      </p:sp>
      <p:sp>
        <p:nvSpPr>
          <p:cNvPr id="16" name="Text 14"/>
          <p:cNvSpPr/>
          <p:nvPr/>
        </p:nvSpPr>
        <p:spPr>
          <a:xfrm>
            <a:off x="6178495" y="4292997"/>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04</a:t>
            </a:r>
            <a:endParaRPr lang="en-US" sz="1300" dirty="0"/>
          </a:p>
        </p:txBody>
      </p:sp>
      <p:sp>
        <p:nvSpPr>
          <p:cNvPr id="17" name="Shape 15"/>
          <p:cNvSpPr/>
          <p:nvPr/>
        </p:nvSpPr>
        <p:spPr>
          <a:xfrm>
            <a:off x="6178495" y="4554934"/>
            <a:ext cx="5351725" cy="19050"/>
          </a:xfrm>
          <a:prstGeom prst="rect">
            <a:avLst/>
          </a:prstGeom>
          <a:solidFill>
            <a:srgbClr val="1B1B27"/>
          </a:solidFill>
          <a:ln/>
        </p:spPr>
      </p:sp>
      <p:sp>
        <p:nvSpPr>
          <p:cNvPr id="18" name="Text 16"/>
          <p:cNvSpPr/>
          <p:nvPr/>
        </p:nvSpPr>
        <p:spPr>
          <a:xfrm>
            <a:off x="6178495" y="4675684"/>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Compile Before Execution</a:t>
            </a:r>
            <a:endParaRPr lang="en-US" sz="1600" dirty="0"/>
          </a:p>
        </p:txBody>
      </p:sp>
      <p:sp>
        <p:nvSpPr>
          <p:cNvPr id="19" name="Text 17"/>
          <p:cNvSpPr/>
          <p:nvPr/>
        </p:nvSpPr>
        <p:spPr>
          <a:xfrm>
            <a:off x="6178495" y="5033367"/>
            <a:ext cx="535172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Call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.compile()</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to finalize the graph. Compilation validates the structure — checking for unreachable nodes, missing edges, and other configuration errors — and returns an executable graph object.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658912"/>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Compiling the Graph</a:t>
            </a:r>
            <a:endParaRPr lang="en-US" sz="3250" dirty="0"/>
          </a:p>
        </p:txBody>
      </p:sp>
      <p:sp>
        <p:nvSpPr>
          <p:cNvPr id="3" name="Text 1"/>
          <p:cNvSpPr/>
          <p:nvPr/>
        </p:nvSpPr>
        <p:spPr>
          <a:xfrm>
            <a:off x="661475" y="1506339"/>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Compilation is a required step between graph definition and graph execution. It transforms the declarative graph description into an executable runtime object.</a:t>
            </a:r>
            <a:endParaRPr lang="en-US" sz="1300" dirty="0"/>
          </a:p>
        </p:txBody>
      </p:sp>
      <p:sp>
        <p:nvSpPr>
          <p:cNvPr id="4" name="Shape 2"/>
          <p:cNvSpPr/>
          <p:nvPr/>
        </p:nvSpPr>
        <p:spPr>
          <a:xfrm>
            <a:off x="542415" y="2221607"/>
            <a:ext cx="5470785" cy="3977382"/>
          </a:xfrm>
          <a:prstGeom prst="roundRect">
            <a:avLst>
              <a:gd name="adj" fmla="val 2994"/>
            </a:avLst>
          </a:prstGeom>
          <a:solidFill>
            <a:srgbClr val="1B1B27">
              <a:alpha val="95000"/>
            </a:srgbClr>
          </a:solidFill>
          <a:ln/>
        </p:spPr>
      </p:sp>
      <p:sp>
        <p:nvSpPr>
          <p:cNvPr id="5" name="Text 3"/>
          <p:cNvSpPr/>
          <p:nvPr/>
        </p:nvSpPr>
        <p:spPr>
          <a:xfrm>
            <a:off x="707710" y="2386905"/>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FFFFFF"/>
                </a:solidFill>
                <a:latin typeface="Raleway" pitchFamily="34" charset="0"/>
                <a:ea typeface="Raleway" pitchFamily="34" charset="-122"/>
                <a:cs typeface="Raleway" pitchFamily="34" charset="-120"/>
              </a:rPr>
              <a:t>Graph Definition vs Compilation</a:t>
            </a:r>
            <a:endParaRPr lang="en-US" sz="1600" dirty="0"/>
          </a:p>
        </p:txBody>
      </p:sp>
      <p:sp>
        <p:nvSpPr>
          <p:cNvPr id="6" name="Text 4"/>
          <p:cNvSpPr/>
          <p:nvPr/>
        </p:nvSpPr>
        <p:spPr>
          <a:xfrm>
            <a:off x="707710" y="2810669"/>
            <a:ext cx="5140196" cy="1736527"/>
          </a:xfrm>
          <a:prstGeom prst="rect">
            <a:avLst/>
          </a:prstGeom>
          <a:noFill/>
          <a:ln/>
        </p:spPr>
        <p:txBody>
          <a:bodyPr wrap="square" lIns="0" tIns="0" rIns="0" bIns="0" rtlCol="0" anchor="t">
            <a:normAutofit/>
          </a:bodyPr>
          <a:lstStyle/>
          <a:p>
            <a:pPr algn="l" indent="0" marL="0">
              <a:lnSpc>
                <a:spcPct val="133000"/>
              </a:lnSpc>
              <a:spcAft>
                <a:spcPts val="1150"/>
              </a:spcAft>
              <a:buNone/>
            </a:pPr>
            <a:r>
              <a:rPr lang="en-US" sz="1300" dirty="0">
                <a:solidFill>
                  <a:srgbClr val="FFFFFF"/>
                </a:solidFill>
                <a:latin typeface="Roboto" pitchFamily="34" charset="0"/>
                <a:ea typeface="Roboto" pitchFamily="34" charset="-122"/>
                <a:cs typeface="Roboto" pitchFamily="34" charset="-120"/>
              </a:rPr>
              <a:t>The graph definition phase — adding nodes, edges, and routing logic — describes the </a:t>
            </a:r>
            <a:pPr algn="l" indent="0" marL="0">
              <a:lnSpc>
                <a:spcPct val="133000"/>
              </a:lnSpc>
              <a:spcAft>
                <a:spcPts val="1150"/>
              </a:spcAft>
              <a:buNone/>
            </a:pPr>
            <a:r>
              <a:rPr lang="en-US" sz="1300" b="1" dirty="0">
                <a:solidFill>
                  <a:srgbClr val="FFFFFF"/>
                </a:solidFill>
                <a:latin typeface="Roboto Bold" pitchFamily="34" charset="0"/>
                <a:ea typeface="Roboto Bold" pitchFamily="34" charset="-122"/>
                <a:cs typeface="Roboto Bold" pitchFamily="34" charset="-120"/>
              </a:rPr>
              <a:t>architecture</a:t>
            </a:r>
            <a:pPr algn="l" indent="0" marL="0">
              <a:lnSpc>
                <a:spcPct val="133000"/>
              </a:lnSpc>
              <a:spcAft>
                <a:spcPts val="1150"/>
              </a:spcAft>
              <a:buNone/>
            </a:pPr>
            <a:r>
              <a:rPr lang="en-US" sz="1300" dirty="0">
                <a:solidFill>
                  <a:srgbClr val="FFFFFF"/>
                </a:solidFill>
                <a:latin typeface="Roboto" pitchFamily="34" charset="0"/>
                <a:ea typeface="Roboto" pitchFamily="34" charset="-122"/>
                <a:cs typeface="Roboto" pitchFamily="34" charset="-120"/>
              </a:rPr>
              <a:t> of the agent. It specifies what nodes exist and how they connect, but does not execute anything.</a:t>
            </a:r>
            <a:endParaRPr lang="en-US" sz="1300" dirty="0"/>
          </a:p>
          <a:p>
            <a:pPr algn="l" indent="0" marL="0">
              <a:lnSpc>
                <a:spcPct val="133000"/>
              </a:lnSpc>
              <a:buNone/>
            </a:pPr>
            <a:r>
              <a:rPr lang="en-US" sz="1300" dirty="0">
                <a:solidFill>
                  <a:srgbClr val="FFFFFF"/>
                </a:solidFill>
                <a:latin typeface="Roboto" pitchFamily="34" charset="0"/>
                <a:ea typeface="Roboto" pitchFamily="34" charset="-122"/>
                <a:cs typeface="Roboto" pitchFamily="34" charset="-120"/>
              </a:rPr>
              <a:t>Compilation is the step that </a:t>
            </a:r>
            <a:pPr algn="l" indent="0" marL="0">
              <a:lnSpc>
                <a:spcPct val="133000"/>
              </a:lnSpc>
              <a:buNone/>
            </a:pPr>
            <a:r>
              <a:rPr lang="en-US" sz="1300" b="1" dirty="0">
                <a:solidFill>
                  <a:srgbClr val="FFFFFF"/>
                </a:solidFill>
                <a:latin typeface="Roboto Bold" pitchFamily="34" charset="0"/>
                <a:ea typeface="Roboto Bold" pitchFamily="34" charset="-122"/>
                <a:cs typeface="Roboto Bold" pitchFamily="34" charset="-120"/>
              </a:rPr>
              <a:t>prepares the graph for execution</a:t>
            </a:r>
            <a:pPr algn="l" indent="0" marL="0">
              <a:lnSpc>
                <a:spcPct val="133000"/>
              </a:lnSpc>
              <a:buNone/>
            </a:pPr>
            <a:r>
              <a:rPr lang="en-US" sz="1300" dirty="0">
                <a:solidFill>
                  <a:srgbClr val="FFFFFF"/>
                </a:solidFill>
                <a:latin typeface="Roboto" pitchFamily="34" charset="0"/>
                <a:ea typeface="Roboto" pitchFamily="34" charset="-122"/>
                <a:cs typeface="Roboto" pitchFamily="34" charset="-120"/>
              </a:rPr>
              <a:t>. It processes the definition and produces a compiled graph object that can be invoked.</a:t>
            </a:r>
            <a:endParaRPr lang="en-US" sz="1300" dirty="0"/>
          </a:p>
        </p:txBody>
      </p:sp>
      <p:sp>
        <p:nvSpPr>
          <p:cNvPr id="7" name="Text 5"/>
          <p:cNvSpPr/>
          <p:nvPr/>
        </p:nvSpPr>
        <p:spPr>
          <a:xfrm>
            <a:off x="6303904" y="2386905"/>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What Compilation Does</a:t>
            </a:r>
            <a:endParaRPr lang="en-US" sz="1600" dirty="0"/>
          </a:p>
        </p:txBody>
      </p:sp>
      <p:sp>
        <p:nvSpPr>
          <p:cNvPr id="8" name="Text 6"/>
          <p:cNvSpPr/>
          <p:nvPr/>
        </p:nvSpPr>
        <p:spPr>
          <a:xfrm>
            <a:off x="6303904" y="2810669"/>
            <a:ext cx="5232666" cy="2555081"/>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Validates the graph structure</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checks that all referenced nodes exist, all edges connect valid nodes, and the graph has a reachable END point</a:t>
            </a:r>
            <a:endParaRPr lang="en-US" sz="1300" dirty="0"/>
          </a:p>
          <a:p>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Resolves entry and exit points</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confirms START and END are correctly configured</a:t>
            </a:r>
            <a:endParaRPr lang="en-US" sz="1300" dirty="0"/>
          </a:p>
          <a:p>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Prepares execution machinery</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sets up the runtime that will manage state passing, node execution, and edge traversal</a:t>
            </a:r>
            <a:endParaRPr lang="en-US" sz="1300" dirty="0"/>
          </a:p>
          <a:p>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Enables optional features</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checkpointing and persistence are configured at compile time</a:t>
            </a:r>
            <a:endParaRPr lang="en-US" sz="1300" dirty="0"/>
          </a:p>
        </p:txBody>
      </p:sp>
      <p:sp>
        <p:nvSpPr>
          <p:cNvPr id="9" name="Text 7"/>
          <p:cNvSpPr/>
          <p:nvPr/>
        </p:nvSpPr>
        <p:spPr>
          <a:xfrm>
            <a:off x="6303904" y="5514578"/>
            <a:ext cx="5232666"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compiled graph can then be invoked with an initial state using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.invoke()</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.stream()</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or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.astream()</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475" y="780157"/>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Invoking a Graph</a:t>
            </a:r>
            <a:endParaRPr lang="en-US" sz="3250" dirty="0"/>
          </a:p>
        </p:txBody>
      </p:sp>
      <p:sp>
        <p:nvSpPr>
          <p:cNvPr id="3" name="Text 1"/>
          <p:cNvSpPr/>
          <p:nvPr/>
        </p:nvSpPr>
        <p:spPr>
          <a:xfrm>
            <a:off x="661475" y="1627584"/>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Once compiled, a graph is executed by invoking it with an initial state. Invocation triggers the full execution cycle — nodes run, state is updated, edges are traversed, and the final state is returned.</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42852"/>
            <a:ext cx="5351725" cy="1784846"/>
          </a:xfrm>
          <a:prstGeom prst="rect">
            <a:avLst/>
          </a:prstGeom>
        </p:spPr>
      </p:pic>
      <p:sp>
        <p:nvSpPr>
          <p:cNvPr id="5" name="Text 2"/>
          <p:cNvSpPr/>
          <p:nvPr/>
        </p:nvSpPr>
        <p:spPr>
          <a:xfrm>
            <a:off x="922017" y="2527201"/>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Provide Initial State</a:t>
            </a:r>
            <a:endParaRPr lang="en-US" sz="1600" dirty="0"/>
          </a:p>
        </p:txBody>
      </p:sp>
      <p:sp>
        <p:nvSpPr>
          <p:cNvPr id="6" name="Text 3"/>
          <p:cNvSpPr/>
          <p:nvPr/>
        </p:nvSpPr>
        <p:spPr>
          <a:xfrm>
            <a:off x="922017" y="2884884"/>
            <a:ext cx="490684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caller provides a dictionary matching the state schema. At minimum, this includes the user's input — typically as a human message in the messages list. This initial state is passed to the first node via the START edge.</a:t>
            </a:r>
            <a:endParaRPr lang="en-US" sz="13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8495" y="2342852"/>
            <a:ext cx="5351725" cy="1784846"/>
          </a:xfrm>
          <a:prstGeom prst="rect">
            <a:avLst/>
          </a:prstGeom>
        </p:spPr>
      </p:pic>
      <p:sp>
        <p:nvSpPr>
          <p:cNvPr id="8" name="Text 4"/>
          <p:cNvSpPr/>
          <p:nvPr/>
        </p:nvSpPr>
        <p:spPr>
          <a:xfrm>
            <a:off x="6439037" y="2527201"/>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Graph Executes According to Nodes and Edges</a:t>
            </a:r>
            <a:endParaRPr lang="en-US" sz="1600" dirty="0"/>
          </a:p>
        </p:txBody>
      </p:sp>
      <p:sp>
        <p:nvSpPr>
          <p:cNvPr id="9" name="Text 5"/>
          <p:cNvSpPr/>
          <p:nvPr/>
        </p:nvSpPr>
        <p:spPr>
          <a:xfrm>
            <a:off x="6439037" y="2884884"/>
            <a:ext cx="490684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compiled graph manages execution automatically. It calls each node in turn, passes the current state, collects the state updates returned by the node, and uses the edge configuration to determine which node to call next.</a:t>
            </a:r>
            <a:endParaRPr lang="en-US" sz="13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292997"/>
            <a:ext cx="5351725" cy="1784846"/>
          </a:xfrm>
          <a:prstGeom prst="rect">
            <a:avLst/>
          </a:prstGeom>
        </p:spPr>
      </p:pic>
      <p:sp>
        <p:nvSpPr>
          <p:cNvPr id="11" name="Text 6"/>
          <p:cNvSpPr/>
          <p:nvPr/>
        </p:nvSpPr>
        <p:spPr>
          <a:xfrm>
            <a:off x="922017" y="4477345"/>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State is Updated as Execution Progresses</a:t>
            </a:r>
            <a:endParaRPr lang="en-US" sz="1600" dirty="0"/>
          </a:p>
        </p:txBody>
      </p:sp>
      <p:sp>
        <p:nvSpPr>
          <p:cNvPr id="12" name="Text 7"/>
          <p:cNvSpPr/>
          <p:nvPr/>
        </p:nvSpPr>
        <p:spPr>
          <a:xfrm>
            <a:off x="922017" y="4835029"/>
            <a:ext cx="490684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After each node executes, LangGraph merges the node's returned updates into the overall state. The updated state is then passed to the next node. State accumulates information across every step of execution.</a:t>
            </a:r>
            <a:endParaRPr lang="en-US" sz="13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8495" y="4292997"/>
            <a:ext cx="5351725" cy="1784846"/>
          </a:xfrm>
          <a:prstGeom prst="rect">
            <a:avLst/>
          </a:prstGeom>
        </p:spPr>
      </p:pic>
      <p:sp>
        <p:nvSpPr>
          <p:cNvPr id="14" name="Text 8"/>
          <p:cNvSpPr/>
          <p:nvPr/>
        </p:nvSpPr>
        <p:spPr>
          <a:xfrm>
            <a:off x="6439037" y="4477345"/>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Final State Contains the Result</a:t>
            </a:r>
            <a:endParaRPr lang="en-US" sz="1600" dirty="0"/>
          </a:p>
        </p:txBody>
      </p:sp>
      <p:sp>
        <p:nvSpPr>
          <p:cNvPr id="15" name="Text 9"/>
          <p:cNvSpPr/>
          <p:nvPr/>
        </p:nvSpPr>
        <p:spPr>
          <a:xfrm>
            <a:off x="6439037" y="4835029"/>
            <a:ext cx="4906840"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When execution reaches END, the graph returns the final state to the caller. The final state contains the complete record of the agent's execution — including the full message history and the agent's final response.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475" y="903585"/>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Adding an LLM Node</a:t>
            </a:r>
            <a:endParaRPr lang="en-US" sz="3250" dirty="0"/>
          </a:p>
        </p:txBody>
      </p:sp>
      <p:sp>
        <p:nvSpPr>
          <p:cNvPr id="3" name="Text 1"/>
          <p:cNvSpPr/>
          <p:nvPr/>
        </p:nvSpPr>
        <p:spPr>
          <a:xfrm>
            <a:off x="661475" y="1751013"/>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LLM node is the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reasoning component</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of the graph. It is responsible for interpreting the current state, deciding what to do next, and producing either a tool call or a final response.</a:t>
            </a:r>
            <a:endParaRPr lang="en-US" sz="1300" dirty="0"/>
          </a:p>
        </p:txBody>
      </p:sp>
      <p:sp>
        <p:nvSpPr>
          <p:cNvPr id="4" name="Text 2"/>
          <p:cNvSpPr/>
          <p:nvPr/>
        </p:nvSpPr>
        <p:spPr>
          <a:xfrm>
            <a:off x="661475" y="2466280"/>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01</a:t>
            </a:r>
            <a:endParaRPr lang="en-US" sz="1300" dirty="0"/>
          </a:p>
        </p:txBody>
      </p:sp>
      <p:sp>
        <p:nvSpPr>
          <p:cNvPr id="5" name="Shape 3"/>
          <p:cNvSpPr/>
          <p:nvPr/>
        </p:nvSpPr>
        <p:spPr>
          <a:xfrm>
            <a:off x="661475" y="2728218"/>
            <a:ext cx="5351725" cy="19050"/>
          </a:xfrm>
          <a:prstGeom prst="rect">
            <a:avLst/>
          </a:prstGeom>
          <a:solidFill>
            <a:srgbClr val="1B1B27"/>
          </a:solidFill>
          <a:ln/>
        </p:spPr>
      </p:sp>
      <p:sp>
        <p:nvSpPr>
          <p:cNvPr id="6" name="Text 4"/>
          <p:cNvSpPr/>
          <p:nvPr/>
        </p:nvSpPr>
        <p:spPr>
          <a:xfrm>
            <a:off x="661475" y="2848967"/>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Create an LLM</a:t>
            </a:r>
            <a:endParaRPr lang="en-US" sz="1600" dirty="0"/>
          </a:p>
        </p:txBody>
      </p:sp>
      <p:sp>
        <p:nvSpPr>
          <p:cNvPr id="7" name="Text 5"/>
          <p:cNvSpPr/>
          <p:nvPr/>
        </p:nvSpPr>
        <p:spPr>
          <a:xfrm>
            <a:off x="661475" y="3206651"/>
            <a:ext cx="535172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Instantiate a chat model — for example, using LangChain's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ChatOpenAI</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or another supported provider. Configure the model with the appropriate parameters (model name, temperature, etc.).</a:t>
            </a:r>
            <a:endParaRPr lang="en-US" sz="1300" dirty="0"/>
          </a:p>
        </p:txBody>
      </p:sp>
      <p:sp>
        <p:nvSpPr>
          <p:cNvPr id="8" name="Text 6"/>
          <p:cNvSpPr/>
          <p:nvPr/>
        </p:nvSpPr>
        <p:spPr>
          <a:xfrm>
            <a:off x="6178495" y="2466280"/>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02</a:t>
            </a:r>
            <a:endParaRPr lang="en-US" sz="1300" dirty="0"/>
          </a:p>
        </p:txBody>
      </p:sp>
      <p:sp>
        <p:nvSpPr>
          <p:cNvPr id="9" name="Shape 7"/>
          <p:cNvSpPr/>
          <p:nvPr/>
        </p:nvSpPr>
        <p:spPr>
          <a:xfrm>
            <a:off x="6178495" y="2728218"/>
            <a:ext cx="5351725" cy="19050"/>
          </a:xfrm>
          <a:prstGeom prst="rect">
            <a:avLst/>
          </a:prstGeom>
          <a:solidFill>
            <a:srgbClr val="1B1B27"/>
          </a:solidFill>
          <a:ln/>
        </p:spPr>
      </p:sp>
      <p:sp>
        <p:nvSpPr>
          <p:cNvPr id="10" name="Text 8"/>
          <p:cNvSpPr/>
          <p:nvPr/>
        </p:nvSpPr>
        <p:spPr>
          <a:xfrm>
            <a:off x="6178495" y="2848967"/>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Pass Relevant State to the Model</a:t>
            </a:r>
            <a:endParaRPr lang="en-US" sz="1600" dirty="0"/>
          </a:p>
        </p:txBody>
      </p:sp>
      <p:sp>
        <p:nvSpPr>
          <p:cNvPr id="11" name="Text 9"/>
          <p:cNvSpPr/>
          <p:nvPr/>
        </p:nvSpPr>
        <p:spPr>
          <a:xfrm>
            <a:off x="6178495" y="3206651"/>
            <a:ext cx="535172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Inside the node function, extract the relevant information from state — typically the full messages list — and pass it to the model. The model uses this context to reason about the current situation.</a:t>
            </a:r>
            <a:endParaRPr lang="en-US" sz="1300" dirty="0"/>
          </a:p>
        </p:txBody>
      </p:sp>
      <p:sp>
        <p:nvSpPr>
          <p:cNvPr id="12" name="Text 10"/>
          <p:cNvSpPr/>
          <p:nvPr/>
        </p:nvSpPr>
        <p:spPr>
          <a:xfrm>
            <a:off x="661475" y="4296172"/>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03</a:t>
            </a:r>
            <a:endParaRPr lang="en-US" sz="1300" dirty="0"/>
          </a:p>
        </p:txBody>
      </p:sp>
      <p:sp>
        <p:nvSpPr>
          <p:cNvPr id="13" name="Shape 11"/>
          <p:cNvSpPr/>
          <p:nvPr/>
        </p:nvSpPr>
        <p:spPr>
          <a:xfrm>
            <a:off x="661475" y="4558109"/>
            <a:ext cx="5351725" cy="19050"/>
          </a:xfrm>
          <a:prstGeom prst="rect">
            <a:avLst/>
          </a:prstGeom>
          <a:solidFill>
            <a:srgbClr val="1B1B27"/>
          </a:solidFill>
          <a:ln/>
        </p:spPr>
      </p:sp>
      <p:sp>
        <p:nvSpPr>
          <p:cNvPr id="14" name="Text 12"/>
          <p:cNvSpPr/>
          <p:nvPr/>
        </p:nvSpPr>
        <p:spPr>
          <a:xfrm>
            <a:off x="661475" y="4678859"/>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Store the Model Response in State</a:t>
            </a:r>
            <a:endParaRPr lang="en-US" sz="1600" dirty="0"/>
          </a:p>
        </p:txBody>
      </p:sp>
      <p:sp>
        <p:nvSpPr>
          <p:cNvPr id="15" name="Text 13"/>
          <p:cNvSpPr/>
          <p:nvPr/>
        </p:nvSpPr>
        <p:spPr>
          <a:xfrm>
            <a:off x="661475" y="5036542"/>
            <a:ext cx="535172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model returns an AI message. The node function returns a state update that appends this AI message to the messages list in state. LangGraph merges this update before passing state to the next node.</a:t>
            </a:r>
            <a:endParaRPr lang="en-US" sz="1300" dirty="0"/>
          </a:p>
        </p:txBody>
      </p:sp>
      <p:sp>
        <p:nvSpPr>
          <p:cNvPr id="16" name="Text 14"/>
          <p:cNvSpPr/>
          <p:nvPr/>
        </p:nvSpPr>
        <p:spPr>
          <a:xfrm>
            <a:off x="6178495" y="4296172"/>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04</a:t>
            </a:r>
            <a:endParaRPr lang="en-US" sz="1300" dirty="0"/>
          </a:p>
        </p:txBody>
      </p:sp>
      <p:sp>
        <p:nvSpPr>
          <p:cNvPr id="17" name="Shape 15"/>
          <p:cNvSpPr/>
          <p:nvPr/>
        </p:nvSpPr>
        <p:spPr>
          <a:xfrm>
            <a:off x="6178495" y="4558109"/>
            <a:ext cx="5351725" cy="19050"/>
          </a:xfrm>
          <a:prstGeom prst="rect">
            <a:avLst/>
          </a:prstGeom>
          <a:solidFill>
            <a:srgbClr val="1B1B27"/>
          </a:solidFill>
          <a:ln/>
        </p:spPr>
      </p:sp>
      <p:sp>
        <p:nvSpPr>
          <p:cNvPr id="18" name="Text 16"/>
          <p:cNvSpPr/>
          <p:nvPr/>
        </p:nvSpPr>
        <p:spPr>
          <a:xfrm>
            <a:off x="6178495" y="4678859"/>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LLM Node as the Reasoning Component</a:t>
            </a:r>
            <a:endParaRPr lang="en-US" sz="1600" dirty="0"/>
          </a:p>
        </p:txBody>
      </p:sp>
      <p:sp>
        <p:nvSpPr>
          <p:cNvPr id="19" name="Text 17"/>
          <p:cNvSpPr/>
          <p:nvPr/>
        </p:nvSpPr>
        <p:spPr>
          <a:xfrm>
            <a:off x="6178495" y="5036542"/>
            <a:ext cx="535172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LLM node is typically the central node in an agent graph. It is called at the start of each loop iteration, after every tool result, and whenever the agent needs to reason about what to do next.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61475" y="576064"/>
            <a:ext cx="10868745" cy="436066"/>
          </a:xfrm>
          <a:prstGeom prst="rect">
            <a:avLst/>
          </a:prstGeom>
          <a:noFill/>
          <a:ln/>
        </p:spPr>
        <p:txBody>
          <a:bodyPr wrap="none" lIns="0" tIns="0" rIns="0" bIns="0" rtlCol="0" anchor="t"/>
          <a:lstStyle/>
          <a:p>
            <a:pPr algn="l" indent="0" marL="0">
              <a:lnSpc>
                <a:spcPct val="104000"/>
              </a:lnSpc>
              <a:buNone/>
            </a:pPr>
            <a:r>
              <a:rPr lang="en-US" sz="2700" dirty="0">
                <a:solidFill>
                  <a:srgbClr val="1B1B27"/>
                </a:solidFill>
                <a:latin typeface="Raleway" pitchFamily="34" charset="0"/>
                <a:ea typeface="Raleway" pitchFamily="34" charset="-122"/>
                <a:cs typeface="Raleway" pitchFamily="34" charset="-120"/>
              </a:rPr>
              <a:t>Adding Tools</a:t>
            </a:r>
            <a:endParaRPr lang="en-US" sz="2700" dirty="0"/>
          </a:p>
        </p:txBody>
      </p:sp>
      <p:sp>
        <p:nvSpPr>
          <p:cNvPr id="3" name="Text 1"/>
          <p:cNvSpPr/>
          <p:nvPr/>
        </p:nvSpPr>
        <p:spPr>
          <a:xfrm>
            <a:off x="661475" y="1247577"/>
            <a:ext cx="10868745"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C3939"/>
                </a:solidFill>
                <a:latin typeface="Roboto" pitchFamily="34" charset="0"/>
                <a:ea typeface="Roboto" pitchFamily="34" charset="-122"/>
                <a:cs typeface="Roboto" pitchFamily="34" charset="-120"/>
              </a:rPr>
              <a:t>Tools extend the agent's capabilities beyond language generation. They allow the agent to take actions — performing calculations, searching the web, querying databases, or calling APIs — and incorporate the results into its reasoning.</a:t>
            </a:r>
            <a:endParaRPr lang="en-US" sz="1050" dirty="0"/>
          </a:p>
        </p:txBody>
      </p:sp>
      <p:sp>
        <p:nvSpPr>
          <p:cNvPr id="4" name="Shape 2"/>
          <p:cNvSpPr/>
          <p:nvPr/>
        </p:nvSpPr>
        <p:spPr>
          <a:xfrm>
            <a:off x="661475" y="1791791"/>
            <a:ext cx="313920" cy="313928"/>
          </a:xfrm>
          <a:prstGeom prst="roundRect">
            <a:avLst>
              <a:gd name="adj" fmla="val 18671"/>
            </a:avLst>
          </a:prstGeom>
          <a:solidFill>
            <a:srgbClr val="E1E1EA"/>
          </a:solidFill>
          <a:ln w="6350">
            <a:solidFill>
              <a:srgbClr val="C7C7D0"/>
            </a:solidFill>
            <a:prstDash val="solid"/>
          </a:ln>
        </p:spPr>
      </p:sp>
      <p:sp>
        <p:nvSpPr>
          <p:cNvPr id="5" name="Text 3"/>
          <p:cNvSpPr/>
          <p:nvPr/>
        </p:nvSpPr>
        <p:spPr>
          <a:xfrm>
            <a:off x="713811" y="1817936"/>
            <a:ext cx="209247" cy="261640"/>
          </a:xfrm>
          <a:prstGeom prst="rect">
            <a:avLst/>
          </a:prstGeom>
          <a:noFill/>
          <a:ln/>
        </p:spPr>
        <p:txBody>
          <a:bodyPr wrap="none" lIns="0" tIns="0" rIns="0" bIns="0" rtlCol="0" anchor="ctr"/>
          <a:lstStyle/>
          <a:p>
            <a:pPr algn="ctr" indent="0" marL="0">
              <a:lnSpc>
                <a:spcPct val="100000"/>
              </a:lnSpc>
              <a:buNone/>
            </a:pPr>
            <a:r>
              <a:rPr lang="en-US" sz="1600" dirty="0">
                <a:solidFill>
                  <a:srgbClr val="3C3939"/>
                </a:solidFill>
                <a:latin typeface="Raleway" pitchFamily="34" charset="0"/>
                <a:ea typeface="Raleway" pitchFamily="34" charset="-122"/>
                <a:cs typeface="Raleway" pitchFamily="34" charset="-120"/>
              </a:rPr>
              <a:t>1</a:t>
            </a:r>
            <a:endParaRPr lang="en-US" sz="1600" dirty="0"/>
          </a:p>
        </p:txBody>
      </p:sp>
      <p:sp>
        <p:nvSpPr>
          <p:cNvPr id="6" name="Text 4"/>
          <p:cNvSpPr/>
          <p:nvPr/>
        </p:nvSpPr>
        <p:spPr>
          <a:xfrm>
            <a:off x="1093066" y="1839714"/>
            <a:ext cx="10437155" cy="217984"/>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Define Tools as Python Functions</a:t>
            </a:r>
            <a:endParaRPr lang="en-US" sz="1350" dirty="0"/>
          </a:p>
        </p:txBody>
      </p:sp>
      <p:sp>
        <p:nvSpPr>
          <p:cNvPr id="7" name="Text 5"/>
          <p:cNvSpPr/>
          <p:nvPr/>
        </p:nvSpPr>
        <p:spPr>
          <a:xfrm>
            <a:off x="1093066" y="2128341"/>
            <a:ext cx="10437155"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C3939"/>
                </a:solidFill>
                <a:latin typeface="Roboto" pitchFamily="34" charset="0"/>
                <a:ea typeface="Roboto" pitchFamily="34" charset="-122"/>
                <a:cs typeface="Roboto" pitchFamily="34" charset="-120"/>
              </a:rPr>
              <a:t>Each tool is a standard Python function. The function implements the tool's logic — a calculator tool performs arithmetic, a search tool queries an external API, and so on.</a:t>
            </a:r>
            <a:endParaRPr lang="en-US" sz="1050" dirty="0"/>
          </a:p>
        </p:txBody>
      </p:sp>
      <p:sp>
        <p:nvSpPr>
          <p:cNvPr id="8" name="Shape 6"/>
          <p:cNvSpPr/>
          <p:nvPr/>
        </p:nvSpPr>
        <p:spPr>
          <a:xfrm>
            <a:off x="661475" y="2775545"/>
            <a:ext cx="313920" cy="313928"/>
          </a:xfrm>
          <a:prstGeom prst="roundRect">
            <a:avLst>
              <a:gd name="adj" fmla="val 18671"/>
            </a:avLst>
          </a:prstGeom>
          <a:solidFill>
            <a:srgbClr val="E1E1EA"/>
          </a:solidFill>
          <a:ln w="6350">
            <a:solidFill>
              <a:srgbClr val="C7C7D0"/>
            </a:solidFill>
            <a:prstDash val="solid"/>
          </a:ln>
        </p:spPr>
      </p:sp>
      <p:sp>
        <p:nvSpPr>
          <p:cNvPr id="9" name="Text 7"/>
          <p:cNvSpPr/>
          <p:nvPr/>
        </p:nvSpPr>
        <p:spPr>
          <a:xfrm>
            <a:off x="713811" y="2801689"/>
            <a:ext cx="209247" cy="261640"/>
          </a:xfrm>
          <a:prstGeom prst="rect">
            <a:avLst/>
          </a:prstGeom>
          <a:noFill/>
          <a:ln/>
        </p:spPr>
        <p:txBody>
          <a:bodyPr wrap="none" lIns="0" tIns="0" rIns="0" bIns="0" rtlCol="0" anchor="ctr"/>
          <a:lstStyle/>
          <a:p>
            <a:pPr algn="ctr" indent="0" marL="0">
              <a:lnSpc>
                <a:spcPct val="100000"/>
              </a:lnSpc>
              <a:buNone/>
            </a:pPr>
            <a:r>
              <a:rPr lang="en-US" sz="1600" dirty="0">
                <a:solidFill>
                  <a:srgbClr val="3C3939"/>
                </a:solidFill>
                <a:latin typeface="Raleway" pitchFamily="34" charset="0"/>
                <a:ea typeface="Raleway" pitchFamily="34" charset="-122"/>
                <a:cs typeface="Raleway" pitchFamily="34" charset="-120"/>
              </a:rPr>
              <a:t>2</a:t>
            </a:r>
            <a:endParaRPr lang="en-US" sz="1600" dirty="0"/>
          </a:p>
        </p:txBody>
      </p:sp>
      <p:sp>
        <p:nvSpPr>
          <p:cNvPr id="10" name="Text 8"/>
          <p:cNvSpPr/>
          <p:nvPr/>
        </p:nvSpPr>
        <p:spPr>
          <a:xfrm>
            <a:off x="1093066" y="2823468"/>
            <a:ext cx="10437155" cy="217984"/>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Provide Tool Names and Descriptions</a:t>
            </a:r>
            <a:endParaRPr lang="en-US" sz="1350" dirty="0"/>
          </a:p>
        </p:txBody>
      </p:sp>
      <p:sp>
        <p:nvSpPr>
          <p:cNvPr id="11" name="Text 9"/>
          <p:cNvSpPr/>
          <p:nvPr/>
        </p:nvSpPr>
        <p:spPr>
          <a:xfrm>
            <a:off x="1093066" y="3112095"/>
            <a:ext cx="10437155"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C3939"/>
                </a:solidFill>
                <a:latin typeface="Roboto" pitchFamily="34" charset="0"/>
                <a:ea typeface="Roboto" pitchFamily="34" charset="-122"/>
                <a:cs typeface="Roboto" pitchFamily="34" charset="-120"/>
              </a:rPr>
              <a:t>Tools must be decorated or wrapped so that LangChain can expose them to the LLM. The name and description are critical — the LLM uses them to decide when and how to call each tool.</a:t>
            </a:r>
            <a:endParaRPr lang="en-US" sz="1050" dirty="0"/>
          </a:p>
        </p:txBody>
      </p:sp>
      <p:sp>
        <p:nvSpPr>
          <p:cNvPr id="12" name="Shape 10"/>
          <p:cNvSpPr/>
          <p:nvPr/>
        </p:nvSpPr>
        <p:spPr>
          <a:xfrm>
            <a:off x="661475" y="3759299"/>
            <a:ext cx="313920" cy="313928"/>
          </a:xfrm>
          <a:prstGeom prst="roundRect">
            <a:avLst>
              <a:gd name="adj" fmla="val 18671"/>
            </a:avLst>
          </a:prstGeom>
          <a:solidFill>
            <a:srgbClr val="E1E1EA"/>
          </a:solidFill>
          <a:ln w="6350">
            <a:solidFill>
              <a:srgbClr val="C7C7D0"/>
            </a:solidFill>
            <a:prstDash val="solid"/>
          </a:ln>
        </p:spPr>
      </p:sp>
      <p:sp>
        <p:nvSpPr>
          <p:cNvPr id="13" name="Text 11"/>
          <p:cNvSpPr/>
          <p:nvPr/>
        </p:nvSpPr>
        <p:spPr>
          <a:xfrm>
            <a:off x="713811" y="3785443"/>
            <a:ext cx="209247" cy="261640"/>
          </a:xfrm>
          <a:prstGeom prst="rect">
            <a:avLst/>
          </a:prstGeom>
          <a:noFill/>
          <a:ln/>
        </p:spPr>
        <p:txBody>
          <a:bodyPr wrap="none" lIns="0" tIns="0" rIns="0" bIns="0" rtlCol="0" anchor="ctr"/>
          <a:lstStyle/>
          <a:p>
            <a:pPr algn="ctr" indent="0" marL="0">
              <a:lnSpc>
                <a:spcPct val="100000"/>
              </a:lnSpc>
              <a:buNone/>
            </a:pPr>
            <a:r>
              <a:rPr lang="en-US" sz="1600" dirty="0">
                <a:solidFill>
                  <a:srgbClr val="3C3939"/>
                </a:solidFill>
                <a:latin typeface="Raleway" pitchFamily="34" charset="0"/>
                <a:ea typeface="Raleway" pitchFamily="34" charset="-122"/>
                <a:cs typeface="Raleway" pitchFamily="34" charset="-120"/>
              </a:rPr>
              <a:t>3</a:t>
            </a:r>
            <a:endParaRPr lang="en-US" sz="1600" dirty="0"/>
          </a:p>
        </p:txBody>
      </p:sp>
      <p:sp>
        <p:nvSpPr>
          <p:cNvPr id="14" name="Text 12"/>
          <p:cNvSpPr/>
          <p:nvPr/>
        </p:nvSpPr>
        <p:spPr>
          <a:xfrm>
            <a:off x="1093066" y="3807222"/>
            <a:ext cx="10437155" cy="217984"/>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Connect Tools to the LLM</a:t>
            </a:r>
            <a:endParaRPr lang="en-US" sz="1350" dirty="0"/>
          </a:p>
        </p:txBody>
      </p:sp>
      <p:sp>
        <p:nvSpPr>
          <p:cNvPr id="15" name="Text 13"/>
          <p:cNvSpPr/>
          <p:nvPr/>
        </p:nvSpPr>
        <p:spPr>
          <a:xfrm>
            <a:off x="1093066" y="4095849"/>
            <a:ext cx="10437155" cy="212229"/>
          </a:xfrm>
          <a:prstGeom prst="rect">
            <a:avLst/>
          </a:prstGeom>
          <a:noFill/>
          <a:ln/>
        </p:spPr>
        <p:txBody>
          <a:bodyPr wrap="none" lIns="0" tIns="0" rIns="0" bIns="0" rtlCol="0" anchor="t"/>
          <a:lstStyle/>
          <a:p>
            <a:pPr algn="l" indent="0" marL="0">
              <a:lnSpc>
                <a:spcPct val="123000"/>
              </a:lnSpc>
              <a:buNone/>
            </a:pPr>
            <a:r>
              <a:rPr lang="en-US" sz="1050" dirty="0">
                <a:solidFill>
                  <a:srgbClr val="3C3939"/>
                </a:solidFill>
                <a:latin typeface="Roboto" pitchFamily="34" charset="0"/>
                <a:ea typeface="Roboto" pitchFamily="34" charset="-122"/>
                <a:cs typeface="Roboto" pitchFamily="34" charset="-120"/>
              </a:rPr>
              <a:t>Bind the list of tools to the LLM using </a:t>
            </a:r>
            <a:pPr algn="l" indent="0" marL="0">
              <a:lnSpc>
                <a:spcPct val="123000"/>
              </a:lnSpc>
              <a:buNone/>
            </a:pPr>
            <a:r>
              <a:rPr lang="en-US" sz="1050" dirty="0">
                <a:solidFill>
                  <a:srgbClr val="3C3939"/>
                </a:solidFill>
                <a:highlight>
                  <a:srgbClr val="F2F2F2"/>
                </a:highlight>
                <a:latin typeface="Consolas" pitchFamily="34" charset="0"/>
                <a:ea typeface="Consolas" pitchFamily="34" charset="-122"/>
                <a:cs typeface="Consolas" pitchFamily="34" charset="-120"/>
              </a:rPr>
              <a:t>.bind_tools(tools)</a:t>
            </a:r>
            <a:pPr algn="l" indent="0" marL="0">
              <a:lnSpc>
                <a:spcPct val="123000"/>
              </a:lnSpc>
              <a:buNone/>
            </a:pPr>
            <a:r>
              <a:rPr lang="en-US" sz="1050" dirty="0">
                <a:solidFill>
                  <a:srgbClr val="3C3939"/>
                </a:solidFill>
                <a:latin typeface="Roboto" pitchFamily="34" charset="0"/>
                <a:ea typeface="Roboto" pitchFamily="34" charset="-122"/>
                <a:cs typeface="Roboto" pitchFamily="34" charset="-120"/>
              </a:rPr>
              <a:t>. This tells the model what tools are available and enables it to produce structured tool call requests in its output.</a:t>
            </a:r>
            <a:endParaRPr lang="en-US" sz="1050" dirty="0"/>
          </a:p>
        </p:txBody>
      </p:sp>
      <p:sp>
        <p:nvSpPr>
          <p:cNvPr id="16" name="Shape 14"/>
          <p:cNvSpPr/>
          <p:nvPr/>
        </p:nvSpPr>
        <p:spPr>
          <a:xfrm>
            <a:off x="661475" y="4543524"/>
            <a:ext cx="313920" cy="313928"/>
          </a:xfrm>
          <a:prstGeom prst="roundRect">
            <a:avLst>
              <a:gd name="adj" fmla="val 18671"/>
            </a:avLst>
          </a:prstGeom>
          <a:solidFill>
            <a:srgbClr val="E1E1EA"/>
          </a:solidFill>
          <a:ln w="6350">
            <a:solidFill>
              <a:srgbClr val="C7C7D0"/>
            </a:solidFill>
            <a:prstDash val="solid"/>
          </a:ln>
        </p:spPr>
      </p:sp>
      <p:sp>
        <p:nvSpPr>
          <p:cNvPr id="17" name="Text 15"/>
          <p:cNvSpPr/>
          <p:nvPr/>
        </p:nvSpPr>
        <p:spPr>
          <a:xfrm>
            <a:off x="713811" y="4569668"/>
            <a:ext cx="209247" cy="261640"/>
          </a:xfrm>
          <a:prstGeom prst="rect">
            <a:avLst/>
          </a:prstGeom>
          <a:noFill/>
          <a:ln/>
        </p:spPr>
        <p:txBody>
          <a:bodyPr wrap="none" lIns="0" tIns="0" rIns="0" bIns="0" rtlCol="0" anchor="ctr"/>
          <a:lstStyle/>
          <a:p>
            <a:pPr algn="ctr" indent="0" marL="0">
              <a:lnSpc>
                <a:spcPct val="100000"/>
              </a:lnSpc>
              <a:buNone/>
            </a:pPr>
            <a:r>
              <a:rPr lang="en-US" sz="1600" dirty="0">
                <a:solidFill>
                  <a:srgbClr val="3C3939"/>
                </a:solidFill>
                <a:latin typeface="Raleway" pitchFamily="34" charset="0"/>
                <a:ea typeface="Raleway" pitchFamily="34" charset="-122"/>
                <a:cs typeface="Raleway" pitchFamily="34" charset="-120"/>
              </a:rPr>
              <a:t>4</a:t>
            </a:r>
            <a:endParaRPr lang="en-US" sz="1600" dirty="0"/>
          </a:p>
        </p:txBody>
      </p:sp>
      <p:sp>
        <p:nvSpPr>
          <p:cNvPr id="18" name="Text 16"/>
          <p:cNvSpPr/>
          <p:nvPr/>
        </p:nvSpPr>
        <p:spPr>
          <a:xfrm>
            <a:off x="1093066" y="4591447"/>
            <a:ext cx="10437155" cy="217984"/>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Add a Tool-Execution Node</a:t>
            </a:r>
            <a:endParaRPr lang="en-US" sz="1350" dirty="0"/>
          </a:p>
        </p:txBody>
      </p:sp>
      <p:sp>
        <p:nvSpPr>
          <p:cNvPr id="19" name="Text 17"/>
          <p:cNvSpPr/>
          <p:nvPr/>
        </p:nvSpPr>
        <p:spPr>
          <a:xfrm>
            <a:off x="1093066" y="4880074"/>
            <a:ext cx="10437155" cy="41810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C3939"/>
                </a:solidFill>
                <a:latin typeface="Roboto" pitchFamily="34" charset="0"/>
                <a:ea typeface="Roboto" pitchFamily="34" charset="-122"/>
                <a:cs typeface="Roboto" pitchFamily="34" charset="-120"/>
              </a:rPr>
              <a:t>Create a node that receives tool call requests from state, executes the appropriate tool function, and returns the results. LangGraph provides a </a:t>
            </a:r>
            <a:pPr algn="l" indent="0" marL="0">
              <a:lnSpc>
                <a:spcPct val="123000"/>
              </a:lnSpc>
              <a:buNone/>
            </a:pPr>
            <a:r>
              <a:rPr lang="en-US" sz="1050" dirty="0">
                <a:solidFill>
                  <a:srgbClr val="3C3939"/>
                </a:solidFill>
                <a:highlight>
                  <a:srgbClr val="F2F2F2"/>
                </a:highlight>
                <a:latin typeface="Consolas" pitchFamily="34" charset="0"/>
                <a:ea typeface="Consolas" pitchFamily="34" charset="-122"/>
                <a:cs typeface="Consolas" pitchFamily="34" charset="-120"/>
              </a:rPr>
              <a:t>ToolNode</a:t>
            </a:r>
            <a:pPr algn="l" indent="0" marL="0">
              <a:lnSpc>
                <a:spcPct val="123000"/>
              </a:lnSpc>
              <a:buNone/>
            </a:pPr>
            <a:r>
              <a:rPr lang="en-US" sz="1050" dirty="0">
                <a:solidFill>
                  <a:srgbClr val="3C3939"/>
                </a:solidFill>
                <a:latin typeface="Roboto" pitchFamily="34" charset="0"/>
                <a:ea typeface="Roboto" pitchFamily="34" charset="-122"/>
                <a:cs typeface="Roboto" pitchFamily="34" charset="-120"/>
              </a:rPr>
              <a:t> utility for this purpose.</a:t>
            </a:r>
            <a:endParaRPr lang="en-US" sz="1050" dirty="0"/>
          </a:p>
        </p:txBody>
      </p:sp>
      <p:sp>
        <p:nvSpPr>
          <p:cNvPr id="20" name="Shape 18"/>
          <p:cNvSpPr/>
          <p:nvPr/>
        </p:nvSpPr>
        <p:spPr>
          <a:xfrm>
            <a:off x="661475" y="5533628"/>
            <a:ext cx="313920" cy="313928"/>
          </a:xfrm>
          <a:prstGeom prst="roundRect">
            <a:avLst>
              <a:gd name="adj" fmla="val 18671"/>
            </a:avLst>
          </a:prstGeom>
          <a:solidFill>
            <a:srgbClr val="E1E1EA"/>
          </a:solidFill>
          <a:ln w="6350">
            <a:solidFill>
              <a:srgbClr val="C7C7D0"/>
            </a:solidFill>
            <a:prstDash val="solid"/>
          </a:ln>
        </p:spPr>
      </p:sp>
      <p:sp>
        <p:nvSpPr>
          <p:cNvPr id="21" name="Text 19"/>
          <p:cNvSpPr/>
          <p:nvPr/>
        </p:nvSpPr>
        <p:spPr>
          <a:xfrm>
            <a:off x="713811" y="5559772"/>
            <a:ext cx="209247" cy="261640"/>
          </a:xfrm>
          <a:prstGeom prst="rect">
            <a:avLst/>
          </a:prstGeom>
          <a:noFill/>
          <a:ln/>
        </p:spPr>
        <p:txBody>
          <a:bodyPr wrap="none" lIns="0" tIns="0" rIns="0" bIns="0" rtlCol="0" anchor="ctr"/>
          <a:lstStyle/>
          <a:p>
            <a:pPr algn="ctr" indent="0" marL="0">
              <a:lnSpc>
                <a:spcPct val="100000"/>
              </a:lnSpc>
              <a:buNone/>
            </a:pPr>
            <a:r>
              <a:rPr lang="en-US" sz="1600" dirty="0">
                <a:solidFill>
                  <a:srgbClr val="3C3939"/>
                </a:solidFill>
                <a:latin typeface="Raleway" pitchFamily="34" charset="0"/>
                <a:ea typeface="Raleway" pitchFamily="34" charset="-122"/>
                <a:cs typeface="Raleway" pitchFamily="34" charset="-120"/>
              </a:rPr>
              <a:t>5</a:t>
            </a:r>
            <a:endParaRPr lang="en-US" sz="1600" dirty="0"/>
          </a:p>
        </p:txBody>
      </p:sp>
      <p:sp>
        <p:nvSpPr>
          <p:cNvPr id="22" name="Text 20"/>
          <p:cNvSpPr/>
          <p:nvPr/>
        </p:nvSpPr>
        <p:spPr>
          <a:xfrm>
            <a:off x="1093066" y="5581551"/>
            <a:ext cx="10437155" cy="217984"/>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Return Tool Results to Graph State</a:t>
            </a:r>
            <a:endParaRPr lang="en-US" sz="1350" dirty="0"/>
          </a:p>
        </p:txBody>
      </p:sp>
      <p:sp>
        <p:nvSpPr>
          <p:cNvPr id="23" name="Text 21"/>
          <p:cNvSpPr/>
          <p:nvPr/>
        </p:nvSpPr>
        <p:spPr>
          <a:xfrm>
            <a:off x="1093066" y="5870178"/>
            <a:ext cx="10437155"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C3939"/>
                </a:solidFill>
                <a:latin typeface="Roboto" pitchFamily="34" charset="0"/>
                <a:ea typeface="Roboto" pitchFamily="34" charset="-122"/>
                <a:cs typeface="Roboto" pitchFamily="34" charset="-120"/>
              </a:rPr>
              <a:t>The tool node adds tool messages to the messages list in state. These messages carry the tool's output back to the LLM node, which can then reason over the results in the next loop iteration.</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Tool-Calling Graph</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The tool-calling graph is the standard pattern for a LangGraph agent that uses tools. It combines the LLM node, the tool node, and conditional routing into a loop that repeats until the agent has no further tool calls to make.</a:t>
            </a:r>
            <a:endParaRPr lang="en-US" sz="650" dirty="0"/>
          </a:p>
        </p:txBody>
      </p:sp>
      <p:pic>
        <p:nvPicPr>
          <p:cNvPr id="4" name="Image 0" descr="preencoded.png">    </p:cNvPr>
          <p:cNvPicPr>
            <a:picLocks noChangeAspect="1"/>
          </p:cNvPicPr>
          <p:nvPr/>
        </p:nvPicPr>
        <p:blipFill>
          <a:blip r:embed="rId1"/>
          <a:stretch>
            <a:fillRect/>
          </a:stretch>
        </p:blipFill>
        <p:spPr>
          <a:xfrm>
            <a:off x="749281" y="941487"/>
            <a:ext cx="10693132" cy="5256709"/>
          </a:xfrm>
          <a:prstGeom prst="rect">
            <a:avLst/>
          </a:prstGeom>
        </p:spPr>
      </p:pic>
      <p:sp>
        <p:nvSpPr>
          <p:cNvPr id="5" name="Text 2"/>
          <p:cNvSpPr/>
          <p:nvPr/>
        </p:nvSpPr>
        <p:spPr>
          <a:xfrm>
            <a:off x="5981706" y="1434302"/>
            <a:ext cx="2445432"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End Loop</a:t>
            </a:r>
            <a:endParaRPr lang="en-US" sz="1900" dirty="0"/>
          </a:p>
        </p:txBody>
      </p:sp>
      <p:sp>
        <p:nvSpPr>
          <p:cNvPr id="6" name="Text 3"/>
          <p:cNvSpPr/>
          <p:nvPr/>
        </p:nvSpPr>
        <p:spPr>
          <a:xfrm>
            <a:off x="5981706" y="1826939"/>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No tool call needed — finish</a:t>
            </a:r>
            <a:endParaRPr lang="en-US" sz="1500" dirty="0"/>
          </a:p>
        </p:txBody>
      </p:sp>
      <p:sp>
        <p:nvSpPr>
          <p:cNvPr id="7" name="Text 4"/>
          <p:cNvSpPr/>
          <p:nvPr/>
        </p:nvSpPr>
        <p:spPr>
          <a:xfrm>
            <a:off x="5981706" y="2662483"/>
            <a:ext cx="2445432"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Invoke Tool</a:t>
            </a:r>
            <a:endParaRPr lang="en-US" sz="1900" dirty="0"/>
          </a:p>
        </p:txBody>
      </p:sp>
      <p:sp>
        <p:nvSpPr>
          <p:cNvPr id="8" name="Text 5"/>
          <p:cNvSpPr/>
          <p:nvPr/>
        </p:nvSpPr>
        <p:spPr>
          <a:xfrm>
            <a:off x="5981706" y="3055121"/>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Call tool, return result to LLM</a:t>
            </a:r>
            <a:endParaRPr lang="en-US" sz="1500" dirty="0"/>
          </a:p>
        </p:txBody>
      </p:sp>
      <p:sp>
        <p:nvSpPr>
          <p:cNvPr id="9" name="Text 6"/>
          <p:cNvSpPr/>
          <p:nvPr/>
        </p:nvSpPr>
        <p:spPr>
          <a:xfrm>
            <a:off x="5981706" y="3890664"/>
            <a:ext cx="2445432"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Check Tool Need</a:t>
            </a:r>
            <a:endParaRPr lang="en-US" sz="1900" dirty="0"/>
          </a:p>
        </p:txBody>
      </p:sp>
      <p:sp>
        <p:nvSpPr>
          <p:cNvPr id="10" name="Text 7"/>
          <p:cNvSpPr/>
          <p:nvPr/>
        </p:nvSpPr>
        <p:spPr>
          <a:xfrm>
            <a:off x="5981706" y="4283302"/>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Conditional: tool call required?</a:t>
            </a:r>
            <a:endParaRPr lang="en-US" sz="1500" dirty="0"/>
          </a:p>
        </p:txBody>
      </p:sp>
      <p:sp>
        <p:nvSpPr>
          <p:cNvPr id="11" name="Text 8"/>
          <p:cNvSpPr/>
          <p:nvPr/>
        </p:nvSpPr>
        <p:spPr>
          <a:xfrm>
            <a:off x="5992575" y="5118845"/>
            <a:ext cx="2445433"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Receive Input</a:t>
            </a:r>
            <a:endParaRPr lang="en-US" sz="1900" dirty="0"/>
          </a:p>
        </p:txBody>
      </p:sp>
      <p:sp>
        <p:nvSpPr>
          <p:cNvPr id="12" name="Text 9"/>
          <p:cNvSpPr/>
          <p:nvPr/>
        </p:nvSpPr>
        <p:spPr>
          <a:xfrm>
            <a:off x="5992575" y="5511483"/>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User input enters LLM node</a:t>
            </a:r>
            <a:endParaRPr lang="en-US" sz="1500" dirty="0"/>
          </a:p>
        </p:txBody>
      </p:sp>
      <p:sp>
        <p:nvSpPr>
          <p:cNvPr id="13" name="Shape 10"/>
          <p:cNvSpPr/>
          <p:nvPr/>
        </p:nvSpPr>
        <p:spPr>
          <a:xfrm>
            <a:off x="661475" y="6244630"/>
            <a:ext cx="5413736" cy="530225"/>
          </a:xfrm>
          <a:prstGeom prst="roundRect">
            <a:avLst>
              <a:gd name="adj" fmla="val 6550"/>
            </a:avLst>
          </a:prstGeom>
          <a:solidFill>
            <a:srgbClr val="E1E1EA"/>
          </a:solidFill>
          <a:ln w="6350">
            <a:solidFill>
              <a:srgbClr val="C7C7D0"/>
            </a:solidFill>
            <a:prstDash val="solid"/>
          </a:ln>
        </p:spPr>
      </p:sp>
      <p:sp>
        <p:nvSpPr>
          <p:cNvPr id="14" name="Text 11"/>
          <p:cNvSpPr/>
          <p:nvPr/>
        </p:nvSpPr>
        <p:spPr>
          <a:xfrm>
            <a:off x="750472" y="6333629"/>
            <a:ext cx="5235742" cy="129183"/>
          </a:xfrm>
          <a:prstGeom prst="rect">
            <a:avLst/>
          </a:prstGeom>
          <a:noFill/>
          <a:ln/>
        </p:spPr>
        <p:txBody>
          <a:bodyPr wrap="none" lIns="0" tIns="0" rIns="0" bIns="0" rtlCol="0" anchor="t"/>
          <a:lstStyle/>
          <a:p>
            <a:pPr algn="l" indent="0" marL="0">
              <a:lnSpc>
                <a:spcPct val="104000"/>
              </a:lnSpc>
              <a:buNone/>
            </a:pPr>
            <a:r>
              <a:rPr lang="en-US" sz="800" dirty="0">
                <a:solidFill>
                  <a:srgbClr val="3C3939"/>
                </a:solidFill>
                <a:latin typeface="Raleway" pitchFamily="34" charset="0"/>
                <a:ea typeface="Raleway" pitchFamily="34" charset="-122"/>
                <a:cs typeface="Raleway" pitchFamily="34" charset="-120"/>
              </a:rPr>
              <a:t>User → LLM Node</a:t>
            </a:r>
            <a:endParaRPr lang="en-US" sz="800" dirty="0"/>
          </a:p>
        </p:txBody>
      </p:sp>
      <p:sp>
        <p:nvSpPr>
          <p:cNvPr id="15" name="Text 12"/>
          <p:cNvSpPr/>
          <p:nvPr/>
        </p:nvSpPr>
        <p:spPr>
          <a:xfrm>
            <a:off x="750472" y="6487616"/>
            <a:ext cx="5235742"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The user's request enters state as a human message. The LLM node reasons over the message history and produces a response — either a direct answer or a tool call.</a:t>
            </a:r>
            <a:endParaRPr lang="en-US" sz="650" dirty="0"/>
          </a:p>
        </p:txBody>
      </p:sp>
      <p:sp>
        <p:nvSpPr>
          <p:cNvPr id="16" name="Shape 13"/>
          <p:cNvSpPr/>
          <p:nvPr/>
        </p:nvSpPr>
        <p:spPr>
          <a:xfrm>
            <a:off x="6116484" y="6244630"/>
            <a:ext cx="5413736" cy="530225"/>
          </a:xfrm>
          <a:prstGeom prst="roundRect">
            <a:avLst>
              <a:gd name="adj" fmla="val 6550"/>
            </a:avLst>
          </a:prstGeom>
          <a:solidFill>
            <a:srgbClr val="E1E1EA"/>
          </a:solidFill>
          <a:ln w="6350">
            <a:solidFill>
              <a:srgbClr val="C7C7D0"/>
            </a:solidFill>
            <a:prstDash val="solid"/>
          </a:ln>
        </p:spPr>
      </p:sp>
      <p:sp>
        <p:nvSpPr>
          <p:cNvPr id="17" name="Text 14"/>
          <p:cNvSpPr/>
          <p:nvPr/>
        </p:nvSpPr>
        <p:spPr>
          <a:xfrm>
            <a:off x="6205481" y="6333629"/>
            <a:ext cx="5235742" cy="129183"/>
          </a:xfrm>
          <a:prstGeom prst="rect">
            <a:avLst/>
          </a:prstGeom>
          <a:noFill/>
          <a:ln/>
        </p:spPr>
        <p:txBody>
          <a:bodyPr wrap="none" lIns="0" tIns="0" rIns="0" bIns="0" rtlCol="0" anchor="t"/>
          <a:lstStyle/>
          <a:p>
            <a:pPr algn="l" indent="0" marL="0">
              <a:lnSpc>
                <a:spcPct val="104000"/>
              </a:lnSpc>
              <a:buNone/>
            </a:pPr>
            <a:r>
              <a:rPr lang="en-US" sz="800" dirty="0">
                <a:solidFill>
                  <a:srgbClr val="3C3939"/>
                </a:solidFill>
                <a:latin typeface="Raleway" pitchFamily="34" charset="0"/>
                <a:ea typeface="Raleway" pitchFamily="34" charset="-122"/>
                <a:cs typeface="Raleway" pitchFamily="34" charset="-120"/>
              </a:rPr>
              <a:t>No Tool Call → END</a:t>
            </a:r>
            <a:endParaRPr lang="en-US" sz="800" dirty="0"/>
          </a:p>
        </p:txBody>
      </p:sp>
      <p:sp>
        <p:nvSpPr>
          <p:cNvPr id="18" name="Text 15"/>
          <p:cNvSpPr/>
          <p:nvPr/>
        </p:nvSpPr>
        <p:spPr>
          <a:xfrm>
            <a:off x="6205481" y="6487616"/>
            <a:ext cx="5235742"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If the LLM's response contains no tool call, the agent has finished. The conditional edge routes to END and the final state is returned to the caller.</a:t>
            </a:r>
            <a:endParaRPr lang="en-US" sz="650" dirty="0"/>
          </a:p>
        </p:txBody>
      </p:sp>
      <p:sp>
        <p:nvSpPr>
          <p:cNvPr id="19" name="Shape 16"/>
          <p:cNvSpPr/>
          <p:nvPr/>
        </p:nvSpPr>
        <p:spPr>
          <a:xfrm>
            <a:off x="661475" y="6816130"/>
            <a:ext cx="5413736" cy="530225"/>
          </a:xfrm>
          <a:prstGeom prst="roundRect">
            <a:avLst>
              <a:gd name="adj" fmla="val 6550"/>
            </a:avLst>
          </a:prstGeom>
          <a:solidFill>
            <a:srgbClr val="E1E1EA"/>
          </a:solidFill>
          <a:ln w="6350">
            <a:solidFill>
              <a:srgbClr val="C7C7D0"/>
            </a:solidFill>
            <a:prstDash val="solid"/>
          </a:ln>
        </p:spPr>
      </p:sp>
      <p:sp>
        <p:nvSpPr>
          <p:cNvPr id="20" name="Text 17"/>
          <p:cNvSpPr/>
          <p:nvPr/>
        </p:nvSpPr>
        <p:spPr>
          <a:xfrm>
            <a:off x="750472" y="6905129"/>
            <a:ext cx="5235742" cy="129183"/>
          </a:xfrm>
          <a:prstGeom prst="rect">
            <a:avLst/>
          </a:prstGeom>
          <a:noFill/>
          <a:ln/>
        </p:spPr>
        <p:txBody>
          <a:bodyPr wrap="none" lIns="0" tIns="0" rIns="0" bIns="0" rtlCol="0" anchor="t"/>
          <a:lstStyle/>
          <a:p>
            <a:pPr algn="l" indent="0" marL="0">
              <a:lnSpc>
                <a:spcPct val="104000"/>
              </a:lnSpc>
              <a:buNone/>
            </a:pPr>
            <a:r>
              <a:rPr lang="en-US" sz="800" dirty="0">
                <a:solidFill>
                  <a:srgbClr val="3C3939"/>
                </a:solidFill>
                <a:latin typeface="Raleway" pitchFamily="34" charset="0"/>
                <a:ea typeface="Raleway" pitchFamily="34" charset="-122"/>
                <a:cs typeface="Raleway" pitchFamily="34" charset="-120"/>
              </a:rPr>
              <a:t>Tool Call → Tool Node → LLM Node</a:t>
            </a:r>
            <a:endParaRPr lang="en-US" sz="800" dirty="0"/>
          </a:p>
        </p:txBody>
      </p:sp>
      <p:sp>
        <p:nvSpPr>
          <p:cNvPr id="21" name="Text 18"/>
          <p:cNvSpPr/>
          <p:nvPr/>
        </p:nvSpPr>
        <p:spPr>
          <a:xfrm>
            <a:off x="750472" y="7059116"/>
            <a:ext cx="5235742"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If the LLM's response contains a tool call, the conditional edge routes to the Tool Node. The tool executes, its result is added to state, and execution returns to the LLM Node for further reasoning.</a:t>
            </a:r>
            <a:endParaRPr lang="en-US" sz="650" dirty="0"/>
          </a:p>
        </p:txBody>
      </p:sp>
      <p:sp>
        <p:nvSpPr>
          <p:cNvPr id="22" name="Shape 19"/>
          <p:cNvSpPr/>
          <p:nvPr/>
        </p:nvSpPr>
        <p:spPr>
          <a:xfrm>
            <a:off x="6116484" y="6816130"/>
            <a:ext cx="5413736" cy="530225"/>
          </a:xfrm>
          <a:prstGeom prst="roundRect">
            <a:avLst>
              <a:gd name="adj" fmla="val 6550"/>
            </a:avLst>
          </a:prstGeom>
          <a:solidFill>
            <a:srgbClr val="E1E1EA"/>
          </a:solidFill>
          <a:ln w="6350">
            <a:solidFill>
              <a:srgbClr val="C7C7D0"/>
            </a:solidFill>
            <a:prstDash val="solid"/>
          </a:ln>
        </p:spPr>
      </p:sp>
      <p:sp>
        <p:nvSpPr>
          <p:cNvPr id="23" name="Text 20"/>
          <p:cNvSpPr/>
          <p:nvPr/>
        </p:nvSpPr>
        <p:spPr>
          <a:xfrm>
            <a:off x="6205481" y="6905129"/>
            <a:ext cx="5235742" cy="129183"/>
          </a:xfrm>
          <a:prstGeom prst="rect">
            <a:avLst/>
          </a:prstGeom>
          <a:noFill/>
          <a:ln/>
        </p:spPr>
        <p:txBody>
          <a:bodyPr wrap="none" lIns="0" tIns="0" rIns="0" bIns="0" rtlCol="0" anchor="t"/>
          <a:lstStyle/>
          <a:p>
            <a:pPr algn="l" indent="0" marL="0">
              <a:lnSpc>
                <a:spcPct val="104000"/>
              </a:lnSpc>
              <a:buNone/>
            </a:pPr>
            <a:r>
              <a:rPr lang="en-US" sz="800" dirty="0">
                <a:solidFill>
                  <a:srgbClr val="3C3939"/>
                </a:solidFill>
                <a:latin typeface="Raleway" pitchFamily="34" charset="0"/>
                <a:ea typeface="Raleway" pitchFamily="34" charset="-122"/>
                <a:cs typeface="Raleway" pitchFamily="34" charset="-120"/>
              </a:rPr>
              <a:t>Repeat Until Complete</a:t>
            </a:r>
            <a:endParaRPr lang="en-US" sz="800" dirty="0"/>
          </a:p>
        </p:txBody>
      </p:sp>
      <p:sp>
        <p:nvSpPr>
          <p:cNvPr id="24" name="Text 21"/>
          <p:cNvSpPr/>
          <p:nvPr/>
        </p:nvSpPr>
        <p:spPr>
          <a:xfrm>
            <a:off x="6205481" y="7059116"/>
            <a:ext cx="5235742"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The loop continues — LLM reasons, tool executes, result is added to state — until the LLM produces a response with no tool call, at which point the graph terminates.</a:t>
            </a:r>
            <a:endParaRPr lang="en-US" sz="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61475" y="768052"/>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Conditional Routing Logic</a:t>
            </a:r>
            <a:endParaRPr lang="en-US" sz="3250" dirty="0"/>
          </a:p>
        </p:txBody>
      </p:sp>
      <p:sp>
        <p:nvSpPr>
          <p:cNvPr id="3" name="Text 1"/>
          <p:cNvSpPr/>
          <p:nvPr/>
        </p:nvSpPr>
        <p:spPr>
          <a:xfrm>
            <a:off x="661475" y="1615480"/>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Conditional routing is implemented as a function that inspects the current state and returns the name of the next node. This function is registered with the graph as a conditional edge.</a:t>
            </a:r>
            <a:endParaRPr lang="en-US" sz="1300" dirty="0"/>
          </a:p>
        </p:txBody>
      </p:sp>
      <p:sp>
        <p:nvSpPr>
          <p:cNvPr id="4" name="Text 2"/>
          <p:cNvSpPr/>
          <p:nvPr/>
        </p:nvSpPr>
        <p:spPr>
          <a:xfrm>
            <a:off x="661475" y="2330748"/>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01</a:t>
            </a:r>
            <a:endParaRPr lang="en-US" sz="1300" dirty="0"/>
          </a:p>
        </p:txBody>
      </p:sp>
      <p:sp>
        <p:nvSpPr>
          <p:cNvPr id="5" name="Shape 3"/>
          <p:cNvSpPr/>
          <p:nvPr/>
        </p:nvSpPr>
        <p:spPr>
          <a:xfrm>
            <a:off x="661475" y="2592685"/>
            <a:ext cx="5351725" cy="19050"/>
          </a:xfrm>
          <a:prstGeom prst="rect">
            <a:avLst/>
          </a:prstGeom>
          <a:solidFill>
            <a:srgbClr val="1B1B27"/>
          </a:solidFill>
          <a:ln/>
        </p:spPr>
      </p:sp>
      <p:sp>
        <p:nvSpPr>
          <p:cNvPr id="6" name="Text 4"/>
          <p:cNvSpPr/>
          <p:nvPr/>
        </p:nvSpPr>
        <p:spPr>
          <a:xfrm>
            <a:off x="661475" y="2713434"/>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Inspect the Latest AI Message</a:t>
            </a:r>
            <a:endParaRPr lang="en-US" sz="1600" dirty="0"/>
          </a:p>
        </p:txBody>
      </p:sp>
      <p:sp>
        <p:nvSpPr>
          <p:cNvPr id="7" name="Text 5"/>
          <p:cNvSpPr/>
          <p:nvPr/>
        </p:nvSpPr>
        <p:spPr>
          <a:xfrm>
            <a:off x="661475" y="3071118"/>
            <a:ext cx="535172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routing function retrieves the most recent message from the messages list in state. This is the AI message produced by the LLM node in the current loop iteration.</a:t>
            </a:r>
            <a:endParaRPr lang="en-US" sz="1300" dirty="0"/>
          </a:p>
        </p:txBody>
      </p:sp>
      <p:sp>
        <p:nvSpPr>
          <p:cNvPr id="8" name="Text 6"/>
          <p:cNvSpPr/>
          <p:nvPr/>
        </p:nvSpPr>
        <p:spPr>
          <a:xfrm>
            <a:off x="6178495" y="2330748"/>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02</a:t>
            </a:r>
            <a:endParaRPr lang="en-US" sz="1300" dirty="0"/>
          </a:p>
        </p:txBody>
      </p:sp>
      <p:sp>
        <p:nvSpPr>
          <p:cNvPr id="9" name="Shape 7"/>
          <p:cNvSpPr/>
          <p:nvPr/>
        </p:nvSpPr>
        <p:spPr>
          <a:xfrm>
            <a:off x="6178495" y="2592685"/>
            <a:ext cx="5351725" cy="19050"/>
          </a:xfrm>
          <a:prstGeom prst="rect">
            <a:avLst/>
          </a:prstGeom>
          <a:solidFill>
            <a:srgbClr val="1B1B27"/>
          </a:solidFill>
          <a:ln/>
        </p:spPr>
      </p:sp>
      <p:sp>
        <p:nvSpPr>
          <p:cNvPr id="10" name="Text 8"/>
          <p:cNvSpPr/>
          <p:nvPr/>
        </p:nvSpPr>
        <p:spPr>
          <a:xfrm>
            <a:off x="6178495" y="2713434"/>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Determine Whether It Contains a Tool Call</a:t>
            </a:r>
            <a:endParaRPr lang="en-US" sz="1600" dirty="0"/>
          </a:p>
        </p:txBody>
      </p:sp>
      <p:sp>
        <p:nvSpPr>
          <p:cNvPr id="11" name="Text 9"/>
          <p:cNvSpPr/>
          <p:nvPr/>
        </p:nvSpPr>
        <p:spPr>
          <a:xfrm>
            <a:off x="6178495" y="3071118"/>
            <a:ext cx="535172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routing function checks whether the AI message contains a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tool_calls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attribute with one or more tool call objects. If it does, the agent needs to execute a tool. If it does not, the agent is finished.</a:t>
            </a:r>
            <a:endParaRPr lang="en-US" sz="1300" dirty="0"/>
          </a:p>
        </p:txBody>
      </p:sp>
      <p:sp>
        <p:nvSpPr>
          <p:cNvPr id="12" name="Text 10"/>
          <p:cNvSpPr/>
          <p:nvPr/>
        </p:nvSpPr>
        <p:spPr>
          <a:xfrm>
            <a:off x="661475" y="4160639"/>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03</a:t>
            </a:r>
            <a:endParaRPr lang="en-US" sz="1300" dirty="0"/>
          </a:p>
        </p:txBody>
      </p:sp>
      <p:sp>
        <p:nvSpPr>
          <p:cNvPr id="13" name="Shape 11"/>
          <p:cNvSpPr/>
          <p:nvPr/>
        </p:nvSpPr>
        <p:spPr>
          <a:xfrm>
            <a:off x="661475" y="4422577"/>
            <a:ext cx="5351725" cy="19050"/>
          </a:xfrm>
          <a:prstGeom prst="rect">
            <a:avLst/>
          </a:prstGeom>
          <a:solidFill>
            <a:srgbClr val="1B1B27"/>
          </a:solidFill>
          <a:ln/>
        </p:spPr>
      </p:sp>
      <p:sp>
        <p:nvSpPr>
          <p:cNvPr id="14" name="Text 12"/>
          <p:cNvSpPr/>
          <p:nvPr/>
        </p:nvSpPr>
        <p:spPr>
          <a:xfrm>
            <a:off x="661475" y="4543326"/>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Route to the Appropriate Node</a:t>
            </a:r>
            <a:endParaRPr lang="en-US" sz="1600" dirty="0"/>
          </a:p>
        </p:txBody>
      </p:sp>
      <p:sp>
        <p:nvSpPr>
          <p:cNvPr id="15" name="Text 13"/>
          <p:cNvSpPr/>
          <p:nvPr/>
        </p:nvSpPr>
        <p:spPr>
          <a:xfrm>
            <a:off x="661475" y="4901009"/>
            <a:ext cx="5351725" cy="106481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Based on the inspection result, the routing function returns a string: the name of the tool node (if a tool call was found) or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"__end__"</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END</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(if no tool call was found). LangGraph uses this return value to select the next node.</a:t>
            </a:r>
            <a:endParaRPr lang="en-US" sz="1300" dirty="0"/>
          </a:p>
        </p:txBody>
      </p:sp>
      <p:sp>
        <p:nvSpPr>
          <p:cNvPr id="16" name="Text 14"/>
          <p:cNvSpPr/>
          <p:nvPr/>
        </p:nvSpPr>
        <p:spPr>
          <a:xfrm>
            <a:off x="6178495" y="4160639"/>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04</a:t>
            </a:r>
            <a:endParaRPr lang="en-US" sz="1300" dirty="0"/>
          </a:p>
        </p:txBody>
      </p:sp>
      <p:sp>
        <p:nvSpPr>
          <p:cNvPr id="17" name="Shape 15"/>
          <p:cNvSpPr/>
          <p:nvPr/>
        </p:nvSpPr>
        <p:spPr>
          <a:xfrm>
            <a:off x="6178495" y="4422577"/>
            <a:ext cx="5351725" cy="19050"/>
          </a:xfrm>
          <a:prstGeom prst="rect">
            <a:avLst/>
          </a:prstGeom>
          <a:solidFill>
            <a:srgbClr val="1B1B27"/>
          </a:solidFill>
          <a:ln/>
        </p:spPr>
      </p:sp>
      <p:sp>
        <p:nvSpPr>
          <p:cNvPr id="18" name="Text 16"/>
          <p:cNvSpPr/>
          <p:nvPr/>
        </p:nvSpPr>
        <p:spPr>
          <a:xfrm>
            <a:off x="6178495" y="4543326"/>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Continue Until No Additional Tool Call is Required</a:t>
            </a:r>
            <a:endParaRPr lang="en-US" sz="1600" dirty="0"/>
          </a:p>
        </p:txBody>
      </p:sp>
      <p:sp>
        <p:nvSpPr>
          <p:cNvPr id="19" name="Text 17"/>
          <p:cNvSpPr/>
          <p:nvPr/>
        </p:nvSpPr>
        <p:spPr>
          <a:xfrm>
            <a:off x="6178495" y="4901009"/>
            <a:ext cx="535172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routing function is called after every LLM node execution. The loop continues as long as the LLM keeps producing tool calls. When the LLM produces a response with no tool call, the routing function returns END and the graph terminates.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61475" y="782042"/>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Example: Calculator Agent</a:t>
            </a:r>
            <a:endParaRPr lang="en-US" sz="3250" dirty="0"/>
          </a:p>
        </p:txBody>
      </p:sp>
      <p:sp>
        <p:nvSpPr>
          <p:cNvPr id="3" name="Text 1"/>
          <p:cNvSpPr/>
          <p:nvPr/>
        </p:nvSpPr>
        <p:spPr>
          <a:xfrm>
            <a:off x="661475" y="1629470"/>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calculator agent is a concrete illustration of the tool-calling loop. It demonstrates how an LLM identifies the need for a tool, delegates the computation, and incorporates the result into a final response.</a:t>
            </a:r>
            <a:endParaRPr lang="en-US" sz="1300" dirty="0"/>
          </a:p>
        </p:txBody>
      </p:sp>
      <p:sp>
        <p:nvSpPr>
          <p:cNvPr id="4" name="Shape 2"/>
          <p:cNvSpPr/>
          <p:nvPr/>
        </p:nvSpPr>
        <p:spPr>
          <a:xfrm>
            <a:off x="542415" y="2344738"/>
            <a:ext cx="5470785" cy="3731220"/>
          </a:xfrm>
          <a:prstGeom prst="roundRect">
            <a:avLst>
              <a:gd name="adj" fmla="val 3191"/>
            </a:avLst>
          </a:prstGeom>
          <a:solidFill>
            <a:srgbClr val="1B1B27">
              <a:alpha val="95000"/>
            </a:srgbClr>
          </a:solidFill>
          <a:ln/>
        </p:spPr>
      </p:sp>
      <p:sp>
        <p:nvSpPr>
          <p:cNvPr id="5" name="Text 3"/>
          <p:cNvSpPr/>
          <p:nvPr/>
        </p:nvSpPr>
        <p:spPr>
          <a:xfrm>
            <a:off x="707710" y="2510036"/>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FFFFFF"/>
                </a:solidFill>
                <a:latin typeface="Raleway" pitchFamily="34" charset="0"/>
                <a:ea typeface="Raleway" pitchFamily="34" charset="-122"/>
                <a:cs typeface="Raleway" pitchFamily="34" charset="-120"/>
              </a:rPr>
              <a:t>The Task</a:t>
            </a:r>
            <a:endParaRPr lang="en-US" sz="1600" dirty="0"/>
          </a:p>
        </p:txBody>
      </p:sp>
      <p:sp>
        <p:nvSpPr>
          <p:cNvPr id="6" name="Text 4"/>
          <p:cNvSpPr/>
          <p:nvPr/>
        </p:nvSpPr>
        <p:spPr>
          <a:xfrm>
            <a:off x="707710" y="2933799"/>
            <a:ext cx="5140196" cy="1471910"/>
          </a:xfrm>
          <a:prstGeom prst="rect">
            <a:avLst/>
          </a:prstGeom>
          <a:noFill/>
          <a:ln/>
        </p:spPr>
        <p:txBody>
          <a:bodyPr wrap="square" lIns="0" tIns="0" rIns="0" bIns="0" rtlCol="0" anchor="t"/>
          <a:lstStyle/>
          <a:p>
            <a:pPr algn="l" indent="0" marL="0">
              <a:lnSpc>
                <a:spcPct val="133000"/>
              </a:lnSpc>
              <a:spcAft>
                <a:spcPts val="1150"/>
              </a:spcAft>
              <a:buNone/>
            </a:pPr>
            <a:r>
              <a:rPr lang="en-US" sz="1300" b="1" dirty="0">
                <a:solidFill>
                  <a:srgbClr val="FFFFFF"/>
                </a:solidFill>
                <a:latin typeface="Roboto Bold" pitchFamily="34" charset="0"/>
                <a:ea typeface="Roboto Bold" pitchFamily="34" charset="-122"/>
                <a:cs typeface="Roboto Bold" pitchFamily="34" charset="-120"/>
              </a:rPr>
              <a:t>User: "What is 18% of ₹75,000?"</a:t>
            </a:r>
            <a:endParaRPr lang="en-US" sz="1300" dirty="0"/>
          </a:p>
          <a:p>
            <a:pPr algn="l" indent="0" marL="0">
              <a:lnSpc>
                <a:spcPct val="133000"/>
              </a:lnSpc>
              <a:buNone/>
            </a:pPr>
            <a:r>
              <a:rPr lang="en-US" sz="1300" dirty="0">
                <a:solidFill>
                  <a:srgbClr val="FFFFFF"/>
                </a:solidFill>
                <a:latin typeface="Roboto" pitchFamily="34" charset="0"/>
                <a:ea typeface="Roboto" pitchFamily="34" charset="-122"/>
                <a:cs typeface="Roboto" pitchFamily="34" charset="-120"/>
              </a:rPr>
              <a:t>This is a straightforward arithmetic question. While an LLM could attempt to answer directly, a well-designed agent recognizes that precise calculation should be delegated to a tool rather than relying on the model's arithmetic.</a:t>
            </a:r>
            <a:endParaRPr lang="en-US" sz="1300" dirty="0"/>
          </a:p>
        </p:txBody>
      </p:sp>
      <p:sp>
        <p:nvSpPr>
          <p:cNvPr id="7" name="Text 5"/>
          <p:cNvSpPr/>
          <p:nvPr/>
        </p:nvSpPr>
        <p:spPr>
          <a:xfrm>
            <a:off x="6303904" y="2510036"/>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Execution Trace</a:t>
            </a:r>
            <a:endParaRPr lang="en-US" sz="1600" dirty="0"/>
          </a:p>
        </p:txBody>
      </p:sp>
      <p:sp>
        <p:nvSpPr>
          <p:cNvPr id="8" name="Text 6"/>
          <p:cNvSpPr/>
          <p:nvPr/>
        </p:nvSpPr>
        <p:spPr>
          <a:xfrm>
            <a:off x="6303904" y="2933799"/>
            <a:ext cx="5232666" cy="3084314"/>
          </a:xfrm>
          <a:prstGeom prst="rect">
            <a:avLst/>
          </a:prstGeom>
          <a:noFill/>
          <a:ln/>
        </p:spPr>
        <p:txBody>
          <a:bodyPr wrap="square" lIns="0" tIns="0" rIns="0" bIns="0" rtlCol="0" anchor="t">
            <a:normAutofit/>
          </a:bodyPr>
          <a:lstStyle/>
          <a:p>
            <a:pPr algn="l" marL="264160" indent="-264160">
              <a:lnSpc>
                <a:spcPct val="133000"/>
              </a:lnSpc>
              <a:buSzPct val="100000"/>
              <a:buFont typeface="+mj-lt"/>
              <a:buAutoNum type="arabicPeriod" startAt="1"/>
            </a:pPr>
            <a:r>
              <a:rPr lang="en-US" sz="1300" b="1" dirty="0">
                <a:solidFill>
                  <a:srgbClr val="3C3939"/>
                </a:solidFill>
                <a:latin typeface="Roboto Bold" pitchFamily="34" charset="0"/>
                <a:ea typeface="Roboto Bold" pitchFamily="34" charset="-122"/>
                <a:cs typeface="Roboto Bold" pitchFamily="34" charset="-120"/>
              </a:rPr>
              <a:t>LLM identifies that calculation is required</a:t>
            </a:r>
            <a:pPr algn="l" marL="264160" indent="-264160">
              <a:lnSpc>
                <a:spcPct val="133000"/>
              </a:lnSpc>
              <a:buSzPct val="100000"/>
              <a:buFont typeface="+mj-lt"/>
              <a:buAutoNum type="arabicPeriod" startAt="1"/>
            </a:pPr>
            <a:r>
              <a:rPr lang="en-US" sz="1300" dirty="0">
                <a:solidFill>
                  <a:srgbClr val="3C3939"/>
                </a:solidFill>
                <a:latin typeface="Roboto" pitchFamily="34" charset="0"/>
                <a:ea typeface="Roboto" pitchFamily="34" charset="-122"/>
                <a:cs typeface="Roboto" pitchFamily="34" charset="-120"/>
              </a:rPr>
              <a:t> — the model inspects the user's question and determines that a calculator tool should be called rather than generating a direct answer.</a:t>
            </a:r>
            <a:endParaRPr lang="en-US" sz="1300" dirty="0"/>
          </a:p>
          <a:p>
            <a:pPr algn="l" marL="264160" indent="-264160">
              <a:lnSpc>
                <a:spcPct val="133000"/>
              </a:lnSpc>
              <a:buSzPct val="100000"/>
              <a:buFont typeface="+mj-lt"/>
              <a:buAutoNum type="arabicPeriod" startAt="2"/>
            </a:pPr>
            <a:r>
              <a:rPr lang="en-US" sz="1300" b="1" dirty="0">
                <a:solidFill>
                  <a:srgbClr val="3C3939"/>
                </a:solidFill>
                <a:latin typeface="Roboto Bold" pitchFamily="34" charset="0"/>
                <a:ea typeface="Roboto Bold" pitchFamily="34" charset="-122"/>
                <a:cs typeface="Roboto Bold" pitchFamily="34" charset="-120"/>
              </a:rPr>
              <a:t>Calculator tool is called</a:t>
            </a:r>
            <a:pPr algn="l" marL="264160" indent="-264160">
              <a:lnSpc>
                <a:spcPct val="133000"/>
              </a:lnSpc>
              <a:buSzPct val="100000"/>
              <a:buFont typeface="+mj-lt"/>
              <a:buAutoNum type="arabicPeriod" startAt="2"/>
            </a:pPr>
            <a:r>
              <a:rPr lang="en-US" sz="1300" dirty="0">
                <a:solidFill>
                  <a:srgbClr val="3C3939"/>
                </a:solidFill>
                <a:latin typeface="Roboto" pitchFamily="34" charset="0"/>
                <a:ea typeface="Roboto" pitchFamily="34" charset="-122"/>
                <a:cs typeface="Roboto" pitchFamily="34" charset="-120"/>
              </a:rPr>
              <a:t> — the LLM produces a tool call with the appropriate arguments (0.18 × 75000). The tool node executes the calculation.</a:t>
            </a:r>
            <a:endParaRPr lang="en-US" sz="1300" dirty="0"/>
          </a:p>
          <a:p>
            <a:pPr algn="l" marL="264160" indent="-264160">
              <a:lnSpc>
                <a:spcPct val="133000"/>
              </a:lnSpc>
              <a:buSzPct val="100000"/>
              <a:buFont typeface="+mj-lt"/>
              <a:buAutoNum type="arabicPeriod" startAt="3"/>
            </a:pPr>
            <a:r>
              <a:rPr lang="en-US" sz="1300" b="1" dirty="0">
                <a:solidFill>
                  <a:srgbClr val="3C3939"/>
                </a:solidFill>
                <a:latin typeface="Roboto Bold" pitchFamily="34" charset="0"/>
                <a:ea typeface="Roboto Bold" pitchFamily="34" charset="-122"/>
                <a:cs typeface="Roboto Bold" pitchFamily="34" charset="-120"/>
              </a:rPr>
              <a:t>Result is returned</a:t>
            </a:r>
            <a:pPr algn="l" marL="264160" indent="-264160">
              <a:lnSpc>
                <a:spcPct val="133000"/>
              </a:lnSpc>
              <a:buSzPct val="100000"/>
              <a:buFont typeface="+mj-lt"/>
              <a:buAutoNum type="arabicPeriod" startAt="3"/>
            </a:pPr>
            <a:r>
              <a:rPr lang="en-US" sz="1300" dirty="0">
                <a:solidFill>
                  <a:srgbClr val="3C3939"/>
                </a:solidFill>
                <a:latin typeface="Roboto" pitchFamily="34" charset="0"/>
                <a:ea typeface="Roboto" pitchFamily="34" charset="-122"/>
                <a:cs typeface="Roboto" pitchFamily="34" charset="-120"/>
              </a:rPr>
              <a:t> — the calculator returns 13,500. This result is added to state as a tool message.</a:t>
            </a:r>
            <a:endParaRPr lang="en-US" sz="1300" dirty="0"/>
          </a:p>
          <a:p>
            <a:pPr algn="l" marL="264160" indent="-264160">
              <a:lnSpc>
                <a:spcPct val="133000"/>
              </a:lnSpc>
              <a:buSzPct val="100000"/>
              <a:buFont typeface="+mj-lt"/>
              <a:buAutoNum type="arabicPeriod" startAt="4"/>
            </a:pPr>
            <a:r>
              <a:rPr lang="en-US" sz="1300" b="1" dirty="0">
                <a:solidFill>
                  <a:srgbClr val="3C3939"/>
                </a:solidFill>
                <a:latin typeface="Roboto Bold" pitchFamily="34" charset="0"/>
                <a:ea typeface="Roboto Bold" pitchFamily="34" charset="-122"/>
                <a:cs typeface="Roboto Bold" pitchFamily="34" charset="-120"/>
              </a:rPr>
              <a:t>LLM generates the final answer</a:t>
            </a:r>
            <a:pPr algn="l" marL="264160" indent="-264160">
              <a:lnSpc>
                <a:spcPct val="133000"/>
              </a:lnSpc>
              <a:buSzPct val="100000"/>
              <a:buFont typeface="+mj-lt"/>
              <a:buAutoNum type="arabicPeriod" startAt="4"/>
            </a:pPr>
            <a:r>
              <a:rPr lang="en-US" sz="1300" dirty="0">
                <a:solidFill>
                  <a:srgbClr val="3C3939"/>
                </a:solidFill>
                <a:latin typeface="Roboto" pitchFamily="34" charset="0"/>
                <a:ea typeface="Roboto" pitchFamily="34" charset="-122"/>
                <a:cs typeface="Roboto" pitchFamily="34" charset="-120"/>
              </a:rPr>
              <a:t> — the LLM node receives the updated state, reads the tool result, and produces a natural language response: "18% of ₹75,000 is ₹13,500."</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61475" y="538659"/>
            <a:ext cx="10868745" cy="468412"/>
          </a:xfrm>
          <a:prstGeom prst="rect">
            <a:avLst/>
          </a:prstGeom>
          <a:noFill/>
          <a:ln/>
        </p:spPr>
        <p:txBody>
          <a:bodyPr wrap="none" lIns="0" tIns="0" rIns="0" bIns="0" rtlCol="0" anchor="t"/>
          <a:lstStyle/>
          <a:p>
            <a:pPr algn="l" indent="0" marL="0">
              <a:lnSpc>
                <a:spcPct val="104000"/>
              </a:lnSpc>
              <a:buNone/>
            </a:pPr>
            <a:r>
              <a:rPr lang="en-US" sz="2950" dirty="0">
                <a:solidFill>
                  <a:srgbClr val="1B1B27"/>
                </a:solidFill>
                <a:latin typeface="Raleway" pitchFamily="34" charset="0"/>
                <a:ea typeface="Raleway" pitchFamily="34" charset="-122"/>
                <a:cs typeface="Raleway" pitchFamily="34" charset="-120"/>
              </a:rPr>
              <a:t>Example: Research Agent</a:t>
            </a:r>
            <a:endParaRPr lang="en-US" sz="2950" dirty="0"/>
          </a:p>
        </p:txBody>
      </p:sp>
      <p:sp>
        <p:nvSpPr>
          <p:cNvPr id="3" name="Text 1"/>
          <p:cNvSpPr/>
          <p:nvPr/>
        </p:nvSpPr>
        <p:spPr>
          <a:xfrm>
            <a:off x="661475" y="1278731"/>
            <a:ext cx="11478330" cy="228600"/>
          </a:xfrm>
          <a:prstGeom prst="rect">
            <a:avLst/>
          </a:prstGeom>
          <a:noFill/>
          <a:ln/>
        </p:spPr>
        <p:txBody>
          <a:bodyPr wrap="none" lIns="0" tIns="0" rIns="0" bIns="0" rtlCol="0" anchor="t"/>
          <a:lstStyle/>
          <a:p>
            <a:pPr algn="l" indent="0" marL="0">
              <a:lnSpc>
                <a:spcPct val="127000"/>
              </a:lnSpc>
              <a:buNone/>
            </a:pPr>
            <a:r>
              <a:rPr lang="en-US" sz="1150" dirty="0">
                <a:solidFill>
                  <a:srgbClr val="3C3939"/>
                </a:solidFill>
                <a:latin typeface="Roboto" pitchFamily="34" charset="0"/>
                <a:ea typeface="Roboto" pitchFamily="34" charset="-122"/>
                <a:cs typeface="Roboto" pitchFamily="34" charset="-120"/>
              </a:rPr>
              <a:t>The research agent demonstrates a more complex tool-calling scenario where the agent must retrieve external information before it can answer the user's question.</a:t>
            </a:r>
            <a:endParaRPr lang="en-US" sz="1150" dirty="0"/>
          </a:p>
        </p:txBody>
      </p:sp>
      <p:sp>
        <p:nvSpPr>
          <p:cNvPr id="4" name="Text 2"/>
          <p:cNvSpPr/>
          <p:nvPr/>
        </p:nvSpPr>
        <p:spPr>
          <a:xfrm>
            <a:off x="661475" y="1660128"/>
            <a:ext cx="299732" cy="187325"/>
          </a:xfrm>
          <a:prstGeom prst="rect">
            <a:avLst/>
          </a:prstGeom>
          <a:noFill/>
          <a:ln/>
        </p:spPr>
        <p:txBody>
          <a:bodyPr wrap="none" lIns="0" tIns="0" rIns="0" bIns="0" rtlCol="0" anchor="ctr"/>
          <a:lstStyle/>
          <a:p>
            <a:pPr algn="l" indent="0" marL="0">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01</a:t>
            </a:r>
            <a:endParaRPr lang="en-US" sz="1150" dirty="0"/>
          </a:p>
        </p:txBody>
      </p:sp>
      <p:sp>
        <p:nvSpPr>
          <p:cNvPr id="5" name="Shape 3"/>
          <p:cNvSpPr/>
          <p:nvPr/>
        </p:nvSpPr>
        <p:spPr>
          <a:xfrm>
            <a:off x="661475" y="1895773"/>
            <a:ext cx="5366409" cy="19050"/>
          </a:xfrm>
          <a:prstGeom prst="rect">
            <a:avLst/>
          </a:prstGeom>
          <a:solidFill>
            <a:srgbClr val="1B1B27"/>
          </a:solidFill>
          <a:ln/>
        </p:spPr>
      </p:sp>
      <p:sp>
        <p:nvSpPr>
          <p:cNvPr id="6" name="Text 4"/>
          <p:cNvSpPr/>
          <p:nvPr/>
        </p:nvSpPr>
        <p:spPr>
          <a:xfrm>
            <a:off x="661475" y="2008783"/>
            <a:ext cx="5366409" cy="234156"/>
          </a:xfrm>
          <a:prstGeom prst="rect">
            <a:avLst/>
          </a:prstGeom>
          <a:noFill/>
          <a:ln/>
        </p:spPr>
        <p:txBody>
          <a:bodyPr wrap="none" lIns="0" tIns="0" rIns="0" bIns="0" rtlCol="0" anchor="t"/>
          <a:lstStyle/>
          <a:p>
            <a:pPr algn="l" indent="0" marL="0">
              <a:lnSpc>
                <a:spcPct val="104000"/>
              </a:lnSpc>
              <a:buNone/>
            </a:pPr>
            <a:r>
              <a:rPr lang="en-US" sz="1450" dirty="0">
                <a:solidFill>
                  <a:srgbClr val="3C3939"/>
                </a:solidFill>
                <a:latin typeface="Raleway" pitchFamily="34" charset="0"/>
                <a:ea typeface="Raleway" pitchFamily="34" charset="-122"/>
                <a:cs typeface="Raleway" pitchFamily="34" charset="-120"/>
              </a:rPr>
              <a:t>User Asks a Knowledge Question</a:t>
            </a:r>
            <a:endParaRPr lang="en-US" sz="1450" dirty="0"/>
          </a:p>
        </p:txBody>
      </p:sp>
      <p:sp>
        <p:nvSpPr>
          <p:cNvPr id="7" name="Text 5"/>
          <p:cNvSpPr/>
          <p:nvPr/>
        </p:nvSpPr>
        <p:spPr>
          <a:xfrm>
            <a:off x="661475" y="2324398"/>
            <a:ext cx="5366409" cy="6858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C3939"/>
                </a:solidFill>
                <a:latin typeface="Roboto" pitchFamily="34" charset="0"/>
                <a:ea typeface="Roboto" pitchFamily="34" charset="-122"/>
                <a:cs typeface="Roboto" pitchFamily="34" charset="-120"/>
              </a:rPr>
              <a:t>The user submits a question that requires up-to-date or domain-specific information — something the LLM may not have in its training data or may not be able to answer reliably from memory alone.</a:t>
            </a:r>
            <a:endParaRPr lang="en-US" sz="1150" dirty="0"/>
          </a:p>
        </p:txBody>
      </p:sp>
      <p:sp>
        <p:nvSpPr>
          <p:cNvPr id="8" name="Text 6"/>
          <p:cNvSpPr/>
          <p:nvPr/>
        </p:nvSpPr>
        <p:spPr>
          <a:xfrm>
            <a:off x="6163711" y="1660128"/>
            <a:ext cx="299732" cy="187325"/>
          </a:xfrm>
          <a:prstGeom prst="rect">
            <a:avLst/>
          </a:prstGeom>
          <a:noFill/>
          <a:ln/>
        </p:spPr>
        <p:txBody>
          <a:bodyPr wrap="none" lIns="0" tIns="0" rIns="0" bIns="0" rtlCol="0" anchor="ctr"/>
          <a:lstStyle/>
          <a:p>
            <a:pPr algn="l" indent="0" marL="0">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02</a:t>
            </a:r>
            <a:endParaRPr lang="en-US" sz="1150" dirty="0"/>
          </a:p>
        </p:txBody>
      </p:sp>
      <p:sp>
        <p:nvSpPr>
          <p:cNvPr id="9" name="Shape 7"/>
          <p:cNvSpPr/>
          <p:nvPr/>
        </p:nvSpPr>
        <p:spPr>
          <a:xfrm>
            <a:off x="6163711" y="1895773"/>
            <a:ext cx="5366509" cy="19050"/>
          </a:xfrm>
          <a:prstGeom prst="rect">
            <a:avLst/>
          </a:prstGeom>
          <a:solidFill>
            <a:srgbClr val="1B1B27"/>
          </a:solidFill>
          <a:ln/>
        </p:spPr>
      </p:sp>
      <p:sp>
        <p:nvSpPr>
          <p:cNvPr id="10" name="Text 8"/>
          <p:cNvSpPr/>
          <p:nvPr/>
        </p:nvSpPr>
        <p:spPr>
          <a:xfrm>
            <a:off x="6163711" y="2008783"/>
            <a:ext cx="5366509" cy="234156"/>
          </a:xfrm>
          <a:prstGeom prst="rect">
            <a:avLst/>
          </a:prstGeom>
          <a:noFill/>
          <a:ln/>
        </p:spPr>
        <p:txBody>
          <a:bodyPr wrap="none" lIns="0" tIns="0" rIns="0" bIns="0" rtlCol="0" anchor="t"/>
          <a:lstStyle/>
          <a:p>
            <a:pPr algn="l" indent="0" marL="0">
              <a:lnSpc>
                <a:spcPct val="104000"/>
              </a:lnSpc>
              <a:buNone/>
            </a:pPr>
            <a:r>
              <a:rPr lang="en-US" sz="1450" dirty="0">
                <a:solidFill>
                  <a:srgbClr val="3C3939"/>
                </a:solidFill>
                <a:latin typeface="Raleway" pitchFamily="34" charset="0"/>
                <a:ea typeface="Raleway" pitchFamily="34" charset="-122"/>
                <a:cs typeface="Raleway" pitchFamily="34" charset="-120"/>
              </a:rPr>
              <a:t>LLM Decides Whether Information Retrieval is Needed</a:t>
            </a:r>
            <a:endParaRPr lang="en-US" sz="1450" dirty="0"/>
          </a:p>
        </p:txBody>
      </p:sp>
      <p:sp>
        <p:nvSpPr>
          <p:cNvPr id="11" name="Text 9"/>
          <p:cNvSpPr/>
          <p:nvPr/>
        </p:nvSpPr>
        <p:spPr>
          <a:xfrm>
            <a:off x="6163711" y="2324398"/>
            <a:ext cx="5366509" cy="6858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C3939"/>
                </a:solidFill>
                <a:latin typeface="Roboto" pitchFamily="34" charset="0"/>
                <a:ea typeface="Roboto" pitchFamily="34" charset="-122"/>
                <a:cs typeface="Roboto" pitchFamily="34" charset="-120"/>
              </a:rPr>
              <a:t>The LLM node reasons over the question and determines whether it can answer directly or whether it needs to call a search or retrieval tool to obtain relevant information.</a:t>
            </a:r>
            <a:endParaRPr lang="en-US" sz="1150" dirty="0"/>
          </a:p>
        </p:txBody>
      </p:sp>
      <p:sp>
        <p:nvSpPr>
          <p:cNvPr id="12" name="Text 10"/>
          <p:cNvSpPr/>
          <p:nvPr/>
        </p:nvSpPr>
        <p:spPr>
          <a:xfrm>
            <a:off x="661475" y="3258443"/>
            <a:ext cx="299732" cy="187325"/>
          </a:xfrm>
          <a:prstGeom prst="rect">
            <a:avLst/>
          </a:prstGeom>
          <a:noFill/>
          <a:ln/>
        </p:spPr>
        <p:txBody>
          <a:bodyPr wrap="none" lIns="0" tIns="0" rIns="0" bIns="0" rtlCol="0" anchor="ctr"/>
          <a:lstStyle/>
          <a:p>
            <a:pPr algn="l" indent="0" marL="0">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03</a:t>
            </a:r>
            <a:endParaRPr lang="en-US" sz="1150" dirty="0"/>
          </a:p>
        </p:txBody>
      </p:sp>
      <p:sp>
        <p:nvSpPr>
          <p:cNvPr id="13" name="Shape 11"/>
          <p:cNvSpPr/>
          <p:nvPr/>
        </p:nvSpPr>
        <p:spPr>
          <a:xfrm>
            <a:off x="661475" y="3494088"/>
            <a:ext cx="5366409" cy="19050"/>
          </a:xfrm>
          <a:prstGeom prst="rect">
            <a:avLst/>
          </a:prstGeom>
          <a:solidFill>
            <a:srgbClr val="1B1B27"/>
          </a:solidFill>
          <a:ln/>
        </p:spPr>
      </p:sp>
      <p:sp>
        <p:nvSpPr>
          <p:cNvPr id="14" name="Text 12"/>
          <p:cNvSpPr/>
          <p:nvPr/>
        </p:nvSpPr>
        <p:spPr>
          <a:xfrm>
            <a:off x="661475" y="3607098"/>
            <a:ext cx="5366409" cy="234156"/>
          </a:xfrm>
          <a:prstGeom prst="rect">
            <a:avLst/>
          </a:prstGeom>
          <a:noFill/>
          <a:ln/>
        </p:spPr>
        <p:txBody>
          <a:bodyPr wrap="none" lIns="0" tIns="0" rIns="0" bIns="0" rtlCol="0" anchor="t"/>
          <a:lstStyle/>
          <a:p>
            <a:pPr algn="l" indent="0" marL="0">
              <a:lnSpc>
                <a:spcPct val="104000"/>
              </a:lnSpc>
              <a:buNone/>
            </a:pPr>
            <a:r>
              <a:rPr lang="en-US" sz="1450" dirty="0">
                <a:solidFill>
                  <a:srgbClr val="3C3939"/>
                </a:solidFill>
                <a:latin typeface="Raleway" pitchFamily="34" charset="0"/>
                <a:ea typeface="Raleway" pitchFamily="34" charset="-122"/>
                <a:cs typeface="Raleway" pitchFamily="34" charset="-120"/>
              </a:rPr>
              <a:t>Search / Retrieval Tool is Called</a:t>
            </a:r>
            <a:endParaRPr lang="en-US" sz="1450" dirty="0"/>
          </a:p>
        </p:txBody>
      </p:sp>
      <p:sp>
        <p:nvSpPr>
          <p:cNvPr id="15" name="Text 13"/>
          <p:cNvSpPr/>
          <p:nvPr/>
        </p:nvSpPr>
        <p:spPr>
          <a:xfrm>
            <a:off x="661475" y="3922713"/>
            <a:ext cx="5366409" cy="6858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C3939"/>
                </a:solidFill>
                <a:latin typeface="Roboto" pitchFamily="34" charset="0"/>
                <a:ea typeface="Roboto" pitchFamily="34" charset="-122"/>
                <a:cs typeface="Roboto" pitchFamily="34" charset="-120"/>
              </a:rPr>
              <a:t>If retrieval is needed, the LLM produces a tool call. The tool node executes the search — querying a web search API, a vector store, or another retrieval system — and returns the results.</a:t>
            </a:r>
            <a:endParaRPr lang="en-US" sz="1150" dirty="0"/>
          </a:p>
        </p:txBody>
      </p:sp>
      <p:sp>
        <p:nvSpPr>
          <p:cNvPr id="16" name="Text 14"/>
          <p:cNvSpPr/>
          <p:nvPr/>
        </p:nvSpPr>
        <p:spPr>
          <a:xfrm>
            <a:off x="6163711" y="3258443"/>
            <a:ext cx="299732" cy="187325"/>
          </a:xfrm>
          <a:prstGeom prst="rect">
            <a:avLst/>
          </a:prstGeom>
          <a:noFill/>
          <a:ln/>
        </p:spPr>
        <p:txBody>
          <a:bodyPr wrap="none" lIns="0" tIns="0" rIns="0" bIns="0" rtlCol="0" anchor="ctr"/>
          <a:lstStyle/>
          <a:p>
            <a:pPr algn="l" indent="0" marL="0">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04</a:t>
            </a:r>
            <a:endParaRPr lang="en-US" sz="1150" dirty="0"/>
          </a:p>
        </p:txBody>
      </p:sp>
      <p:sp>
        <p:nvSpPr>
          <p:cNvPr id="17" name="Shape 15"/>
          <p:cNvSpPr/>
          <p:nvPr/>
        </p:nvSpPr>
        <p:spPr>
          <a:xfrm>
            <a:off x="6163711" y="3494088"/>
            <a:ext cx="5366509" cy="19050"/>
          </a:xfrm>
          <a:prstGeom prst="rect">
            <a:avLst/>
          </a:prstGeom>
          <a:solidFill>
            <a:srgbClr val="1B1B27"/>
          </a:solidFill>
          <a:ln/>
        </p:spPr>
      </p:sp>
      <p:sp>
        <p:nvSpPr>
          <p:cNvPr id="18" name="Text 16"/>
          <p:cNvSpPr/>
          <p:nvPr/>
        </p:nvSpPr>
        <p:spPr>
          <a:xfrm>
            <a:off x="6163711" y="3607098"/>
            <a:ext cx="5366509" cy="234156"/>
          </a:xfrm>
          <a:prstGeom prst="rect">
            <a:avLst/>
          </a:prstGeom>
          <a:noFill/>
          <a:ln/>
        </p:spPr>
        <p:txBody>
          <a:bodyPr wrap="none" lIns="0" tIns="0" rIns="0" bIns="0" rtlCol="0" anchor="t"/>
          <a:lstStyle/>
          <a:p>
            <a:pPr algn="l" indent="0" marL="0">
              <a:lnSpc>
                <a:spcPct val="104000"/>
              </a:lnSpc>
              <a:buNone/>
            </a:pPr>
            <a:r>
              <a:rPr lang="en-US" sz="1450" dirty="0">
                <a:solidFill>
                  <a:srgbClr val="3C3939"/>
                </a:solidFill>
                <a:latin typeface="Raleway" pitchFamily="34" charset="0"/>
                <a:ea typeface="Raleway" pitchFamily="34" charset="-122"/>
                <a:cs typeface="Raleway" pitchFamily="34" charset="-120"/>
              </a:rPr>
              <a:t>Result is Added to State</a:t>
            </a:r>
            <a:endParaRPr lang="en-US" sz="1450" dirty="0"/>
          </a:p>
        </p:txBody>
      </p:sp>
      <p:sp>
        <p:nvSpPr>
          <p:cNvPr id="19" name="Text 17"/>
          <p:cNvSpPr/>
          <p:nvPr/>
        </p:nvSpPr>
        <p:spPr>
          <a:xfrm>
            <a:off x="6163711" y="3922713"/>
            <a:ext cx="5366509" cy="6858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C3939"/>
                </a:solidFill>
                <a:latin typeface="Roboto" pitchFamily="34" charset="0"/>
                <a:ea typeface="Roboto" pitchFamily="34" charset="-122"/>
                <a:cs typeface="Roboto" pitchFamily="34" charset="-120"/>
              </a:rPr>
              <a:t>The retrieved information is added to state as a tool message, extending the message history with the new context the LLM will use for its next reasoning step.</a:t>
            </a:r>
            <a:endParaRPr lang="en-US" sz="1150" dirty="0"/>
          </a:p>
        </p:txBody>
      </p:sp>
      <p:sp>
        <p:nvSpPr>
          <p:cNvPr id="20" name="Text 18"/>
          <p:cNvSpPr/>
          <p:nvPr/>
        </p:nvSpPr>
        <p:spPr>
          <a:xfrm>
            <a:off x="661475" y="4856758"/>
            <a:ext cx="299732" cy="187325"/>
          </a:xfrm>
          <a:prstGeom prst="rect">
            <a:avLst/>
          </a:prstGeom>
          <a:noFill/>
          <a:ln/>
        </p:spPr>
        <p:txBody>
          <a:bodyPr wrap="none" lIns="0" tIns="0" rIns="0" bIns="0" rtlCol="0" anchor="ctr"/>
          <a:lstStyle/>
          <a:p>
            <a:pPr algn="l" indent="0" marL="0">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05</a:t>
            </a:r>
            <a:endParaRPr lang="en-US" sz="1150" dirty="0"/>
          </a:p>
        </p:txBody>
      </p:sp>
      <p:sp>
        <p:nvSpPr>
          <p:cNvPr id="21" name="Shape 19"/>
          <p:cNvSpPr/>
          <p:nvPr/>
        </p:nvSpPr>
        <p:spPr>
          <a:xfrm>
            <a:off x="661475" y="5092402"/>
            <a:ext cx="5366409" cy="19050"/>
          </a:xfrm>
          <a:prstGeom prst="rect">
            <a:avLst/>
          </a:prstGeom>
          <a:solidFill>
            <a:srgbClr val="1B1B27"/>
          </a:solidFill>
          <a:ln/>
        </p:spPr>
      </p:sp>
      <p:sp>
        <p:nvSpPr>
          <p:cNvPr id="22" name="Text 20"/>
          <p:cNvSpPr/>
          <p:nvPr/>
        </p:nvSpPr>
        <p:spPr>
          <a:xfrm>
            <a:off x="661475" y="5205413"/>
            <a:ext cx="5366409" cy="234156"/>
          </a:xfrm>
          <a:prstGeom prst="rect">
            <a:avLst/>
          </a:prstGeom>
          <a:noFill/>
          <a:ln/>
        </p:spPr>
        <p:txBody>
          <a:bodyPr wrap="none" lIns="0" tIns="0" rIns="0" bIns="0" rtlCol="0" anchor="t"/>
          <a:lstStyle/>
          <a:p>
            <a:pPr algn="l" indent="0" marL="0">
              <a:lnSpc>
                <a:spcPct val="104000"/>
              </a:lnSpc>
              <a:buNone/>
            </a:pPr>
            <a:r>
              <a:rPr lang="en-US" sz="1450" dirty="0">
                <a:solidFill>
                  <a:srgbClr val="3C3939"/>
                </a:solidFill>
                <a:latin typeface="Raleway" pitchFamily="34" charset="0"/>
                <a:ea typeface="Raleway" pitchFamily="34" charset="-122"/>
                <a:cs typeface="Raleway" pitchFamily="34" charset="-120"/>
              </a:rPr>
              <a:t>LLM Evaluates the Information</a:t>
            </a:r>
            <a:endParaRPr lang="en-US" sz="1450" dirty="0"/>
          </a:p>
        </p:txBody>
      </p:sp>
      <p:sp>
        <p:nvSpPr>
          <p:cNvPr id="23" name="Text 21"/>
          <p:cNvSpPr/>
          <p:nvPr/>
        </p:nvSpPr>
        <p:spPr>
          <a:xfrm>
            <a:off x="661475" y="5521027"/>
            <a:ext cx="5366409" cy="6858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C3939"/>
                </a:solidFill>
                <a:latin typeface="Roboto" pitchFamily="34" charset="0"/>
                <a:ea typeface="Roboto" pitchFamily="34" charset="-122"/>
                <a:cs typeface="Roboto" pitchFamily="34" charset="-120"/>
              </a:rPr>
              <a:t>The LLM node receives the updated state and reasons over the retrieved information. It determines whether the information is sufficient to answer the question or whether additional retrieval is needed.</a:t>
            </a:r>
            <a:endParaRPr lang="en-US" sz="1150" dirty="0"/>
          </a:p>
        </p:txBody>
      </p:sp>
      <p:sp>
        <p:nvSpPr>
          <p:cNvPr id="24" name="Text 22"/>
          <p:cNvSpPr/>
          <p:nvPr/>
        </p:nvSpPr>
        <p:spPr>
          <a:xfrm>
            <a:off x="6163711" y="4856758"/>
            <a:ext cx="299732" cy="187325"/>
          </a:xfrm>
          <a:prstGeom prst="rect">
            <a:avLst/>
          </a:prstGeom>
          <a:noFill/>
          <a:ln/>
        </p:spPr>
        <p:txBody>
          <a:bodyPr wrap="none" lIns="0" tIns="0" rIns="0" bIns="0" rtlCol="0" anchor="ctr"/>
          <a:lstStyle/>
          <a:p>
            <a:pPr algn="l" indent="0" marL="0">
              <a:lnSpc>
                <a:spcPct val="100000"/>
              </a:lnSpc>
              <a:buNone/>
            </a:pPr>
            <a:r>
              <a:rPr lang="en-US" sz="1150" dirty="0">
                <a:solidFill>
                  <a:srgbClr val="3C3939"/>
                </a:solidFill>
                <a:latin typeface="Raleway Light" pitchFamily="34" charset="0"/>
                <a:ea typeface="Raleway Light" pitchFamily="34" charset="-122"/>
                <a:cs typeface="Raleway Light" pitchFamily="34" charset="-120"/>
              </a:rPr>
              <a:t>06</a:t>
            </a:r>
            <a:endParaRPr lang="en-US" sz="1150" dirty="0"/>
          </a:p>
        </p:txBody>
      </p:sp>
      <p:sp>
        <p:nvSpPr>
          <p:cNvPr id="25" name="Shape 23"/>
          <p:cNvSpPr/>
          <p:nvPr/>
        </p:nvSpPr>
        <p:spPr>
          <a:xfrm>
            <a:off x="6163711" y="5092402"/>
            <a:ext cx="5366509" cy="19050"/>
          </a:xfrm>
          <a:prstGeom prst="rect">
            <a:avLst/>
          </a:prstGeom>
          <a:solidFill>
            <a:srgbClr val="1B1B27"/>
          </a:solidFill>
          <a:ln/>
        </p:spPr>
      </p:sp>
      <p:sp>
        <p:nvSpPr>
          <p:cNvPr id="26" name="Text 24"/>
          <p:cNvSpPr/>
          <p:nvPr/>
        </p:nvSpPr>
        <p:spPr>
          <a:xfrm>
            <a:off x="6163711" y="5205413"/>
            <a:ext cx="5366509" cy="234156"/>
          </a:xfrm>
          <a:prstGeom prst="rect">
            <a:avLst/>
          </a:prstGeom>
          <a:noFill/>
          <a:ln/>
        </p:spPr>
        <p:txBody>
          <a:bodyPr wrap="none" lIns="0" tIns="0" rIns="0" bIns="0" rtlCol="0" anchor="t"/>
          <a:lstStyle/>
          <a:p>
            <a:pPr algn="l" indent="0" marL="0">
              <a:lnSpc>
                <a:spcPct val="104000"/>
              </a:lnSpc>
              <a:buNone/>
            </a:pPr>
            <a:r>
              <a:rPr lang="en-US" sz="1450" dirty="0">
                <a:solidFill>
                  <a:srgbClr val="3C3939"/>
                </a:solidFill>
                <a:latin typeface="Raleway" pitchFamily="34" charset="0"/>
                <a:ea typeface="Raleway" pitchFamily="34" charset="-122"/>
                <a:cs typeface="Raleway" pitchFamily="34" charset="-120"/>
              </a:rPr>
              <a:t>Final Response is Generated</a:t>
            </a:r>
            <a:endParaRPr lang="en-US" sz="1450" dirty="0"/>
          </a:p>
        </p:txBody>
      </p:sp>
      <p:sp>
        <p:nvSpPr>
          <p:cNvPr id="27" name="Text 25"/>
          <p:cNvSpPr/>
          <p:nvPr/>
        </p:nvSpPr>
        <p:spPr>
          <a:xfrm>
            <a:off x="6163711" y="5521027"/>
            <a:ext cx="5366509" cy="685800"/>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C3939"/>
                </a:solidFill>
                <a:latin typeface="Roboto" pitchFamily="34" charset="0"/>
                <a:ea typeface="Roboto" pitchFamily="34" charset="-122"/>
                <a:cs typeface="Roboto" pitchFamily="34" charset="-120"/>
              </a:rPr>
              <a:t>Once the LLM has sufficient information, it produces a final response with no tool call. The conditional edge routes to END and the answer is returned to the user.</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61475" y="489248"/>
            <a:ext cx="10868745" cy="508695"/>
          </a:xfrm>
          <a:prstGeom prst="rect">
            <a:avLst/>
          </a:prstGeom>
          <a:noFill/>
          <a:ln/>
        </p:spPr>
        <p:txBody>
          <a:bodyPr wrap="none" lIns="0" tIns="0" rIns="0" bIns="0" rtlCol="0" anchor="t"/>
          <a:lstStyle/>
          <a:p>
            <a:pPr algn="l" indent="0" marL="0">
              <a:lnSpc>
                <a:spcPct val="104000"/>
              </a:lnSpc>
              <a:buNone/>
            </a:pPr>
            <a:r>
              <a:rPr lang="en-US" sz="3200" dirty="0">
                <a:solidFill>
                  <a:srgbClr val="1B1B27"/>
                </a:solidFill>
                <a:latin typeface="Raleway" pitchFamily="34" charset="0"/>
                <a:ea typeface="Raleway" pitchFamily="34" charset="-122"/>
                <a:cs typeface="Raleway" pitchFamily="34" charset="-120"/>
              </a:rPr>
              <a:t>Loops in LangGraph</a:t>
            </a:r>
            <a:endParaRPr lang="en-US" sz="3200" dirty="0"/>
          </a:p>
        </p:txBody>
      </p:sp>
      <p:sp>
        <p:nvSpPr>
          <p:cNvPr id="3" name="Text 1"/>
          <p:cNvSpPr/>
          <p:nvPr/>
        </p:nvSpPr>
        <p:spPr>
          <a:xfrm>
            <a:off x="661475" y="1318419"/>
            <a:ext cx="10868745"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Loops are a first-class feature of LangGraph. A graph can return to a previous node — including the LLM node — as many times as needed before reaching END. This is what enables agents to handle complex, multi-step tasks.</a:t>
            </a:r>
            <a:endParaRPr lang="en-US" sz="1250" dirty="0"/>
          </a:p>
        </p:txBody>
      </p:sp>
      <p:sp>
        <p:nvSpPr>
          <p:cNvPr id="4" name="Shape 2"/>
          <p:cNvSpPr/>
          <p:nvPr/>
        </p:nvSpPr>
        <p:spPr>
          <a:xfrm>
            <a:off x="661475" y="2015629"/>
            <a:ext cx="3516026" cy="2264767"/>
          </a:xfrm>
          <a:prstGeom prst="roundRect">
            <a:avLst>
              <a:gd name="adj" fmla="val 3019"/>
            </a:avLst>
          </a:prstGeom>
          <a:solidFill>
            <a:srgbClr val="FFFFFF">
              <a:alpha val="95000"/>
            </a:srgbClr>
          </a:solidFill>
          <a:ln w="19050">
            <a:solidFill>
              <a:srgbClr val="C7C7D0"/>
            </a:solidFill>
            <a:prstDash val="solid"/>
          </a:ln>
        </p:spPr>
      </p:sp>
      <p:sp>
        <p:nvSpPr>
          <p:cNvPr id="5" name="Text 3"/>
          <p:cNvSpPr/>
          <p:nvPr/>
        </p:nvSpPr>
        <p:spPr>
          <a:xfrm>
            <a:off x="843239" y="2197398"/>
            <a:ext cx="3152498"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Tool Calling</a:t>
            </a:r>
            <a:endParaRPr lang="en-US" sz="1600" dirty="0"/>
          </a:p>
        </p:txBody>
      </p:sp>
      <p:sp>
        <p:nvSpPr>
          <p:cNvPr id="6" name="Text 4"/>
          <p:cNvSpPr/>
          <p:nvPr/>
        </p:nvSpPr>
        <p:spPr>
          <a:xfrm>
            <a:off x="843239" y="2547838"/>
            <a:ext cx="3152498" cy="1550789"/>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The most common loop pattern. After a tool executes and its result is added to state, execution returns to the LLM node for further reasoning. The loop continues until the LLM produces a response with no tool call.</a:t>
            </a:r>
            <a:endParaRPr lang="en-US" sz="1250" dirty="0"/>
          </a:p>
        </p:txBody>
      </p:sp>
      <p:sp>
        <p:nvSpPr>
          <p:cNvPr id="7" name="Shape 5"/>
          <p:cNvSpPr/>
          <p:nvPr/>
        </p:nvSpPr>
        <p:spPr>
          <a:xfrm>
            <a:off x="4337735" y="2015629"/>
            <a:ext cx="3516125" cy="2264767"/>
          </a:xfrm>
          <a:prstGeom prst="roundRect">
            <a:avLst>
              <a:gd name="adj" fmla="val 3019"/>
            </a:avLst>
          </a:prstGeom>
          <a:solidFill>
            <a:srgbClr val="FFFFFF">
              <a:alpha val="95000"/>
            </a:srgbClr>
          </a:solidFill>
          <a:ln w="19050">
            <a:solidFill>
              <a:srgbClr val="C7C7D0"/>
            </a:solidFill>
            <a:prstDash val="solid"/>
          </a:ln>
        </p:spPr>
      </p:sp>
      <p:sp>
        <p:nvSpPr>
          <p:cNvPr id="8" name="Text 6"/>
          <p:cNvSpPr/>
          <p:nvPr/>
        </p:nvSpPr>
        <p:spPr>
          <a:xfrm>
            <a:off x="4519499" y="2197398"/>
            <a:ext cx="3152597"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Retry Logic</a:t>
            </a:r>
            <a:endParaRPr lang="en-US" sz="1600" dirty="0"/>
          </a:p>
        </p:txBody>
      </p:sp>
      <p:sp>
        <p:nvSpPr>
          <p:cNvPr id="9" name="Text 7"/>
          <p:cNvSpPr/>
          <p:nvPr/>
        </p:nvSpPr>
        <p:spPr>
          <a:xfrm>
            <a:off x="4519499" y="2547838"/>
            <a:ext cx="3152597" cy="1033859"/>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If a tool fails or returns an unexpected result, the graph can loop back to retry the operation — either immediately or after applying corrective logic to the state.</a:t>
            </a:r>
            <a:endParaRPr lang="en-US" sz="1250" dirty="0"/>
          </a:p>
        </p:txBody>
      </p:sp>
      <p:sp>
        <p:nvSpPr>
          <p:cNvPr id="10" name="Shape 8"/>
          <p:cNvSpPr/>
          <p:nvPr/>
        </p:nvSpPr>
        <p:spPr>
          <a:xfrm>
            <a:off x="8014095" y="2015629"/>
            <a:ext cx="3516125" cy="2264767"/>
          </a:xfrm>
          <a:prstGeom prst="roundRect">
            <a:avLst>
              <a:gd name="adj" fmla="val 3019"/>
            </a:avLst>
          </a:prstGeom>
          <a:solidFill>
            <a:srgbClr val="FFFFFF">
              <a:alpha val="95000"/>
            </a:srgbClr>
          </a:solidFill>
          <a:ln w="19050">
            <a:solidFill>
              <a:srgbClr val="C7C7D0"/>
            </a:solidFill>
            <a:prstDash val="solid"/>
          </a:ln>
        </p:spPr>
      </p:sp>
      <p:sp>
        <p:nvSpPr>
          <p:cNvPr id="11" name="Text 9"/>
          <p:cNvSpPr/>
          <p:nvPr/>
        </p:nvSpPr>
        <p:spPr>
          <a:xfrm>
            <a:off x="8195859" y="2197398"/>
            <a:ext cx="3152597"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Validation</a:t>
            </a:r>
            <a:endParaRPr lang="en-US" sz="1600" dirty="0"/>
          </a:p>
        </p:txBody>
      </p:sp>
      <p:sp>
        <p:nvSpPr>
          <p:cNvPr id="12" name="Text 10"/>
          <p:cNvSpPr/>
          <p:nvPr/>
        </p:nvSpPr>
        <p:spPr>
          <a:xfrm>
            <a:off x="8195859" y="2547838"/>
            <a:ext cx="3152597" cy="129232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A validation node can inspect the LLM's output and route back to the LLM node if the output does not meet required criteria, prompting the model to try again with additional guidance.</a:t>
            </a:r>
            <a:endParaRPr lang="en-US" sz="1250" dirty="0"/>
          </a:p>
        </p:txBody>
      </p:sp>
      <p:sp>
        <p:nvSpPr>
          <p:cNvPr id="13" name="Shape 11"/>
          <p:cNvSpPr/>
          <p:nvPr/>
        </p:nvSpPr>
        <p:spPr>
          <a:xfrm>
            <a:off x="661475" y="4440634"/>
            <a:ext cx="5354206" cy="1489373"/>
          </a:xfrm>
          <a:prstGeom prst="roundRect">
            <a:avLst>
              <a:gd name="adj" fmla="val 4591"/>
            </a:avLst>
          </a:prstGeom>
          <a:solidFill>
            <a:srgbClr val="FFFFFF">
              <a:alpha val="95000"/>
            </a:srgbClr>
          </a:solidFill>
          <a:ln w="19050">
            <a:solidFill>
              <a:srgbClr val="C7C7D0"/>
            </a:solidFill>
            <a:prstDash val="solid"/>
          </a:ln>
        </p:spPr>
      </p:sp>
      <p:sp>
        <p:nvSpPr>
          <p:cNvPr id="14" name="Text 12"/>
          <p:cNvSpPr/>
          <p:nvPr/>
        </p:nvSpPr>
        <p:spPr>
          <a:xfrm>
            <a:off x="843239" y="4622403"/>
            <a:ext cx="4990677"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Reflection</a:t>
            </a:r>
            <a:endParaRPr lang="en-US" sz="1600" dirty="0"/>
          </a:p>
        </p:txBody>
      </p:sp>
      <p:sp>
        <p:nvSpPr>
          <p:cNvPr id="15" name="Text 13"/>
          <p:cNvSpPr/>
          <p:nvPr/>
        </p:nvSpPr>
        <p:spPr>
          <a:xfrm>
            <a:off x="843239" y="4972844"/>
            <a:ext cx="4990677"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The agent can be designed to reflect on its own output — evaluating the quality of its response and looping back to improve it before returning a final answer.</a:t>
            </a:r>
            <a:endParaRPr lang="en-US" sz="1250" dirty="0"/>
          </a:p>
        </p:txBody>
      </p:sp>
      <p:sp>
        <p:nvSpPr>
          <p:cNvPr id="16" name="Shape 14"/>
          <p:cNvSpPr/>
          <p:nvPr/>
        </p:nvSpPr>
        <p:spPr>
          <a:xfrm>
            <a:off x="6175915" y="4440634"/>
            <a:ext cx="5354305" cy="1489373"/>
          </a:xfrm>
          <a:prstGeom prst="roundRect">
            <a:avLst>
              <a:gd name="adj" fmla="val 4591"/>
            </a:avLst>
          </a:prstGeom>
          <a:solidFill>
            <a:srgbClr val="FFFFFF">
              <a:alpha val="95000"/>
            </a:srgbClr>
          </a:solidFill>
          <a:ln w="19050">
            <a:solidFill>
              <a:srgbClr val="C7C7D0"/>
            </a:solidFill>
            <a:prstDash val="solid"/>
          </a:ln>
        </p:spPr>
      </p:sp>
      <p:sp>
        <p:nvSpPr>
          <p:cNvPr id="17" name="Text 15"/>
          <p:cNvSpPr/>
          <p:nvPr/>
        </p:nvSpPr>
        <p:spPr>
          <a:xfrm>
            <a:off x="6357679" y="4622403"/>
            <a:ext cx="4990777"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Iterative Processing</a:t>
            </a:r>
            <a:endParaRPr lang="en-US" sz="1600" dirty="0"/>
          </a:p>
        </p:txBody>
      </p:sp>
      <p:sp>
        <p:nvSpPr>
          <p:cNvPr id="18" name="Text 16"/>
          <p:cNvSpPr/>
          <p:nvPr/>
        </p:nvSpPr>
        <p:spPr>
          <a:xfrm>
            <a:off x="6357679" y="4972844"/>
            <a:ext cx="4990777"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For tasks that require processing multiple items — documents, data records, sub-questions — the graph can loop over each item, accumulating results in state before producing a final synthesis.</a:t>
            </a:r>
            <a:endParaRPr lang="en-US" sz="1250" dirty="0"/>
          </a:p>
        </p:txBody>
      </p:sp>
      <p:sp>
        <p:nvSpPr>
          <p:cNvPr id="19" name="Text 17"/>
          <p:cNvSpPr/>
          <p:nvPr/>
        </p:nvSpPr>
        <p:spPr>
          <a:xfrm>
            <a:off x="661475" y="6110288"/>
            <a:ext cx="11478330" cy="258465"/>
          </a:xfrm>
          <a:prstGeom prst="rect">
            <a:avLst/>
          </a:prstGeom>
          <a:noFill/>
          <a:ln/>
        </p:spPr>
        <p:txBody>
          <a:bodyPr wrap="none" lIns="0" tIns="0" rIns="0" bIns="0" rtlCol="0" anchor="t"/>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Loops allow agents to </a:t>
            </a:r>
            <a:pPr algn="l" indent="0" marL="0">
              <a:lnSpc>
                <a:spcPct val="132000"/>
              </a:lnSpc>
              <a:buNone/>
            </a:pPr>
            <a:r>
              <a:rPr lang="en-US" sz="1250" b="1" dirty="0">
                <a:solidFill>
                  <a:srgbClr val="3C3939"/>
                </a:solidFill>
                <a:latin typeface="Roboto Bold" pitchFamily="34" charset="0"/>
                <a:ea typeface="Roboto Bold" pitchFamily="34" charset="-122"/>
                <a:cs typeface="Roboto Bold" pitchFamily="34" charset="-120"/>
              </a:rPr>
              <a:t>continue until a condition is satisfied</a:t>
            </a:r>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 — making them far more capable than linear chains for open-ended, multi-step tasks.</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61475" y="487164"/>
            <a:ext cx="10868745" cy="492621"/>
          </a:xfrm>
          <a:prstGeom prst="rect">
            <a:avLst/>
          </a:prstGeom>
          <a:noFill/>
          <a:ln/>
        </p:spPr>
        <p:txBody>
          <a:bodyPr wrap="none" lIns="0" tIns="0" rIns="0" bIns="0" rtlCol="0" anchor="t"/>
          <a:lstStyle/>
          <a:p>
            <a:pPr algn="l" indent="0" marL="0">
              <a:lnSpc>
                <a:spcPct val="104000"/>
              </a:lnSpc>
              <a:buNone/>
            </a:pPr>
            <a:r>
              <a:rPr lang="en-US" sz="3100" dirty="0">
                <a:solidFill>
                  <a:srgbClr val="1B1B27"/>
                </a:solidFill>
                <a:latin typeface="Raleway" pitchFamily="34" charset="0"/>
                <a:ea typeface="Raleway" pitchFamily="34" charset="-122"/>
                <a:cs typeface="Raleway" pitchFamily="34" charset="-120"/>
              </a:rPr>
              <a:t>Error Handling</a:t>
            </a:r>
            <a:endParaRPr lang="en-US" sz="3100" dirty="0"/>
          </a:p>
        </p:txBody>
      </p:sp>
      <p:sp>
        <p:nvSpPr>
          <p:cNvPr id="3" name="Text 1"/>
          <p:cNvSpPr/>
          <p:nvPr/>
        </p:nvSpPr>
        <p:spPr>
          <a:xfrm>
            <a:off x="661475" y="1280220"/>
            <a:ext cx="10868745"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C3939"/>
                </a:solidFill>
                <a:latin typeface="Roboto" pitchFamily="34" charset="0"/>
                <a:ea typeface="Roboto" pitchFamily="34" charset="-122"/>
                <a:cs typeface="Roboto" pitchFamily="34" charset="-120"/>
              </a:rPr>
              <a:t>Production agents must handle failures gracefully. LangGraph graphs should be designed with explicit error handling — not just the happy path — to ensure robust, reliable behavior in real-world conditions.</a:t>
            </a:r>
            <a:endParaRPr lang="en-US" sz="1200" dirty="0"/>
          </a:p>
        </p:txBody>
      </p:sp>
      <p:sp>
        <p:nvSpPr>
          <p:cNvPr id="4" name="Shape 2"/>
          <p:cNvSpPr/>
          <p:nvPr/>
        </p:nvSpPr>
        <p:spPr>
          <a:xfrm>
            <a:off x="547971" y="1941711"/>
            <a:ext cx="5469098" cy="4429125"/>
          </a:xfrm>
          <a:prstGeom prst="roundRect">
            <a:avLst>
              <a:gd name="adj" fmla="val 2563"/>
            </a:avLst>
          </a:prstGeom>
          <a:solidFill>
            <a:srgbClr val="1B1B27">
              <a:alpha val="95000"/>
            </a:srgbClr>
          </a:solidFill>
          <a:ln/>
        </p:spPr>
      </p:sp>
      <p:sp>
        <p:nvSpPr>
          <p:cNvPr id="5" name="Text 3"/>
          <p:cNvSpPr/>
          <p:nvPr/>
        </p:nvSpPr>
        <p:spPr>
          <a:xfrm>
            <a:off x="705527" y="2091928"/>
            <a:ext cx="5153987" cy="246261"/>
          </a:xfrm>
          <a:prstGeom prst="rect">
            <a:avLst/>
          </a:prstGeom>
          <a:noFill/>
          <a:ln/>
        </p:spPr>
        <p:txBody>
          <a:bodyPr wrap="none" lIns="0" tIns="0" rIns="0" bIns="0" rtlCol="0" anchor="t"/>
          <a:lstStyle/>
          <a:p>
            <a:pPr algn="l" indent="0" marL="0">
              <a:lnSpc>
                <a:spcPct val="104000"/>
              </a:lnSpc>
              <a:buNone/>
            </a:pPr>
            <a:r>
              <a:rPr lang="en-US" sz="1550" dirty="0">
                <a:solidFill>
                  <a:srgbClr val="FFFFFF"/>
                </a:solidFill>
                <a:latin typeface="Raleway" pitchFamily="34" charset="0"/>
                <a:ea typeface="Raleway" pitchFamily="34" charset="-122"/>
                <a:cs typeface="Raleway" pitchFamily="34" charset="-120"/>
              </a:rPr>
              <a:t>Categories of Failure</a:t>
            </a:r>
            <a:endParaRPr lang="en-US" sz="1550" dirty="0"/>
          </a:p>
        </p:txBody>
      </p:sp>
      <p:sp>
        <p:nvSpPr>
          <p:cNvPr id="6" name="Text 4"/>
          <p:cNvSpPr/>
          <p:nvPr/>
        </p:nvSpPr>
        <p:spPr>
          <a:xfrm>
            <a:off x="705527" y="2488406"/>
            <a:ext cx="5153987" cy="2426692"/>
          </a:xfrm>
          <a:prstGeom prst="rect">
            <a:avLst/>
          </a:prstGeom>
          <a:noFill/>
          <a:ln/>
        </p:spPr>
        <p:txBody>
          <a:bodyPr wrap="square" lIns="0" tIns="63055" rIns="0" bIns="0" rtlCol="0" anchor="t">
            <a:normAutofit/>
          </a:bodyPr>
          <a:lstStyle/>
          <a:p>
            <a:pPr algn="l" marL="243840" indent="-243840">
              <a:lnSpc>
                <a:spcPct val="130000"/>
              </a:lnSpc>
              <a:buSzPct val="100000"/>
              <a:buChar char="•"/>
            </a:pPr>
            <a:r>
              <a:rPr lang="en-US" sz="1200" b="1" dirty="0">
                <a:solidFill>
                  <a:srgbClr val="FFFFFF"/>
                </a:solidFill>
                <a:latin typeface="Roboto Bold" pitchFamily="34" charset="0"/>
                <a:ea typeface="Roboto Bold" pitchFamily="34" charset="-122"/>
                <a:cs typeface="Roboto Bold" pitchFamily="34" charset="-120"/>
              </a:rPr>
              <a:t>Tool failure</a:t>
            </a:r>
            <a:pPr algn="l" marL="243840" indent="-243840">
              <a:lnSpc>
                <a:spcPct val="130000"/>
              </a:lnSpc>
              <a:buSzPct val="100000"/>
              <a:buChar char="•"/>
            </a:pPr>
            <a:r>
              <a:rPr lang="en-US" sz="1200" dirty="0">
                <a:solidFill>
                  <a:srgbClr val="FFFFFF"/>
                </a:solidFill>
                <a:latin typeface="Roboto" pitchFamily="34" charset="0"/>
                <a:ea typeface="Roboto" pitchFamily="34" charset="-122"/>
                <a:cs typeface="Roboto" pitchFamily="34" charset="-120"/>
              </a:rPr>
              <a:t> — a tool raises an exception or returns an error response</a:t>
            </a:r>
            <a:endParaRPr lang="en-US" sz="1200" dirty="0"/>
          </a:p>
          <a:p>
            <a:pPr algn="l" marL="243840" indent="-243840">
              <a:lnSpc>
                <a:spcPct val="130000"/>
              </a:lnSpc>
              <a:buSzPct val="100000"/>
              <a:buChar char="•"/>
            </a:pPr>
            <a:r>
              <a:rPr lang="en-US" sz="1200" b="1" dirty="0">
                <a:solidFill>
                  <a:srgbClr val="FFFFFF"/>
                </a:solidFill>
                <a:latin typeface="Roboto Bold" pitchFamily="34" charset="0"/>
                <a:ea typeface="Roboto Bold" pitchFamily="34" charset="-122"/>
                <a:cs typeface="Roboto Bold" pitchFamily="34" charset="-120"/>
              </a:rPr>
              <a:t>Invalid input</a:t>
            </a:r>
            <a:pPr algn="l" marL="243840" indent="-243840">
              <a:lnSpc>
                <a:spcPct val="130000"/>
              </a:lnSpc>
              <a:buSzPct val="100000"/>
              <a:buChar char="•"/>
            </a:pPr>
            <a:r>
              <a:rPr lang="en-US" sz="1200" dirty="0">
                <a:solidFill>
                  <a:srgbClr val="FFFFFF"/>
                </a:solidFill>
                <a:latin typeface="Roboto" pitchFamily="34" charset="0"/>
                <a:ea typeface="Roboto" pitchFamily="34" charset="-122"/>
                <a:cs typeface="Roboto" pitchFamily="34" charset="-120"/>
              </a:rPr>
              <a:t> — the user's request is malformed, ambiguous, or outside the agent's scope</a:t>
            </a:r>
            <a:endParaRPr lang="en-US" sz="1200" dirty="0"/>
          </a:p>
          <a:p>
            <a:pPr algn="l" marL="243840" indent="-243840">
              <a:lnSpc>
                <a:spcPct val="130000"/>
              </a:lnSpc>
              <a:buSzPct val="100000"/>
              <a:buChar char="•"/>
            </a:pPr>
            <a:r>
              <a:rPr lang="en-US" sz="1200" b="1" dirty="0">
                <a:solidFill>
                  <a:srgbClr val="FFFFFF"/>
                </a:solidFill>
                <a:latin typeface="Roboto Bold" pitchFamily="34" charset="0"/>
                <a:ea typeface="Roboto Bold" pitchFamily="34" charset="-122"/>
                <a:cs typeface="Roboto Bold" pitchFamily="34" charset="-120"/>
              </a:rPr>
              <a:t>Model failure</a:t>
            </a:r>
            <a:pPr algn="l" marL="243840" indent="-243840">
              <a:lnSpc>
                <a:spcPct val="130000"/>
              </a:lnSpc>
              <a:buSzPct val="100000"/>
              <a:buChar char="•"/>
            </a:pPr>
            <a:r>
              <a:rPr lang="en-US" sz="1200" dirty="0">
                <a:solidFill>
                  <a:srgbClr val="FFFFFF"/>
                </a:solidFill>
                <a:latin typeface="Roboto" pitchFamily="34" charset="0"/>
                <a:ea typeface="Roboto" pitchFamily="34" charset="-122"/>
                <a:cs typeface="Roboto" pitchFamily="34" charset="-120"/>
              </a:rPr>
              <a:t> — the LLM returns an unexpected format, refuses to answer, or produces a malformed tool call</a:t>
            </a:r>
            <a:endParaRPr lang="en-US" sz="1200" dirty="0"/>
          </a:p>
          <a:p>
            <a:pPr algn="l" marL="243840" indent="-243840">
              <a:lnSpc>
                <a:spcPct val="130000"/>
              </a:lnSpc>
              <a:buSzPct val="100000"/>
              <a:buChar char="•"/>
            </a:pPr>
            <a:r>
              <a:rPr lang="en-US" sz="1200" b="1" dirty="0">
                <a:solidFill>
                  <a:srgbClr val="FFFFFF"/>
                </a:solidFill>
                <a:latin typeface="Roboto Bold" pitchFamily="34" charset="0"/>
                <a:ea typeface="Roboto Bold" pitchFamily="34" charset="-122"/>
                <a:cs typeface="Roboto Bold" pitchFamily="34" charset="-120"/>
              </a:rPr>
              <a:t>Unexpected output</a:t>
            </a:r>
            <a:pPr algn="l" marL="243840" indent="-243840">
              <a:lnSpc>
                <a:spcPct val="130000"/>
              </a:lnSpc>
              <a:buSzPct val="100000"/>
              <a:buChar char="•"/>
            </a:pPr>
            <a:r>
              <a:rPr lang="en-US" sz="1200" dirty="0">
                <a:solidFill>
                  <a:srgbClr val="FFFFFF"/>
                </a:solidFill>
                <a:latin typeface="Roboto" pitchFamily="34" charset="0"/>
                <a:ea typeface="Roboto" pitchFamily="34" charset="-122"/>
                <a:cs typeface="Roboto" pitchFamily="34" charset="-120"/>
              </a:rPr>
              <a:t> — a node receives state that does not match its expectations</a:t>
            </a:r>
            <a:endParaRPr lang="en-US" sz="1200" dirty="0"/>
          </a:p>
          <a:p>
            <a:pPr algn="l" marL="243840" indent="-243840">
              <a:lnSpc>
                <a:spcPct val="130000"/>
              </a:lnSpc>
              <a:buSzPct val="100000"/>
              <a:buChar char="•"/>
            </a:pPr>
            <a:r>
              <a:rPr lang="en-US" sz="1200" b="1" dirty="0">
                <a:solidFill>
                  <a:srgbClr val="FFFFFF"/>
                </a:solidFill>
                <a:latin typeface="Roboto Bold" pitchFamily="34" charset="0"/>
                <a:ea typeface="Roboto Bold" pitchFamily="34" charset="-122"/>
                <a:cs typeface="Roboto Bold" pitchFamily="34" charset="-120"/>
              </a:rPr>
              <a:t>API errors</a:t>
            </a:r>
            <a:pPr algn="l" marL="243840" indent="-243840">
              <a:lnSpc>
                <a:spcPct val="130000"/>
              </a:lnSpc>
              <a:buSzPct val="100000"/>
              <a:buChar char="•"/>
            </a:pPr>
            <a:r>
              <a:rPr lang="en-US" sz="1200" dirty="0">
                <a:solidFill>
                  <a:srgbClr val="FFFFFF"/>
                </a:solidFill>
                <a:latin typeface="Roboto" pitchFamily="34" charset="0"/>
                <a:ea typeface="Roboto" pitchFamily="34" charset="-122"/>
                <a:cs typeface="Roboto" pitchFamily="34" charset="-120"/>
              </a:rPr>
              <a:t> — network failures, rate limits, or authentication errors from external services</a:t>
            </a:r>
            <a:endParaRPr lang="en-US" sz="1200" dirty="0"/>
          </a:p>
        </p:txBody>
      </p:sp>
      <p:sp>
        <p:nvSpPr>
          <p:cNvPr id="7" name="Text 5"/>
          <p:cNvSpPr/>
          <p:nvPr/>
        </p:nvSpPr>
        <p:spPr>
          <a:xfrm>
            <a:off x="6294478" y="2091928"/>
            <a:ext cx="5242092" cy="246261"/>
          </a:xfrm>
          <a:prstGeom prst="rect">
            <a:avLst/>
          </a:prstGeom>
          <a:noFill/>
          <a:ln/>
        </p:spPr>
        <p:txBody>
          <a:bodyPr wrap="none" lIns="0" tIns="0" rIns="0" bIns="0" rtlCol="0" anchor="t"/>
          <a:lstStyle/>
          <a:p>
            <a:pPr algn="l" indent="0" marL="0">
              <a:lnSpc>
                <a:spcPct val="104000"/>
              </a:lnSpc>
              <a:buNone/>
            </a:pPr>
            <a:r>
              <a:rPr lang="en-US" sz="1550" dirty="0">
                <a:solidFill>
                  <a:srgbClr val="1B1B27"/>
                </a:solidFill>
                <a:latin typeface="Raleway" pitchFamily="34" charset="0"/>
                <a:ea typeface="Raleway" pitchFamily="34" charset="-122"/>
                <a:cs typeface="Raleway" pitchFamily="34" charset="-120"/>
              </a:rPr>
              <a:t>Handling Failures in the Graph</a:t>
            </a:r>
            <a:endParaRPr lang="en-US" sz="1550" dirty="0"/>
          </a:p>
        </p:txBody>
      </p:sp>
      <p:sp>
        <p:nvSpPr>
          <p:cNvPr id="8" name="Text 6"/>
          <p:cNvSpPr/>
          <p:nvPr/>
        </p:nvSpPr>
        <p:spPr>
          <a:xfrm>
            <a:off x="6294478" y="2488406"/>
            <a:ext cx="5242092"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C3939"/>
                </a:solidFill>
                <a:latin typeface="Roboto" pitchFamily="34" charset="0"/>
                <a:ea typeface="Roboto" pitchFamily="34" charset="-122"/>
                <a:cs typeface="Roboto" pitchFamily="34" charset="-120"/>
              </a:rPr>
              <a:t>The graph should handle failures </a:t>
            </a:r>
            <a:pPr algn="l" indent="0" marL="0">
              <a:lnSpc>
                <a:spcPct val="130000"/>
              </a:lnSpc>
              <a:buNone/>
            </a:pPr>
            <a:r>
              <a:rPr lang="en-US" sz="1200" b="1" dirty="0">
                <a:solidFill>
                  <a:srgbClr val="3C3939"/>
                </a:solidFill>
                <a:latin typeface="Roboto Bold" pitchFamily="34" charset="0"/>
                <a:ea typeface="Roboto Bold" pitchFamily="34" charset="-122"/>
                <a:cs typeface="Roboto Bold" pitchFamily="34" charset="-120"/>
              </a:rPr>
              <a:t>explicitly where appropriate</a:t>
            </a:r>
            <a:pPr algn="l" indent="0" marL="0">
              <a:lnSpc>
                <a:spcPct val="130000"/>
              </a:lnSpc>
              <a:buNone/>
            </a:pPr>
            <a:r>
              <a:rPr lang="en-US" sz="1200" dirty="0">
                <a:solidFill>
                  <a:srgbClr val="3C3939"/>
                </a:solidFill>
                <a:latin typeface="Roboto" pitchFamily="34" charset="0"/>
                <a:ea typeface="Roboto" pitchFamily="34" charset="-122"/>
                <a:cs typeface="Roboto" pitchFamily="34" charset="-120"/>
              </a:rPr>
              <a:t>. Strategies include:</a:t>
            </a:r>
            <a:endParaRPr lang="en-US" sz="1200" dirty="0"/>
          </a:p>
        </p:txBody>
      </p:sp>
      <p:sp>
        <p:nvSpPr>
          <p:cNvPr id="9" name="Text 7"/>
          <p:cNvSpPr/>
          <p:nvPr/>
        </p:nvSpPr>
        <p:spPr>
          <a:xfrm>
            <a:off x="6294478" y="3116064"/>
            <a:ext cx="5242092" cy="1828998"/>
          </a:xfrm>
          <a:prstGeom prst="rect">
            <a:avLst/>
          </a:prstGeom>
          <a:noFill/>
          <a:ln/>
        </p:spPr>
        <p:txBody>
          <a:bodyPr wrap="square" lIns="0" tIns="63055" rIns="0" bIns="0" rtlCol="0" anchor="t">
            <a:normAutofit/>
          </a:bodyPr>
          <a:lstStyle/>
          <a:p>
            <a:pPr algn="l" marL="243840" indent="-243840">
              <a:lnSpc>
                <a:spcPct val="130000"/>
              </a:lnSpc>
              <a:buSzPct val="100000"/>
              <a:buChar char="•"/>
            </a:pPr>
            <a:r>
              <a:rPr lang="en-US" sz="1200" b="1" dirty="0">
                <a:solidFill>
                  <a:srgbClr val="3C3939"/>
                </a:solidFill>
                <a:latin typeface="Roboto Bold" pitchFamily="34" charset="0"/>
                <a:ea typeface="Roboto Bold" pitchFamily="34" charset="-122"/>
                <a:cs typeface="Roboto Bold" pitchFamily="34" charset="-120"/>
              </a:rPr>
              <a:t>Retry</a:t>
            </a:r>
            <a:pPr algn="l" marL="243840" indent="-243840">
              <a:lnSpc>
                <a:spcPct val="130000"/>
              </a:lnSpc>
              <a:buSzPct val="100000"/>
              <a:buChar char="•"/>
            </a:pPr>
            <a:r>
              <a:rPr lang="en-US" sz="1200" dirty="0">
                <a:solidFill>
                  <a:srgbClr val="3C3939"/>
                </a:solidFill>
                <a:latin typeface="Roboto" pitchFamily="34" charset="0"/>
                <a:ea typeface="Roboto" pitchFamily="34" charset="-122"/>
                <a:cs typeface="Roboto" pitchFamily="34" charset="-120"/>
              </a:rPr>
              <a:t> — loop back and attempt the failed operation again, optionally with modified parameters or a delay</a:t>
            </a:r>
            <a:endParaRPr lang="en-US" sz="1200" dirty="0"/>
          </a:p>
          <a:p>
            <a:pPr algn="l" marL="243840" indent="-243840">
              <a:lnSpc>
                <a:spcPct val="130000"/>
              </a:lnSpc>
              <a:buSzPct val="100000"/>
              <a:buChar char="•"/>
            </a:pPr>
            <a:r>
              <a:rPr lang="en-US" sz="1200" b="1" dirty="0">
                <a:solidFill>
                  <a:srgbClr val="3C3939"/>
                </a:solidFill>
                <a:latin typeface="Roboto Bold" pitchFamily="34" charset="0"/>
                <a:ea typeface="Roboto Bold" pitchFamily="34" charset="-122"/>
                <a:cs typeface="Roboto Bold" pitchFamily="34" charset="-120"/>
              </a:rPr>
              <a:t>Error-handling node</a:t>
            </a:r>
            <a:pPr algn="l" marL="243840" indent="-243840">
              <a:lnSpc>
                <a:spcPct val="130000"/>
              </a:lnSpc>
              <a:buSzPct val="100000"/>
              <a:buChar char="•"/>
            </a:pPr>
            <a:r>
              <a:rPr lang="en-US" sz="1200" dirty="0">
                <a:solidFill>
                  <a:srgbClr val="3C3939"/>
                </a:solidFill>
                <a:latin typeface="Roboto" pitchFamily="34" charset="0"/>
                <a:ea typeface="Roboto" pitchFamily="34" charset="-122"/>
                <a:cs typeface="Roboto" pitchFamily="34" charset="-120"/>
              </a:rPr>
              <a:t> — route to a dedicated node that logs the error, updates state with an error message, and either retries or routes to END with an informative failure response</a:t>
            </a:r>
            <a:endParaRPr lang="en-US" sz="1200" dirty="0"/>
          </a:p>
          <a:p>
            <a:pPr algn="l" marL="243840" indent="-243840">
              <a:lnSpc>
                <a:spcPct val="130000"/>
              </a:lnSpc>
              <a:buSzPct val="100000"/>
              <a:buChar char="•"/>
            </a:pPr>
            <a:r>
              <a:rPr lang="en-US" sz="1200" b="1" dirty="0">
                <a:solidFill>
                  <a:srgbClr val="3C3939"/>
                </a:solidFill>
                <a:latin typeface="Roboto Bold" pitchFamily="34" charset="0"/>
                <a:ea typeface="Roboto Bold" pitchFamily="34" charset="-122"/>
                <a:cs typeface="Roboto Bold" pitchFamily="34" charset="-120"/>
              </a:rPr>
              <a:t>Graceful degradation</a:t>
            </a:r>
            <a:pPr algn="l" marL="243840" indent="-243840">
              <a:lnSpc>
                <a:spcPct val="130000"/>
              </a:lnSpc>
              <a:buSzPct val="100000"/>
              <a:buChar char="•"/>
            </a:pPr>
            <a:r>
              <a:rPr lang="en-US" sz="1200" dirty="0">
                <a:solidFill>
                  <a:srgbClr val="3C3939"/>
                </a:solidFill>
                <a:latin typeface="Roboto" pitchFamily="34" charset="0"/>
                <a:ea typeface="Roboto" pitchFamily="34" charset="-122"/>
                <a:cs typeface="Roboto" pitchFamily="34" charset="-120"/>
              </a:rPr>
              <a:t> — if a tool is unavailable, route to an alternative approach or inform the user that the operation could not be completed</a:t>
            </a:r>
            <a:endParaRPr lang="en-US" sz="1200" dirty="0"/>
          </a:p>
        </p:txBody>
      </p:sp>
      <p:sp>
        <p:nvSpPr>
          <p:cNvPr id="10" name="Shape 8"/>
          <p:cNvSpPr/>
          <p:nvPr/>
        </p:nvSpPr>
        <p:spPr>
          <a:xfrm>
            <a:off x="6294478" y="5114032"/>
            <a:ext cx="5242092" cy="1087834"/>
          </a:xfrm>
          <a:prstGeom prst="roundRect">
            <a:avLst>
              <a:gd name="adj" fmla="val 6086"/>
            </a:avLst>
          </a:prstGeom>
          <a:solidFill>
            <a:srgbClr val="FCF2B5"/>
          </a:solidFill>
          <a:ln/>
        </p:spPr>
      </p:sp>
      <p:pic>
        <p:nvPicPr>
          <p:cNvPr id="11" name="Image 0" descr="preencoded.png">    </p:cNvPr>
          <p:cNvPicPr>
            <a:picLocks noChangeAspect="1"/>
          </p:cNvPicPr>
          <p:nvPr/>
        </p:nvPicPr>
        <p:blipFill>
          <a:blip r:embed="rId1"/>
          <a:stretch>
            <a:fillRect/>
          </a:stretch>
        </p:blipFill>
        <p:spPr>
          <a:xfrm>
            <a:off x="6452034" y="5337175"/>
            <a:ext cx="197044" cy="157559"/>
          </a:xfrm>
          <a:prstGeom prst="rect">
            <a:avLst/>
          </a:prstGeom>
        </p:spPr>
      </p:pic>
      <p:sp>
        <p:nvSpPr>
          <p:cNvPr id="12" name="Text 9"/>
          <p:cNvSpPr/>
          <p:nvPr/>
        </p:nvSpPr>
        <p:spPr>
          <a:xfrm>
            <a:off x="6806633" y="5288558"/>
            <a:ext cx="4572382" cy="738783"/>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Never allow unhandled exceptions to propagate silently through the graph. Always design explicit failure paths for critical operations.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61475" y="512862"/>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Human-in-the-Loop</a:t>
            </a:r>
            <a:endParaRPr lang="en-US" sz="3250" dirty="0"/>
          </a:p>
        </p:txBody>
      </p:sp>
      <p:sp>
        <p:nvSpPr>
          <p:cNvPr id="3" name="Text 1"/>
          <p:cNvSpPr/>
          <p:nvPr/>
        </p:nvSpPr>
        <p:spPr>
          <a:xfrm>
            <a:off x="661475" y="1360289"/>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Human-in-the-loop (HITL) is a pattern where graph execution </a:t>
            </a:r>
            <a:pPr algn="l" indent="0" marL="0">
              <a:lnSpc>
                <a:spcPct val="133000"/>
              </a:lnSpc>
              <a:buNone/>
            </a:pPr>
            <a:r>
              <a:rPr lang="en-US" sz="1300" b="1" dirty="0">
                <a:solidFill>
                  <a:srgbClr val="3C3939"/>
                </a:solidFill>
                <a:latin typeface="Roboto Bold" pitchFamily="34" charset="0"/>
                <a:ea typeface="Roboto Bold" pitchFamily="34" charset="-122"/>
                <a:cs typeface="Roboto Bold" pitchFamily="34" charset="-120"/>
              </a:rPr>
              <a:t>pauses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at a designated point to allow a human to review, approve, or modify the agent's proposed action before execution continues.</a:t>
            </a:r>
            <a:endParaRPr lang="en-US" sz="1300" dirty="0"/>
          </a:p>
        </p:txBody>
      </p:sp>
      <p:sp>
        <p:nvSpPr>
          <p:cNvPr id="4" name="Text 2"/>
          <p:cNvSpPr/>
          <p:nvPr/>
        </p:nvSpPr>
        <p:spPr>
          <a:xfrm>
            <a:off x="661475" y="2075557"/>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01</a:t>
            </a:r>
            <a:endParaRPr lang="en-US" sz="1300" dirty="0"/>
          </a:p>
        </p:txBody>
      </p:sp>
      <p:sp>
        <p:nvSpPr>
          <p:cNvPr id="5" name="Shape 3"/>
          <p:cNvSpPr/>
          <p:nvPr/>
        </p:nvSpPr>
        <p:spPr>
          <a:xfrm>
            <a:off x="661475" y="2337495"/>
            <a:ext cx="3512653" cy="19050"/>
          </a:xfrm>
          <a:prstGeom prst="rect">
            <a:avLst/>
          </a:prstGeom>
          <a:solidFill>
            <a:srgbClr val="1B1B27"/>
          </a:solidFill>
          <a:ln/>
        </p:spPr>
      </p:sp>
      <p:sp>
        <p:nvSpPr>
          <p:cNvPr id="6" name="Text 4"/>
          <p:cNvSpPr/>
          <p:nvPr/>
        </p:nvSpPr>
        <p:spPr>
          <a:xfrm>
            <a:off x="661475" y="2458244"/>
            <a:ext cx="3512653"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Graph Execution Pauses Before a Sensitive Action</a:t>
            </a:r>
            <a:endParaRPr lang="en-US" sz="1600" dirty="0"/>
          </a:p>
        </p:txBody>
      </p:sp>
      <p:sp>
        <p:nvSpPr>
          <p:cNvPr id="7" name="Text 5"/>
          <p:cNvSpPr/>
          <p:nvPr/>
        </p:nvSpPr>
        <p:spPr>
          <a:xfrm>
            <a:off x="661475" y="3074392"/>
            <a:ext cx="3512653"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graph is configured to interrupt at a specific node — typically before an action with significant consequences, such as sending an email, modifying a database, or making a financial transaction.</a:t>
            </a:r>
            <a:endParaRPr lang="en-US" sz="1300" dirty="0"/>
          </a:p>
        </p:txBody>
      </p:sp>
      <p:sp>
        <p:nvSpPr>
          <p:cNvPr id="8" name="Text 6"/>
          <p:cNvSpPr/>
          <p:nvPr/>
        </p:nvSpPr>
        <p:spPr>
          <a:xfrm>
            <a:off x="4339422" y="2075557"/>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02</a:t>
            </a:r>
            <a:endParaRPr lang="en-US" sz="1300" dirty="0"/>
          </a:p>
        </p:txBody>
      </p:sp>
      <p:sp>
        <p:nvSpPr>
          <p:cNvPr id="9" name="Shape 7"/>
          <p:cNvSpPr/>
          <p:nvPr/>
        </p:nvSpPr>
        <p:spPr>
          <a:xfrm>
            <a:off x="4339422" y="2337495"/>
            <a:ext cx="3512752" cy="19050"/>
          </a:xfrm>
          <a:prstGeom prst="rect">
            <a:avLst/>
          </a:prstGeom>
          <a:solidFill>
            <a:srgbClr val="1B1B27"/>
          </a:solidFill>
          <a:ln/>
        </p:spPr>
      </p:sp>
      <p:sp>
        <p:nvSpPr>
          <p:cNvPr id="10" name="Text 8"/>
          <p:cNvSpPr/>
          <p:nvPr/>
        </p:nvSpPr>
        <p:spPr>
          <a:xfrm>
            <a:off x="4339422" y="2458244"/>
            <a:ext cx="3512752"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Human Reviews the Proposed Action</a:t>
            </a:r>
            <a:endParaRPr lang="en-US" sz="1600" dirty="0"/>
          </a:p>
        </p:txBody>
      </p:sp>
      <p:sp>
        <p:nvSpPr>
          <p:cNvPr id="11" name="Text 9"/>
          <p:cNvSpPr/>
          <p:nvPr/>
        </p:nvSpPr>
        <p:spPr>
          <a:xfrm>
            <a:off x="4339422" y="3074392"/>
            <a:ext cx="3512752"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current state — including the agent's proposed action — is presented to a human reviewer. The reviewer can inspect the full context: what the user asked, what the agent reasoned, and what action it intends to take.</a:t>
            </a:r>
            <a:endParaRPr lang="en-US" sz="1300" dirty="0"/>
          </a:p>
        </p:txBody>
      </p:sp>
      <p:sp>
        <p:nvSpPr>
          <p:cNvPr id="12" name="Text 10"/>
          <p:cNvSpPr/>
          <p:nvPr/>
        </p:nvSpPr>
        <p:spPr>
          <a:xfrm>
            <a:off x="8017468" y="2075557"/>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03</a:t>
            </a:r>
            <a:endParaRPr lang="en-US" sz="1300" dirty="0"/>
          </a:p>
        </p:txBody>
      </p:sp>
      <p:sp>
        <p:nvSpPr>
          <p:cNvPr id="13" name="Shape 11"/>
          <p:cNvSpPr/>
          <p:nvPr/>
        </p:nvSpPr>
        <p:spPr>
          <a:xfrm>
            <a:off x="8017468" y="2337495"/>
            <a:ext cx="3512653" cy="19050"/>
          </a:xfrm>
          <a:prstGeom prst="rect">
            <a:avLst/>
          </a:prstGeom>
          <a:solidFill>
            <a:srgbClr val="1B1B27"/>
          </a:solidFill>
          <a:ln/>
        </p:spPr>
      </p:sp>
      <p:sp>
        <p:nvSpPr>
          <p:cNvPr id="14" name="Text 12"/>
          <p:cNvSpPr/>
          <p:nvPr/>
        </p:nvSpPr>
        <p:spPr>
          <a:xfrm>
            <a:off x="8017468" y="2458244"/>
            <a:ext cx="3512653"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Human Approves or Rejects</a:t>
            </a:r>
            <a:endParaRPr lang="en-US" sz="1600" dirty="0"/>
          </a:p>
        </p:txBody>
      </p:sp>
      <p:sp>
        <p:nvSpPr>
          <p:cNvPr id="15" name="Text 13"/>
          <p:cNvSpPr/>
          <p:nvPr/>
        </p:nvSpPr>
        <p:spPr>
          <a:xfrm>
            <a:off x="8017468" y="2815927"/>
            <a:ext cx="3512653"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reviewer makes a decision. They may approve the action as proposed, reject it entirely, or modify the state before allowing execution to continue — for example, correcting a parameter in the tool call.</a:t>
            </a:r>
            <a:endParaRPr lang="en-US" sz="1300" dirty="0"/>
          </a:p>
        </p:txBody>
      </p:sp>
      <p:sp>
        <p:nvSpPr>
          <p:cNvPr id="16" name="Text 14"/>
          <p:cNvSpPr/>
          <p:nvPr/>
        </p:nvSpPr>
        <p:spPr>
          <a:xfrm>
            <a:off x="661475" y="4686796"/>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04</a:t>
            </a:r>
            <a:endParaRPr lang="en-US" sz="1300" dirty="0"/>
          </a:p>
        </p:txBody>
      </p:sp>
      <p:sp>
        <p:nvSpPr>
          <p:cNvPr id="17" name="Shape 15"/>
          <p:cNvSpPr/>
          <p:nvPr/>
        </p:nvSpPr>
        <p:spPr>
          <a:xfrm>
            <a:off x="661475" y="4948734"/>
            <a:ext cx="5351626" cy="19050"/>
          </a:xfrm>
          <a:prstGeom prst="rect">
            <a:avLst/>
          </a:prstGeom>
          <a:solidFill>
            <a:srgbClr val="1B1B27"/>
          </a:solidFill>
          <a:ln/>
        </p:spPr>
      </p:sp>
      <p:sp>
        <p:nvSpPr>
          <p:cNvPr id="18" name="Text 16"/>
          <p:cNvSpPr/>
          <p:nvPr/>
        </p:nvSpPr>
        <p:spPr>
          <a:xfrm>
            <a:off x="661475" y="5069483"/>
            <a:ext cx="5351626"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Graph Continues Based on the Decision</a:t>
            </a:r>
            <a:endParaRPr lang="en-US" sz="1600" dirty="0"/>
          </a:p>
        </p:txBody>
      </p:sp>
      <p:sp>
        <p:nvSpPr>
          <p:cNvPr id="19" name="Text 17"/>
          <p:cNvSpPr/>
          <p:nvPr/>
        </p:nvSpPr>
        <p:spPr>
          <a:xfrm>
            <a:off x="661475" y="5427166"/>
            <a:ext cx="5351626"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If approved, execution resumes from the interruption point. If rejected, the graph may route to an alternative path — informing the user, requesting clarification, or terminating the task.</a:t>
            </a:r>
            <a:endParaRPr lang="en-US" sz="1300" dirty="0"/>
          </a:p>
        </p:txBody>
      </p:sp>
      <p:sp>
        <p:nvSpPr>
          <p:cNvPr id="20" name="Text 18"/>
          <p:cNvSpPr/>
          <p:nvPr/>
        </p:nvSpPr>
        <p:spPr>
          <a:xfrm>
            <a:off x="6178395" y="4686796"/>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05</a:t>
            </a:r>
            <a:endParaRPr lang="en-US" sz="1300" dirty="0"/>
          </a:p>
        </p:txBody>
      </p:sp>
      <p:sp>
        <p:nvSpPr>
          <p:cNvPr id="21" name="Shape 19"/>
          <p:cNvSpPr/>
          <p:nvPr/>
        </p:nvSpPr>
        <p:spPr>
          <a:xfrm>
            <a:off x="6178395" y="4948734"/>
            <a:ext cx="5351725" cy="19050"/>
          </a:xfrm>
          <a:prstGeom prst="rect">
            <a:avLst/>
          </a:prstGeom>
          <a:solidFill>
            <a:srgbClr val="1B1B27"/>
          </a:solidFill>
          <a:ln/>
        </p:spPr>
      </p:sp>
      <p:sp>
        <p:nvSpPr>
          <p:cNvPr id="22" name="Text 20"/>
          <p:cNvSpPr/>
          <p:nvPr/>
        </p:nvSpPr>
        <p:spPr>
          <a:xfrm>
            <a:off x="6178395" y="5069483"/>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Useful for High-Risk Operations</a:t>
            </a:r>
            <a:endParaRPr lang="en-US" sz="1600" dirty="0"/>
          </a:p>
        </p:txBody>
      </p:sp>
      <p:sp>
        <p:nvSpPr>
          <p:cNvPr id="23" name="Text 21"/>
          <p:cNvSpPr/>
          <p:nvPr/>
        </p:nvSpPr>
        <p:spPr>
          <a:xfrm>
            <a:off x="6178395" y="5427166"/>
            <a:ext cx="535172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HITL is essential for any agent operating in a domain where mistakes are costly or irreversible. It provides a safety layer between the agent's reasoning and its real-world actions.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61475" y="559594"/>
            <a:ext cx="10868745" cy="476448"/>
          </a:xfrm>
          <a:prstGeom prst="rect">
            <a:avLst/>
          </a:prstGeom>
          <a:noFill/>
          <a:ln/>
        </p:spPr>
        <p:txBody>
          <a:bodyPr wrap="none" lIns="0" tIns="0" rIns="0" bIns="0" rtlCol="0" anchor="t"/>
          <a:lstStyle/>
          <a:p>
            <a:pPr algn="l" indent="0" marL="0">
              <a:lnSpc>
                <a:spcPct val="104000"/>
              </a:lnSpc>
              <a:buNone/>
            </a:pPr>
            <a:r>
              <a:rPr lang="en-US" sz="3000" dirty="0">
                <a:solidFill>
                  <a:srgbClr val="1B1B27"/>
                </a:solidFill>
                <a:latin typeface="Raleway" pitchFamily="34" charset="0"/>
                <a:ea typeface="Raleway" pitchFamily="34" charset="-122"/>
                <a:cs typeface="Raleway" pitchFamily="34" charset="-120"/>
              </a:rPr>
              <a:t>Persistence and Checkpointing</a:t>
            </a:r>
            <a:endParaRPr lang="en-US" sz="3000" dirty="0"/>
          </a:p>
        </p:txBody>
      </p:sp>
      <p:sp>
        <p:nvSpPr>
          <p:cNvPr id="3" name="Text 1"/>
          <p:cNvSpPr/>
          <p:nvPr/>
        </p:nvSpPr>
        <p:spPr>
          <a:xfrm>
            <a:off x="661475" y="1317129"/>
            <a:ext cx="10868745" cy="468908"/>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C3939"/>
                </a:solidFill>
                <a:latin typeface="Roboto" pitchFamily="34" charset="0"/>
                <a:ea typeface="Roboto" pitchFamily="34" charset="-122"/>
                <a:cs typeface="Roboto" pitchFamily="34" charset="-120"/>
              </a:rPr>
              <a:t>LangGraph supports </a:t>
            </a:r>
            <a:pPr algn="l" indent="0" marL="0">
              <a:lnSpc>
                <a:spcPct val="128000"/>
              </a:lnSpc>
              <a:buNone/>
            </a:pPr>
            <a:r>
              <a:rPr lang="en-US" sz="1200" b="1" dirty="0">
                <a:solidFill>
                  <a:srgbClr val="3C3939"/>
                </a:solidFill>
                <a:latin typeface="Roboto Bold" pitchFamily="34" charset="0"/>
                <a:ea typeface="Roboto Bold" pitchFamily="34" charset="-122"/>
                <a:cs typeface="Roboto Bold" pitchFamily="34" charset="-120"/>
              </a:rPr>
              <a:t>persistence</a:t>
            </a:r>
            <a:pPr algn="l" indent="0" marL="0">
              <a:lnSpc>
                <a:spcPct val="128000"/>
              </a:lnSpc>
              <a:buNone/>
            </a:pPr>
            <a:r>
              <a:rPr lang="en-US" sz="1200" dirty="0">
                <a:solidFill>
                  <a:srgbClr val="3C3939"/>
                </a:solidFill>
                <a:latin typeface="Roboto" pitchFamily="34" charset="0"/>
                <a:ea typeface="Roboto" pitchFamily="34" charset="-122"/>
                <a:cs typeface="Roboto" pitchFamily="34" charset="-120"/>
              </a:rPr>
              <a:t> — the ability to save graph state at any point during execution and restore it later. This is implemented through a checkpointing mechanism.</a:t>
            </a:r>
            <a:endParaRPr lang="en-US" sz="12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944092"/>
            <a:ext cx="5364128" cy="1368822"/>
          </a:xfrm>
          <a:prstGeom prst="rect">
            <a:avLst/>
          </a:prstGeom>
        </p:spPr>
      </p:pic>
      <p:sp>
        <p:nvSpPr>
          <p:cNvPr id="5" name="Text 2"/>
          <p:cNvSpPr/>
          <p:nvPr/>
        </p:nvSpPr>
        <p:spPr>
          <a:xfrm>
            <a:off x="909119" y="2115542"/>
            <a:ext cx="4945038" cy="238224"/>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Graph Execution Can Be Persisted</a:t>
            </a:r>
            <a:endParaRPr lang="en-US" sz="1500" dirty="0"/>
          </a:p>
        </p:txBody>
      </p:sp>
      <p:sp>
        <p:nvSpPr>
          <p:cNvPr id="6" name="Text 3"/>
          <p:cNvSpPr/>
          <p:nvPr/>
        </p:nvSpPr>
        <p:spPr>
          <a:xfrm>
            <a:off x="909119" y="2438102"/>
            <a:ext cx="4945038" cy="703362"/>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C3939"/>
                </a:solidFill>
                <a:latin typeface="Roboto" pitchFamily="34" charset="0"/>
                <a:ea typeface="Roboto" pitchFamily="34" charset="-122"/>
                <a:cs typeface="Roboto" pitchFamily="34" charset="-120"/>
              </a:rPr>
              <a:t>By configuring a checkpointer at compile time, LangGraph automatically saves the graph state after each node execution. The state is stored in a backend — in-memory, a database, or another persistence layer.</a:t>
            </a:r>
            <a:endParaRPr lang="en-US" sz="12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66093" y="1944092"/>
            <a:ext cx="5364128" cy="1368822"/>
          </a:xfrm>
          <a:prstGeom prst="rect">
            <a:avLst/>
          </a:prstGeom>
        </p:spPr>
      </p:pic>
      <p:sp>
        <p:nvSpPr>
          <p:cNvPr id="8" name="Text 4"/>
          <p:cNvSpPr/>
          <p:nvPr/>
        </p:nvSpPr>
        <p:spPr>
          <a:xfrm>
            <a:off x="6413736" y="2115542"/>
            <a:ext cx="4945038" cy="238224"/>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Checkpoints Capture Graph State</a:t>
            </a:r>
            <a:endParaRPr lang="en-US" sz="1500" dirty="0"/>
          </a:p>
        </p:txBody>
      </p:sp>
      <p:sp>
        <p:nvSpPr>
          <p:cNvPr id="9" name="Text 5"/>
          <p:cNvSpPr/>
          <p:nvPr/>
        </p:nvSpPr>
        <p:spPr>
          <a:xfrm>
            <a:off x="6413736" y="2438102"/>
            <a:ext cx="4945038" cy="703362"/>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C3939"/>
                </a:solidFill>
                <a:latin typeface="Roboto" pitchFamily="34" charset="0"/>
                <a:ea typeface="Roboto" pitchFamily="34" charset="-122"/>
                <a:cs typeface="Roboto" pitchFamily="34" charset="-120"/>
              </a:rPr>
              <a:t>Each checkpoint is a snapshot of the complete state at a specific point in execution. Checkpoints are identified by a thread ID and a checkpoint ID, allowing specific execution states to be retrieved and restored.</a:t>
            </a:r>
            <a:endParaRPr lang="en-US" sz="1200" dirty="0"/>
          </a:p>
        </p:txBody>
      </p:sp>
      <p:sp>
        <p:nvSpPr>
          <p:cNvPr id="10" name="Shape 6"/>
          <p:cNvSpPr/>
          <p:nvPr/>
        </p:nvSpPr>
        <p:spPr>
          <a:xfrm>
            <a:off x="661475" y="3470970"/>
            <a:ext cx="3529222" cy="1577876"/>
          </a:xfrm>
          <a:prstGeom prst="roundRect">
            <a:avLst>
              <a:gd name="adj" fmla="val 4058"/>
            </a:avLst>
          </a:prstGeom>
          <a:solidFill>
            <a:srgbClr val="E1E1EA"/>
          </a:solidFill>
          <a:ln w="6350">
            <a:solidFill>
              <a:srgbClr val="C7C7D0"/>
            </a:solidFill>
            <a:prstDash val="solid"/>
          </a:ln>
        </p:spPr>
      </p:sp>
      <p:sp>
        <p:nvSpPr>
          <p:cNvPr id="11" name="Text 7"/>
          <p:cNvSpPr/>
          <p:nvPr/>
        </p:nvSpPr>
        <p:spPr>
          <a:xfrm>
            <a:off x="820221" y="3629720"/>
            <a:ext cx="3211730" cy="238224"/>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Long-Running Tasks</a:t>
            </a:r>
            <a:endParaRPr lang="en-US" sz="1500" dirty="0"/>
          </a:p>
        </p:txBody>
      </p:sp>
      <p:sp>
        <p:nvSpPr>
          <p:cNvPr id="12" name="Text 8"/>
          <p:cNvSpPr/>
          <p:nvPr/>
        </p:nvSpPr>
        <p:spPr>
          <a:xfrm>
            <a:off x="820221" y="3952280"/>
            <a:ext cx="3211730" cy="703362"/>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C3939"/>
                </a:solidFill>
                <a:latin typeface="Roboto" pitchFamily="34" charset="0"/>
                <a:ea typeface="Roboto" pitchFamily="34" charset="-122"/>
                <a:cs typeface="Roboto" pitchFamily="34" charset="-120"/>
              </a:rPr>
              <a:t>Agents working on extended tasks can save progress incrementally, preventing loss of work if execution is interrupted.</a:t>
            </a:r>
            <a:endParaRPr lang="en-US" sz="1200" dirty="0"/>
          </a:p>
        </p:txBody>
      </p:sp>
      <p:sp>
        <p:nvSpPr>
          <p:cNvPr id="13" name="Shape 9"/>
          <p:cNvSpPr/>
          <p:nvPr/>
        </p:nvSpPr>
        <p:spPr>
          <a:xfrm>
            <a:off x="4331187" y="3470970"/>
            <a:ext cx="3529222" cy="1577876"/>
          </a:xfrm>
          <a:prstGeom prst="roundRect">
            <a:avLst>
              <a:gd name="adj" fmla="val 4058"/>
            </a:avLst>
          </a:prstGeom>
          <a:solidFill>
            <a:srgbClr val="E1E1EA"/>
          </a:solidFill>
          <a:ln w="6350">
            <a:solidFill>
              <a:srgbClr val="C7C7D0"/>
            </a:solidFill>
            <a:prstDash val="solid"/>
          </a:ln>
        </p:spPr>
      </p:sp>
      <p:sp>
        <p:nvSpPr>
          <p:cNvPr id="14" name="Text 10"/>
          <p:cNvSpPr/>
          <p:nvPr/>
        </p:nvSpPr>
        <p:spPr>
          <a:xfrm>
            <a:off x="4489933" y="3629720"/>
            <a:ext cx="3211730" cy="238224"/>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Resuming Interrupted Execution</a:t>
            </a:r>
            <a:endParaRPr lang="en-US" sz="1500" dirty="0"/>
          </a:p>
        </p:txBody>
      </p:sp>
      <p:sp>
        <p:nvSpPr>
          <p:cNvPr id="15" name="Text 11"/>
          <p:cNvSpPr/>
          <p:nvPr/>
        </p:nvSpPr>
        <p:spPr>
          <a:xfrm>
            <a:off x="4489933" y="3952280"/>
            <a:ext cx="3211730" cy="937816"/>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C3939"/>
                </a:solidFill>
                <a:latin typeface="Roboto" pitchFamily="34" charset="0"/>
                <a:ea typeface="Roboto" pitchFamily="34" charset="-122"/>
                <a:cs typeface="Roboto" pitchFamily="34" charset="-120"/>
              </a:rPr>
              <a:t>A graph that was interrupted — by a failure, a timeout, or a human-in-the-loop pause — can be resumed from the last checkpoint rather than restarting from scratch.</a:t>
            </a:r>
            <a:endParaRPr lang="en-US" sz="1200" dirty="0"/>
          </a:p>
        </p:txBody>
      </p:sp>
      <p:sp>
        <p:nvSpPr>
          <p:cNvPr id="16" name="Shape 12"/>
          <p:cNvSpPr/>
          <p:nvPr/>
        </p:nvSpPr>
        <p:spPr>
          <a:xfrm>
            <a:off x="8000899" y="3470970"/>
            <a:ext cx="3529321" cy="1577876"/>
          </a:xfrm>
          <a:prstGeom prst="roundRect">
            <a:avLst>
              <a:gd name="adj" fmla="val 4058"/>
            </a:avLst>
          </a:prstGeom>
          <a:solidFill>
            <a:srgbClr val="E1E1EA"/>
          </a:solidFill>
          <a:ln w="6350">
            <a:solidFill>
              <a:srgbClr val="C7C7D0"/>
            </a:solidFill>
            <a:prstDash val="solid"/>
          </a:ln>
        </p:spPr>
      </p:sp>
      <p:sp>
        <p:nvSpPr>
          <p:cNvPr id="17" name="Text 13"/>
          <p:cNvSpPr/>
          <p:nvPr/>
        </p:nvSpPr>
        <p:spPr>
          <a:xfrm>
            <a:off x="8159645" y="3629720"/>
            <a:ext cx="3211829" cy="238224"/>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Human Approval</a:t>
            </a:r>
            <a:endParaRPr lang="en-US" sz="1500" dirty="0"/>
          </a:p>
        </p:txBody>
      </p:sp>
      <p:sp>
        <p:nvSpPr>
          <p:cNvPr id="18" name="Text 14"/>
          <p:cNvSpPr/>
          <p:nvPr/>
        </p:nvSpPr>
        <p:spPr>
          <a:xfrm>
            <a:off x="8159645" y="3952280"/>
            <a:ext cx="3211829" cy="703362"/>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C3939"/>
                </a:solidFill>
                <a:latin typeface="Roboto" pitchFamily="34" charset="0"/>
                <a:ea typeface="Roboto" pitchFamily="34" charset="-122"/>
                <a:cs typeface="Roboto" pitchFamily="34" charset="-120"/>
              </a:rPr>
              <a:t>The graph pauses, saves state, and waits for human input. Once the human responds, the graph resumes from the saved checkpoint.</a:t>
            </a:r>
            <a:endParaRPr lang="en-US" sz="1200" dirty="0"/>
          </a:p>
        </p:txBody>
      </p:sp>
      <p:sp>
        <p:nvSpPr>
          <p:cNvPr id="19" name="Shape 15"/>
          <p:cNvSpPr/>
          <p:nvPr/>
        </p:nvSpPr>
        <p:spPr>
          <a:xfrm>
            <a:off x="661475" y="5189339"/>
            <a:ext cx="5364128" cy="1108968"/>
          </a:xfrm>
          <a:prstGeom prst="roundRect">
            <a:avLst>
              <a:gd name="adj" fmla="val 5775"/>
            </a:avLst>
          </a:prstGeom>
          <a:solidFill>
            <a:srgbClr val="E1E1EA"/>
          </a:solidFill>
          <a:ln w="6350">
            <a:solidFill>
              <a:srgbClr val="C7C7D0"/>
            </a:solidFill>
            <a:prstDash val="solid"/>
          </a:ln>
        </p:spPr>
      </p:sp>
      <p:sp>
        <p:nvSpPr>
          <p:cNvPr id="20" name="Text 16"/>
          <p:cNvSpPr/>
          <p:nvPr/>
        </p:nvSpPr>
        <p:spPr>
          <a:xfrm>
            <a:off x="820221" y="5348089"/>
            <a:ext cx="5046635" cy="238224"/>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Debugging</a:t>
            </a:r>
            <a:endParaRPr lang="en-US" sz="1500" dirty="0"/>
          </a:p>
        </p:txBody>
      </p:sp>
      <p:sp>
        <p:nvSpPr>
          <p:cNvPr id="21" name="Text 17"/>
          <p:cNvSpPr/>
          <p:nvPr/>
        </p:nvSpPr>
        <p:spPr>
          <a:xfrm>
            <a:off x="820221" y="5670649"/>
            <a:ext cx="5046635" cy="468908"/>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C3939"/>
                </a:solidFill>
                <a:latin typeface="Roboto" pitchFamily="34" charset="0"/>
                <a:ea typeface="Roboto" pitchFamily="34" charset="-122"/>
                <a:cs typeface="Roboto" pitchFamily="34" charset="-120"/>
              </a:rPr>
              <a:t>Checkpoints allow developers to inspect the exact state at any point in a past execution, making it possible to reproduce and diagnose issues.</a:t>
            </a:r>
            <a:endParaRPr lang="en-US" sz="1200" dirty="0"/>
          </a:p>
        </p:txBody>
      </p:sp>
      <p:sp>
        <p:nvSpPr>
          <p:cNvPr id="22" name="Shape 18"/>
          <p:cNvSpPr/>
          <p:nvPr/>
        </p:nvSpPr>
        <p:spPr>
          <a:xfrm>
            <a:off x="6166093" y="5189339"/>
            <a:ext cx="5364128" cy="1108968"/>
          </a:xfrm>
          <a:prstGeom prst="roundRect">
            <a:avLst>
              <a:gd name="adj" fmla="val 5775"/>
            </a:avLst>
          </a:prstGeom>
          <a:solidFill>
            <a:srgbClr val="E1E1EA"/>
          </a:solidFill>
          <a:ln w="6350">
            <a:solidFill>
              <a:srgbClr val="C7C7D0"/>
            </a:solidFill>
            <a:prstDash val="solid"/>
          </a:ln>
        </p:spPr>
      </p:sp>
      <p:sp>
        <p:nvSpPr>
          <p:cNvPr id="23" name="Text 19"/>
          <p:cNvSpPr/>
          <p:nvPr/>
        </p:nvSpPr>
        <p:spPr>
          <a:xfrm>
            <a:off x="6324839" y="5348089"/>
            <a:ext cx="5046635" cy="238224"/>
          </a:xfrm>
          <a:prstGeom prst="rect">
            <a:avLst/>
          </a:prstGeom>
          <a:noFill/>
          <a:ln/>
        </p:spPr>
        <p:txBody>
          <a:bodyPr wrap="none" lIns="0" tIns="0" rIns="0" bIns="0" rtlCol="0" anchor="t"/>
          <a:lstStyle/>
          <a:p>
            <a:pPr algn="l" indent="0" marL="0">
              <a:lnSpc>
                <a:spcPct val="104000"/>
              </a:lnSpc>
              <a:buNone/>
            </a:pPr>
            <a:r>
              <a:rPr lang="en-US" sz="1500" dirty="0">
                <a:solidFill>
                  <a:srgbClr val="3C3939"/>
                </a:solidFill>
                <a:latin typeface="Raleway" pitchFamily="34" charset="0"/>
                <a:ea typeface="Raleway" pitchFamily="34" charset="-122"/>
                <a:cs typeface="Raleway" pitchFamily="34" charset="-120"/>
              </a:rPr>
              <a:t>Conversation Continuity</a:t>
            </a:r>
            <a:endParaRPr lang="en-US" sz="1500" dirty="0"/>
          </a:p>
        </p:txBody>
      </p:sp>
      <p:sp>
        <p:nvSpPr>
          <p:cNvPr id="24" name="Text 20"/>
          <p:cNvSpPr/>
          <p:nvPr/>
        </p:nvSpPr>
        <p:spPr>
          <a:xfrm>
            <a:off x="6324839" y="5670649"/>
            <a:ext cx="5046635" cy="468908"/>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C3939"/>
                </a:solidFill>
                <a:latin typeface="Roboto" pitchFamily="34" charset="0"/>
                <a:ea typeface="Roboto" pitchFamily="34" charset="-122"/>
                <a:cs typeface="Roboto" pitchFamily="34" charset="-120"/>
              </a:rPr>
              <a:t>Multi-turn conversations can be persisted across sessions, allowing the agent to remember previous interactions when the user returns.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61475" y="504825"/>
            <a:ext cx="10868745" cy="508695"/>
          </a:xfrm>
          <a:prstGeom prst="rect">
            <a:avLst/>
          </a:prstGeom>
          <a:noFill/>
          <a:ln/>
        </p:spPr>
        <p:txBody>
          <a:bodyPr wrap="none" lIns="0" tIns="0" rIns="0" bIns="0" rtlCol="0" anchor="t"/>
          <a:lstStyle/>
          <a:p>
            <a:pPr algn="l" indent="0" marL="0">
              <a:lnSpc>
                <a:spcPct val="104000"/>
              </a:lnSpc>
              <a:buNone/>
            </a:pPr>
            <a:r>
              <a:rPr lang="en-US" sz="3200" dirty="0">
                <a:solidFill>
                  <a:srgbClr val="1B1B27"/>
                </a:solidFill>
                <a:latin typeface="Raleway" pitchFamily="34" charset="0"/>
                <a:ea typeface="Raleway" pitchFamily="34" charset="-122"/>
                <a:cs typeface="Raleway" pitchFamily="34" charset="-120"/>
              </a:rPr>
              <a:t>LangGraph vs LangChain</a:t>
            </a:r>
            <a:endParaRPr lang="en-US" sz="3200" dirty="0"/>
          </a:p>
        </p:txBody>
      </p:sp>
      <p:sp>
        <p:nvSpPr>
          <p:cNvPr id="3" name="Text 1"/>
          <p:cNvSpPr/>
          <p:nvPr/>
        </p:nvSpPr>
        <p:spPr>
          <a:xfrm>
            <a:off x="661475" y="1333996"/>
            <a:ext cx="10868745"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LangGraph and LangChain are complementary frameworks. LangChain provides the foundational building blocks for working with language models; LangGraph provides the orchestration layer for assembling those building blocks into stateful, controllable agent workflows.</a:t>
            </a:r>
            <a:endParaRPr lang="en-US" sz="1250" dirty="0"/>
          </a:p>
        </p:txBody>
      </p:sp>
      <p:sp>
        <p:nvSpPr>
          <p:cNvPr id="4" name="Shape 2"/>
          <p:cNvSpPr/>
          <p:nvPr/>
        </p:nvSpPr>
        <p:spPr>
          <a:xfrm>
            <a:off x="661475" y="2031206"/>
            <a:ext cx="10868745" cy="3238996"/>
          </a:xfrm>
          <a:prstGeom prst="roundRect">
            <a:avLst>
              <a:gd name="adj" fmla="val 2111"/>
            </a:avLst>
          </a:prstGeom>
          <a:solidFill>
            <a:srgbClr val="E1E1EA"/>
          </a:solidFill>
          <a:ln w="6350">
            <a:solidFill>
              <a:srgbClr val="C7C7D0"/>
            </a:solidFill>
            <a:prstDash val="solid"/>
          </a:ln>
        </p:spPr>
      </p:sp>
      <p:sp>
        <p:nvSpPr>
          <p:cNvPr id="5" name="Shape 3"/>
          <p:cNvSpPr/>
          <p:nvPr/>
        </p:nvSpPr>
        <p:spPr>
          <a:xfrm>
            <a:off x="667825" y="2037556"/>
            <a:ext cx="5428023" cy="3226296"/>
          </a:xfrm>
          <a:custGeom>
            <a:avLst/>
            <a:gdLst/>
            <a:ahLst/>
            <a:cxnLst/>
            <a:rect l="l" t="t" r="r" b="b"/>
            <a:pathLst>
              <a:path w="5428023" h="3226296">
                <a:moveTo>
                  <a:pt x="56982" y="0"/>
                </a:moveTo>
                <a:lnTo>
                  <a:pt x="5428023" y="0"/>
                </a:lnTo>
                <a:lnTo>
                  <a:pt x="5428023" y="3226296"/>
                </a:lnTo>
                <a:lnTo>
                  <a:pt x="56982" y="3226296"/>
                </a:lnTo>
                <a:arcTo hR="56984" wR="56982" stAng="5400000" swAng="5400000"/>
                <a:lnTo>
                  <a:pt x="0" y="56984"/>
                </a:lnTo>
                <a:arcTo hR="56984" wR="56982" stAng="10800000" swAng="5400000"/>
                <a:close/>
              </a:path>
            </a:pathLst>
          </a:custGeom>
          <a:solidFill>
            <a:srgbClr val="E1E1EA"/>
          </a:solidFill>
          <a:ln/>
        </p:spPr>
      </p:sp>
      <p:sp>
        <p:nvSpPr>
          <p:cNvPr id="6" name="Text 4"/>
          <p:cNvSpPr/>
          <p:nvPr/>
        </p:nvSpPr>
        <p:spPr>
          <a:xfrm>
            <a:off x="830539" y="2200275"/>
            <a:ext cx="5102593"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LangChain</a:t>
            </a:r>
            <a:endParaRPr lang="en-US" sz="1600" dirty="0"/>
          </a:p>
        </p:txBody>
      </p:sp>
      <p:sp>
        <p:nvSpPr>
          <p:cNvPr id="7" name="Text 5"/>
          <p:cNvSpPr/>
          <p:nvPr/>
        </p:nvSpPr>
        <p:spPr>
          <a:xfrm>
            <a:off x="830539" y="2550716"/>
            <a:ext cx="5102593" cy="2550418"/>
          </a:xfrm>
          <a:prstGeom prst="rect">
            <a:avLst/>
          </a:prstGeom>
          <a:noFill/>
          <a:ln/>
        </p:spPr>
        <p:txBody>
          <a:bodyPr wrap="square" lIns="0" tIns="65123" rIns="0" bIns="0" rtlCol="0" anchor="t">
            <a:normAutofit/>
          </a:bodyPr>
          <a:lstStyle/>
          <a:p>
            <a:pPr algn="l" marL="254000" indent="-254000">
              <a:lnSpc>
                <a:spcPct val="132000"/>
              </a:lnSpc>
              <a:buSzPct val="100000"/>
              <a:buChar char="•"/>
            </a:pPr>
            <a:r>
              <a:rPr lang="en-US" sz="1250" b="1" dirty="0">
                <a:solidFill>
                  <a:srgbClr val="3C3939"/>
                </a:solidFill>
                <a:latin typeface="Roboto Bold" pitchFamily="34" charset="0"/>
                <a:ea typeface="Roboto Bold" pitchFamily="34" charset="-122"/>
                <a:cs typeface="Roboto Bold" pitchFamily="34" charset="-120"/>
              </a:rPr>
              <a:t>Models</a:t>
            </a:r>
            <a:pPr algn="l" marL="254000" indent="-254000">
              <a:lnSpc>
                <a:spcPct val="132000"/>
              </a:lnSpc>
              <a:buSzPct val="100000"/>
              <a:buChar char="•"/>
            </a:pPr>
            <a:r>
              <a:rPr lang="en-US" sz="1250" dirty="0">
                <a:solidFill>
                  <a:srgbClr val="3C3939"/>
                </a:solidFill>
                <a:latin typeface="Roboto" pitchFamily="34" charset="0"/>
                <a:ea typeface="Roboto" pitchFamily="34" charset="-122"/>
                <a:cs typeface="Roboto" pitchFamily="34" charset="-120"/>
              </a:rPr>
              <a:t> — integrations with LLM providers (OpenAI, Anthropic, Google, etc.)</a:t>
            </a:r>
            <a:endParaRPr lang="en-US" sz="1250" dirty="0"/>
          </a:p>
          <a:p>
            <a:pPr algn="l" marL="254000" indent="-254000">
              <a:lnSpc>
                <a:spcPct val="132000"/>
              </a:lnSpc>
              <a:buSzPct val="100000"/>
              <a:buChar char="•"/>
            </a:pPr>
            <a:r>
              <a:rPr lang="en-US" sz="1250" b="1" dirty="0">
                <a:solidFill>
                  <a:srgbClr val="3C3939"/>
                </a:solidFill>
                <a:latin typeface="Roboto Bold" pitchFamily="34" charset="0"/>
                <a:ea typeface="Roboto Bold" pitchFamily="34" charset="-122"/>
                <a:cs typeface="Roboto Bold" pitchFamily="34" charset="-120"/>
              </a:rPr>
              <a:t>Prompts</a:t>
            </a:r>
            <a:pPr algn="l" marL="254000" indent="-254000">
              <a:lnSpc>
                <a:spcPct val="132000"/>
              </a:lnSpc>
              <a:buSzPct val="100000"/>
              <a:buChar char="•"/>
            </a:pPr>
            <a:r>
              <a:rPr lang="en-US" sz="1250" dirty="0">
                <a:solidFill>
                  <a:srgbClr val="3C3939"/>
                </a:solidFill>
                <a:latin typeface="Roboto" pitchFamily="34" charset="0"/>
                <a:ea typeface="Roboto" pitchFamily="34" charset="-122"/>
                <a:cs typeface="Roboto" pitchFamily="34" charset="-120"/>
              </a:rPr>
              <a:t> — prompt templates, few-shot examples, and prompt management</a:t>
            </a:r>
            <a:endParaRPr lang="en-US" sz="1250" dirty="0"/>
          </a:p>
          <a:p>
            <a:pPr algn="l" marL="254000" indent="-254000">
              <a:lnSpc>
                <a:spcPct val="132000"/>
              </a:lnSpc>
              <a:buSzPct val="100000"/>
              <a:buChar char="•"/>
            </a:pPr>
            <a:r>
              <a:rPr lang="en-US" sz="1250" b="1" dirty="0">
                <a:solidFill>
                  <a:srgbClr val="3C3939"/>
                </a:solidFill>
                <a:latin typeface="Roboto Bold" pitchFamily="34" charset="0"/>
                <a:ea typeface="Roboto Bold" pitchFamily="34" charset="-122"/>
                <a:cs typeface="Roboto Bold" pitchFamily="34" charset="-120"/>
              </a:rPr>
              <a:t>Tools</a:t>
            </a:r>
            <a:pPr algn="l" marL="254000" indent="-254000">
              <a:lnSpc>
                <a:spcPct val="132000"/>
              </a:lnSpc>
              <a:buSzPct val="100000"/>
              <a:buChar char="•"/>
            </a:pPr>
            <a:r>
              <a:rPr lang="en-US" sz="1250" dirty="0">
                <a:solidFill>
                  <a:srgbClr val="3C3939"/>
                </a:solidFill>
                <a:latin typeface="Roboto" pitchFamily="34" charset="0"/>
                <a:ea typeface="Roboto" pitchFamily="34" charset="-122"/>
                <a:cs typeface="Roboto" pitchFamily="34" charset="-120"/>
              </a:rPr>
              <a:t> — tool definitions, tool wrappers, and tool utilities</a:t>
            </a:r>
            <a:endParaRPr lang="en-US" sz="1250" dirty="0"/>
          </a:p>
          <a:p>
            <a:pPr algn="l" marL="254000" indent="-254000">
              <a:lnSpc>
                <a:spcPct val="132000"/>
              </a:lnSpc>
              <a:buSzPct val="100000"/>
              <a:buChar char="•"/>
            </a:pPr>
            <a:r>
              <a:rPr lang="en-US" sz="1250" b="1" dirty="0">
                <a:solidFill>
                  <a:srgbClr val="3C3939"/>
                </a:solidFill>
                <a:latin typeface="Roboto Bold" pitchFamily="34" charset="0"/>
                <a:ea typeface="Roboto Bold" pitchFamily="34" charset="-122"/>
                <a:cs typeface="Roboto Bold" pitchFamily="34" charset="-120"/>
              </a:rPr>
              <a:t>Structured output</a:t>
            </a:r>
            <a:pPr algn="l" marL="254000" indent="-254000">
              <a:lnSpc>
                <a:spcPct val="132000"/>
              </a:lnSpc>
              <a:buSzPct val="100000"/>
              <a:buChar char="•"/>
            </a:pPr>
            <a:r>
              <a:rPr lang="en-US" sz="1250" dirty="0">
                <a:solidFill>
                  <a:srgbClr val="3C3939"/>
                </a:solidFill>
                <a:latin typeface="Roboto" pitchFamily="34" charset="0"/>
                <a:ea typeface="Roboto" pitchFamily="34" charset="-122"/>
                <a:cs typeface="Roboto" pitchFamily="34" charset="-120"/>
              </a:rPr>
              <a:t> — output parsers and structured response schemas</a:t>
            </a:r>
            <a:endParaRPr lang="en-US" sz="1250" dirty="0"/>
          </a:p>
          <a:p>
            <a:pPr algn="l" marL="254000" indent="-254000">
              <a:lnSpc>
                <a:spcPct val="132000"/>
              </a:lnSpc>
              <a:buSzPct val="100000"/>
              <a:buChar char="•"/>
            </a:pPr>
            <a:r>
              <a:rPr lang="en-US" sz="1250" b="1" dirty="0">
                <a:solidFill>
                  <a:srgbClr val="3C3939"/>
                </a:solidFill>
                <a:latin typeface="Roboto Bold" pitchFamily="34" charset="0"/>
                <a:ea typeface="Roboto Bold" pitchFamily="34" charset="-122"/>
                <a:cs typeface="Roboto Bold" pitchFamily="34" charset="-120"/>
              </a:rPr>
              <a:t>Chains / components</a:t>
            </a:r>
            <a:pPr algn="l" marL="254000" indent="-254000">
              <a:lnSpc>
                <a:spcPct val="132000"/>
              </a:lnSpc>
              <a:buSzPct val="100000"/>
              <a:buChar char="•"/>
            </a:pPr>
            <a:r>
              <a:rPr lang="en-US" sz="1250" dirty="0">
                <a:solidFill>
                  <a:srgbClr val="3C3939"/>
                </a:solidFill>
                <a:latin typeface="Roboto" pitchFamily="34" charset="0"/>
                <a:ea typeface="Roboto" pitchFamily="34" charset="-122"/>
                <a:cs typeface="Roboto" pitchFamily="34" charset="-120"/>
              </a:rPr>
              <a:t> — composable building blocks for linear workflows</a:t>
            </a:r>
            <a:endParaRPr lang="en-US" sz="1250" dirty="0"/>
          </a:p>
        </p:txBody>
      </p:sp>
      <p:sp>
        <p:nvSpPr>
          <p:cNvPr id="8" name="Shape 6"/>
          <p:cNvSpPr/>
          <p:nvPr/>
        </p:nvSpPr>
        <p:spPr>
          <a:xfrm>
            <a:off x="6095848" y="2037556"/>
            <a:ext cx="5428023" cy="3226296"/>
          </a:xfrm>
          <a:custGeom>
            <a:avLst/>
            <a:gdLst/>
            <a:ahLst/>
            <a:cxnLst/>
            <a:rect l="l" t="t" r="r" b="b"/>
            <a:pathLst>
              <a:path w="5428023" h="3226296">
                <a:moveTo>
                  <a:pt x="0" y="0"/>
                </a:moveTo>
                <a:lnTo>
                  <a:pt x="5371040" y="0"/>
                </a:lnTo>
                <a:arcTo hR="56984" wR="56982" stAng="16200000" swAng="5400000"/>
                <a:lnTo>
                  <a:pt x="5428023" y="3169312"/>
                </a:lnTo>
                <a:arcTo hR="56984" wR="56982" stAng="0" swAng="5400000"/>
                <a:lnTo>
                  <a:pt x="0" y="3226296"/>
                </a:lnTo>
                <a:lnTo>
                  <a:pt x="0" y="0"/>
                </a:lnTo>
                <a:close/>
              </a:path>
            </a:pathLst>
          </a:custGeom>
          <a:solidFill>
            <a:srgbClr val="E1E1EA"/>
          </a:solidFill>
          <a:ln/>
        </p:spPr>
      </p:sp>
      <p:sp>
        <p:nvSpPr>
          <p:cNvPr id="9" name="Shape 7"/>
          <p:cNvSpPr/>
          <p:nvPr/>
        </p:nvSpPr>
        <p:spPr>
          <a:xfrm>
            <a:off x="6095848" y="2037556"/>
            <a:ext cx="19050" cy="3226296"/>
          </a:xfrm>
          <a:prstGeom prst="roundRect">
            <a:avLst>
              <a:gd name="adj" fmla="val 49999"/>
            </a:avLst>
          </a:prstGeom>
          <a:solidFill>
            <a:srgbClr val="C7C7D0"/>
          </a:solidFill>
          <a:ln/>
        </p:spPr>
      </p:sp>
      <p:sp>
        <p:nvSpPr>
          <p:cNvPr id="10" name="Text 8"/>
          <p:cNvSpPr/>
          <p:nvPr/>
        </p:nvSpPr>
        <p:spPr>
          <a:xfrm>
            <a:off x="6258562" y="2200275"/>
            <a:ext cx="5102593"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LangGraph</a:t>
            </a:r>
            <a:endParaRPr lang="en-US" sz="1600" dirty="0"/>
          </a:p>
        </p:txBody>
      </p:sp>
      <p:sp>
        <p:nvSpPr>
          <p:cNvPr id="11" name="Text 9"/>
          <p:cNvSpPr/>
          <p:nvPr/>
        </p:nvSpPr>
        <p:spPr>
          <a:xfrm>
            <a:off x="6258562" y="2550716"/>
            <a:ext cx="5102593" cy="2089547"/>
          </a:xfrm>
          <a:prstGeom prst="rect">
            <a:avLst/>
          </a:prstGeom>
          <a:noFill/>
          <a:ln/>
        </p:spPr>
        <p:txBody>
          <a:bodyPr wrap="square" lIns="0" tIns="65123" rIns="0" bIns="0" rtlCol="0" anchor="t">
            <a:normAutofit/>
          </a:bodyPr>
          <a:lstStyle/>
          <a:p>
            <a:pPr algn="l" marL="254000" indent="-254000">
              <a:lnSpc>
                <a:spcPct val="132000"/>
              </a:lnSpc>
              <a:buSzPct val="100000"/>
              <a:buChar char="•"/>
            </a:pPr>
            <a:r>
              <a:rPr lang="en-US" sz="1250" b="1" dirty="0">
                <a:solidFill>
                  <a:srgbClr val="3C3939"/>
                </a:solidFill>
                <a:latin typeface="Roboto Bold" pitchFamily="34" charset="0"/>
                <a:ea typeface="Roboto Bold" pitchFamily="34" charset="-122"/>
                <a:cs typeface="Roboto Bold" pitchFamily="34" charset="-120"/>
              </a:rPr>
              <a:t>State</a:t>
            </a:r>
            <a:pPr algn="l" marL="254000" indent="-254000">
              <a:lnSpc>
                <a:spcPct val="132000"/>
              </a:lnSpc>
              <a:buSzPct val="100000"/>
              <a:buChar char="•"/>
            </a:pPr>
            <a:r>
              <a:rPr lang="en-US" sz="1250" dirty="0">
                <a:solidFill>
                  <a:srgbClr val="3C3939"/>
                </a:solidFill>
                <a:latin typeface="Roboto" pitchFamily="34" charset="0"/>
                <a:ea typeface="Roboto" pitchFamily="34" charset="-122"/>
                <a:cs typeface="Roboto" pitchFamily="34" charset="-120"/>
              </a:rPr>
              <a:t> — shared information schema passed through the graph</a:t>
            </a:r>
            <a:endParaRPr lang="en-US" sz="1250" dirty="0"/>
          </a:p>
          <a:p>
            <a:pPr algn="l" marL="254000" indent="-254000">
              <a:lnSpc>
                <a:spcPct val="132000"/>
              </a:lnSpc>
              <a:buSzPct val="100000"/>
              <a:buChar char="•"/>
            </a:pPr>
            <a:r>
              <a:rPr lang="en-US" sz="1250" b="1" dirty="0">
                <a:solidFill>
                  <a:srgbClr val="3C3939"/>
                </a:solidFill>
                <a:latin typeface="Roboto Bold" pitchFamily="34" charset="0"/>
                <a:ea typeface="Roboto Bold" pitchFamily="34" charset="-122"/>
                <a:cs typeface="Roboto Bold" pitchFamily="34" charset="-120"/>
              </a:rPr>
              <a:t>Nodes</a:t>
            </a:r>
            <a:pPr algn="l" marL="254000" indent="-254000">
              <a:lnSpc>
                <a:spcPct val="132000"/>
              </a:lnSpc>
              <a:buSzPct val="100000"/>
              <a:buChar char="•"/>
            </a:pPr>
            <a:r>
              <a:rPr lang="en-US" sz="1250" dirty="0">
                <a:solidFill>
                  <a:srgbClr val="3C3939"/>
                </a:solidFill>
                <a:latin typeface="Roboto" pitchFamily="34" charset="0"/>
                <a:ea typeface="Roboto" pitchFamily="34" charset="-122"/>
                <a:cs typeface="Roboto" pitchFamily="34" charset="-120"/>
              </a:rPr>
              <a:t> — discrete processing functions registered in the graph</a:t>
            </a:r>
            <a:endParaRPr lang="en-US" sz="1250" dirty="0"/>
          </a:p>
          <a:p>
            <a:pPr algn="l" marL="254000" indent="-254000">
              <a:lnSpc>
                <a:spcPct val="132000"/>
              </a:lnSpc>
              <a:buSzPct val="100000"/>
              <a:buChar char="•"/>
            </a:pPr>
            <a:r>
              <a:rPr lang="en-US" sz="1250" b="1" dirty="0">
                <a:solidFill>
                  <a:srgbClr val="3C3939"/>
                </a:solidFill>
                <a:latin typeface="Roboto Bold" pitchFamily="34" charset="0"/>
                <a:ea typeface="Roboto Bold" pitchFamily="34" charset="-122"/>
                <a:cs typeface="Roboto Bold" pitchFamily="34" charset="-120"/>
              </a:rPr>
              <a:t>Edges</a:t>
            </a:r>
            <a:pPr algn="l" marL="254000" indent="-254000">
              <a:lnSpc>
                <a:spcPct val="132000"/>
              </a:lnSpc>
              <a:buSzPct val="100000"/>
              <a:buChar char="•"/>
            </a:pPr>
            <a:r>
              <a:rPr lang="en-US" sz="1250" dirty="0">
                <a:solidFill>
                  <a:srgbClr val="3C3939"/>
                </a:solidFill>
                <a:latin typeface="Roboto" pitchFamily="34" charset="0"/>
                <a:ea typeface="Roboto" pitchFamily="34" charset="-122"/>
                <a:cs typeface="Roboto" pitchFamily="34" charset="-120"/>
              </a:rPr>
              <a:t> — direct and conditional connections between nodes</a:t>
            </a:r>
            <a:endParaRPr lang="en-US" sz="1250" dirty="0"/>
          </a:p>
          <a:p>
            <a:pPr algn="l" marL="254000" indent="-254000">
              <a:lnSpc>
                <a:spcPct val="132000"/>
              </a:lnSpc>
              <a:buSzPct val="100000"/>
              <a:buChar char="•"/>
            </a:pPr>
            <a:r>
              <a:rPr lang="en-US" sz="1250" b="1" dirty="0">
                <a:solidFill>
                  <a:srgbClr val="3C3939"/>
                </a:solidFill>
                <a:latin typeface="Roboto Bold" pitchFamily="34" charset="0"/>
                <a:ea typeface="Roboto Bold" pitchFamily="34" charset="-122"/>
                <a:cs typeface="Roboto Bold" pitchFamily="34" charset="-120"/>
              </a:rPr>
              <a:t>Loops</a:t>
            </a:r>
            <a:pPr algn="l" marL="254000" indent="-254000">
              <a:lnSpc>
                <a:spcPct val="132000"/>
              </a:lnSpc>
              <a:buSzPct val="100000"/>
              <a:buChar char="•"/>
            </a:pPr>
            <a:r>
              <a:rPr lang="en-US" sz="1250" dirty="0">
                <a:solidFill>
                  <a:srgbClr val="3C3939"/>
                </a:solidFill>
                <a:latin typeface="Roboto" pitchFamily="34" charset="0"/>
                <a:ea typeface="Roboto" pitchFamily="34" charset="-122"/>
                <a:cs typeface="Roboto" pitchFamily="34" charset="-120"/>
              </a:rPr>
              <a:t> — explicit support for cyclic execution patterns</a:t>
            </a:r>
            <a:endParaRPr lang="en-US" sz="1250" dirty="0"/>
          </a:p>
          <a:p>
            <a:pPr algn="l" marL="254000" indent="-254000">
              <a:lnSpc>
                <a:spcPct val="132000"/>
              </a:lnSpc>
              <a:buSzPct val="100000"/>
              <a:buChar char="•"/>
            </a:pPr>
            <a:r>
              <a:rPr lang="en-US" sz="1250" b="1" dirty="0">
                <a:solidFill>
                  <a:srgbClr val="3C3939"/>
                </a:solidFill>
                <a:latin typeface="Roboto Bold" pitchFamily="34" charset="0"/>
                <a:ea typeface="Roboto Bold" pitchFamily="34" charset="-122"/>
                <a:cs typeface="Roboto Bold" pitchFamily="34" charset="-120"/>
              </a:rPr>
              <a:t>Conditional routing</a:t>
            </a:r>
            <a:pPr algn="l" marL="254000" indent="-254000">
              <a:lnSpc>
                <a:spcPct val="132000"/>
              </a:lnSpc>
              <a:buSzPct val="100000"/>
              <a:buChar char="•"/>
            </a:pPr>
            <a:r>
              <a:rPr lang="en-US" sz="1250" dirty="0">
                <a:solidFill>
                  <a:srgbClr val="3C3939"/>
                </a:solidFill>
                <a:latin typeface="Roboto" pitchFamily="34" charset="0"/>
                <a:ea typeface="Roboto" pitchFamily="34" charset="-122"/>
                <a:cs typeface="Roboto" pitchFamily="34" charset="-120"/>
              </a:rPr>
              <a:t> — state-dependent execution path selection</a:t>
            </a:r>
            <a:endParaRPr lang="en-US" sz="1250" dirty="0"/>
          </a:p>
          <a:p>
            <a:pPr algn="l" marL="254000" indent="-254000">
              <a:lnSpc>
                <a:spcPct val="132000"/>
              </a:lnSpc>
              <a:buSzPct val="100000"/>
              <a:buChar char="•"/>
            </a:pPr>
            <a:r>
              <a:rPr lang="en-US" sz="1250" b="1" dirty="0">
                <a:solidFill>
                  <a:srgbClr val="3C3939"/>
                </a:solidFill>
                <a:latin typeface="Roboto Bold" pitchFamily="34" charset="0"/>
                <a:ea typeface="Roboto Bold" pitchFamily="34" charset="-122"/>
                <a:cs typeface="Roboto Bold" pitchFamily="34" charset="-120"/>
              </a:rPr>
              <a:t>Stateful agent workflows</a:t>
            </a:r>
            <a:pPr algn="l" marL="254000" indent="-254000">
              <a:lnSpc>
                <a:spcPct val="132000"/>
              </a:lnSpc>
              <a:buSzPct val="100000"/>
              <a:buChar char="•"/>
            </a:pPr>
            <a:r>
              <a:rPr lang="en-US" sz="1250" dirty="0">
                <a:solidFill>
                  <a:srgbClr val="3C3939"/>
                </a:solidFill>
                <a:latin typeface="Roboto" pitchFamily="34" charset="0"/>
                <a:ea typeface="Roboto" pitchFamily="34" charset="-122"/>
                <a:cs typeface="Roboto" pitchFamily="34" charset="-120"/>
              </a:rPr>
              <a:t> — complete, controllable agent orchestration</a:t>
            </a:r>
            <a:endParaRPr lang="en-US" sz="1250" dirty="0"/>
          </a:p>
        </p:txBody>
      </p:sp>
      <p:sp>
        <p:nvSpPr>
          <p:cNvPr id="12" name="Shape 10"/>
          <p:cNvSpPr/>
          <p:nvPr/>
        </p:nvSpPr>
        <p:spPr>
          <a:xfrm>
            <a:off x="661475" y="5450483"/>
            <a:ext cx="10868745" cy="902692"/>
          </a:xfrm>
          <a:prstGeom prst="roundRect">
            <a:avLst>
              <a:gd name="adj" fmla="val 7575"/>
            </a:avLst>
          </a:prstGeom>
          <a:solidFill>
            <a:srgbClr val="E1E1EA"/>
          </a:solidFill>
          <a:ln/>
        </p:spPr>
      </p:sp>
      <p:pic>
        <p:nvPicPr>
          <p:cNvPr id="13" name="Image 0" descr="preencoded.png">    </p:cNvPr>
          <p:cNvPicPr>
            <a:picLocks noChangeAspect="1"/>
          </p:cNvPicPr>
          <p:nvPr/>
        </p:nvPicPr>
        <p:blipFill>
          <a:blip r:embed="rId1"/>
          <a:stretch>
            <a:fillRect/>
          </a:stretch>
        </p:blipFill>
        <p:spPr>
          <a:xfrm>
            <a:off x="824190" y="5680472"/>
            <a:ext cx="203493" cy="162719"/>
          </a:xfrm>
          <a:prstGeom prst="rect">
            <a:avLst/>
          </a:prstGeom>
        </p:spPr>
      </p:pic>
      <p:sp>
        <p:nvSpPr>
          <p:cNvPr id="14" name="Text 11"/>
          <p:cNvSpPr/>
          <p:nvPr/>
        </p:nvSpPr>
        <p:spPr>
          <a:xfrm>
            <a:off x="1190397" y="5651401"/>
            <a:ext cx="10177109"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000000"/>
                </a:solidFill>
                <a:latin typeface="Roboto" pitchFamily="34" charset="0"/>
                <a:ea typeface="Roboto" pitchFamily="34" charset="-122"/>
                <a:cs typeface="Roboto" pitchFamily="34" charset="-120"/>
              </a:rPr>
              <a:t>LangGraph builds on the broader LangChain ecosystem. LangChain components — models, tools, output parsers — are used inside LangGraph nodes. The two frameworks are designed to work together.</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61475" y="460375"/>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Designing a LangGraph Agent</a:t>
            </a:r>
            <a:endParaRPr lang="en-US" sz="3250" dirty="0"/>
          </a:p>
        </p:txBody>
      </p:sp>
      <p:sp>
        <p:nvSpPr>
          <p:cNvPr id="3" name="Text 1"/>
          <p:cNvSpPr/>
          <p:nvPr/>
        </p:nvSpPr>
        <p:spPr>
          <a:xfrm>
            <a:off x="661475" y="1307802"/>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Before writing any code, a well-designed LangGraph agent begins with a structured design process. Answering these questions up front produces a clearer architecture and avoids costly redesigns during implementation.</a:t>
            </a:r>
            <a:endParaRPr lang="en-US" sz="13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23070"/>
            <a:ext cx="413434" cy="413445"/>
          </a:xfrm>
          <a:prstGeom prst="rect">
            <a:avLst/>
          </a:prstGeom>
        </p:spPr>
      </p:pic>
      <p:sp>
        <p:nvSpPr>
          <p:cNvPr id="5" name="Text 2"/>
          <p:cNvSpPr/>
          <p:nvPr/>
        </p:nvSpPr>
        <p:spPr>
          <a:xfrm>
            <a:off x="1281577" y="2023070"/>
            <a:ext cx="4710888"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What is the goal?</a:t>
            </a:r>
            <a:endParaRPr lang="en-US" sz="1600" dirty="0"/>
          </a:p>
        </p:txBody>
      </p:sp>
      <p:sp>
        <p:nvSpPr>
          <p:cNvPr id="6" name="Text 3"/>
          <p:cNvSpPr/>
          <p:nvPr/>
        </p:nvSpPr>
        <p:spPr>
          <a:xfrm>
            <a:off x="1281577" y="2380754"/>
            <a:ext cx="471088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Define the agent's purpose precisely. What task is it solving? What does a successful outcome look like? A clear goal drives every subsequent design decision.</a:t>
            </a:r>
            <a:endParaRPr lang="en-US" sz="13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9132" y="2023070"/>
            <a:ext cx="413434" cy="413445"/>
          </a:xfrm>
          <a:prstGeom prst="rect">
            <a:avLst/>
          </a:prstGeom>
        </p:spPr>
      </p:pic>
      <p:sp>
        <p:nvSpPr>
          <p:cNvPr id="8" name="Text 4"/>
          <p:cNvSpPr/>
          <p:nvPr/>
        </p:nvSpPr>
        <p:spPr>
          <a:xfrm>
            <a:off x="6819233" y="2023070"/>
            <a:ext cx="4710987"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What information belongs in state?</a:t>
            </a:r>
            <a:endParaRPr lang="en-US" sz="1600" dirty="0"/>
          </a:p>
        </p:txBody>
      </p:sp>
      <p:sp>
        <p:nvSpPr>
          <p:cNvPr id="9" name="Text 5"/>
          <p:cNvSpPr/>
          <p:nvPr/>
        </p:nvSpPr>
        <p:spPr>
          <a:xfrm>
            <a:off x="6819233" y="2380754"/>
            <a:ext cx="471098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Identify every piece of information the graph needs to carry between nodes. Design the state schema to include all required fields and nothing more.</a:t>
            </a:r>
            <a:endParaRPr lang="en-US" sz="13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505299"/>
            <a:ext cx="413434" cy="413445"/>
          </a:xfrm>
          <a:prstGeom prst="rect">
            <a:avLst/>
          </a:prstGeom>
        </p:spPr>
      </p:pic>
      <p:sp>
        <p:nvSpPr>
          <p:cNvPr id="11" name="Text 6"/>
          <p:cNvSpPr/>
          <p:nvPr/>
        </p:nvSpPr>
        <p:spPr>
          <a:xfrm>
            <a:off x="1281577" y="3505299"/>
            <a:ext cx="4710888"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What nodes are required?</a:t>
            </a:r>
            <a:endParaRPr lang="en-US" sz="1600" dirty="0"/>
          </a:p>
        </p:txBody>
      </p:sp>
      <p:sp>
        <p:nvSpPr>
          <p:cNvPr id="12" name="Text 7"/>
          <p:cNvSpPr/>
          <p:nvPr/>
        </p:nvSpPr>
        <p:spPr>
          <a:xfrm>
            <a:off x="1281577" y="3862983"/>
            <a:ext cx="471088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List every discrete operation the agent must perform. Each operation becomes a node. Common nodes: LLM reasoning, tool execution, validation, formatting.</a:t>
            </a:r>
            <a:endParaRPr lang="en-US" sz="13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9132" y="3505299"/>
            <a:ext cx="413434" cy="413445"/>
          </a:xfrm>
          <a:prstGeom prst="rect">
            <a:avLst/>
          </a:prstGeom>
        </p:spPr>
      </p:pic>
      <p:sp>
        <p:nvSpPr>
          <p:cNvPr id="14" name="Text 8"/>
          <p:cNvSpPr/>
          <p:nvPr/>
        </p:nvSpPr>
        <p:spPr>
          <a:xfrm>
            <a:off x="6819233" y="3505299"/>
            <a:ext cx="4710987"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Which decisions require conditional edges?</a:t>
            </a:r>
            <a:endParaRPr lang="en-US" sz="1600" dirty="0"/>
          </a:p>
        </p:txBody>
      </p:sp>
      <p:sp>
        <p:nvSpPr>
          <p:cNvPr id="15" name="Text 9"/>
          <p:cNvSpPr/>
          <p:nvPr/>
        </p:nvSpPr>
        <p:spPr>
          <a:xfrm>
            <a:off x="6819233" y="3862983"/>
            <a:ext cx="471098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Identify every point where the next step depends on the current state. Each such point requires a conditional edge with a routing function.</a:t>
            </a:r>
            <a:endParaRPr lang="en-US" sz="130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987528"/>
            <a:ext cx="413434" cy="413445"/>
          </a:xfrm>
          <a:prstGeom prst="rect">
            <a:avLst/>
          </a:prstGeom>
        </p:spPr>
      </p:pic>
      <p:sp>
        <p:nvSpPr>
          <p:cNvPr id="17" name="Text 10"/>
          <p:cNvSpPr/>
          <p:nvPr/>
        </p:nvSpPr>
        <p:spPr>
          <a:xfrm>
            <a:off x="1281577" y="4987528"/>
            <a:ext cx="4710888"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What tools are needed?</a:t>
            </a:r>
            <a:endParaRPr lang="en-US" sz="1600" dirty="0"/>
          </a:p>
        </p:txBody>
      </p:sp>
      <p:sp>
        <p:nvSpPr>
          <p:cNvPr id="18" name="Text 11"/>
          <p:cNvSpPr/>
          <p:nvPr/>
        </p:nvSpPr>
        <p:spPr>
          <a:xfrm>
            <a:off x="1281577" y="5345212"/>
            <a:ext cx="471088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List the tools the agent will use. Define their names, descriptions, and input/output schemas. Ensure descriptions are clear enough for the LLM to use them correctly.</a:t>
            </a:r>
            <a:endParaRPr lang="en-US" sz="1300" dirty="0"/>
          </a:p>
        </p:txBody>
      </p:sp>
      <p:pic>
        <p:nvPicPr>
          <p:cNvPr id="1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99132" y="4987528"/>
            <a:ext cx="413434" cy="413445"/>
          </a:xfrm>
          <a:prstGeom prst="rect">
            <a:avLst/>
          </a:prstGeom>
        </p:spPr>
      </p:pic>
      <p:sp>
        <p:nvSpPr>
          <p:cNvPr id="20" name="Text 12"/>
          <p:cNvSpPr/>
          <p:nvPr/>
        </p:nvSpPr>
        <p:spPr>
          <a:xfrm>
            <a:off x="6819233" y="4987528"/>
            <a:ext cx="4710987"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Where can the graph loop, stop, validate, or require approval?</a:t>
            </a:r>
            <a:endParaRPr lang="en-US" sz="1600" dirty="0"/>
          </a:p>
        </p:txBody>
      </p:sp>
      <p:sp>
        <p:nvSpPr>
          <p:cNvPr id="21" name="Text 13"/>
          <p:cNvSpPr/>
          <p:nvPr/>
        </p:nvSpPr>
        <p:spPr>
          <a:xfrm>
            <a:off x="6819233" y="5603677"/>
            <a:ext cx="471098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Identify loop points, termination conditions, validation checkpoints, and any operations that require human-in-the-loop approval before execution.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61475" y="691059"/>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Lab: Build a Stateful LangGraph Agent</a:t>
            </a:r>
            <a:endParaRPr lang="en-US" sz="3250" dirty="0"/>
          </a:p>
        </p:txBody>
      </p:sp>
      <p:sp>
        <p:nvSpPr>
          <p:cNvPr id="3" name="Text 1"/>
          <p:cNvSpPr/>
          <p:nvPr/>
        </p:nvSpPr>
        <p:spPr>
          <a:xfrm>
            <a:off x="661475" y="1538486"/>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This lab is the practical culmination of Module 4. Students will implement a complete, working LangGraph agent from scratch, applying every concept covered in the module.</a:t>
            </a:r>
            <a:endParaRPr lang="en-US" sz="1300" dirty="0"/>
          </a:p>
        </p:txBody>
      </p:sp>
      <p:sp>
        <p:nvSpPr>
          <p:cNvPr id="4" name="Shape 2"/>
          <p:cNvSpPr/>
          <p:nvPr/>
        </p:nvSpPr>
        <p:spPr>
          <a:xfrm>
            <a:off x="542415" y="2253754"/>
            <a:ext cx="5470785" cy="3913088"/>
          </a:xfrm>
          <a:prstGeom prst="roundRect">
            <a:avLst>
              <a:gd name="adj" fmla="val 3043"/>
            </a:avLst>
          </a:prstGeom>
          <a:solidFill>
            <a:srgbClr val="1B1B27">
              <a:alpha val="95000"/>
            </a:srgbClr>
          </a:solidFill>
          <a:ln/>
        </p:spPr>
      </p:sp>
      <p:sp>
        <p:nvSpPr>
          <p:cNvPr id="5" name="Text 3"/>
          <p:cNvSpPr/>
          <p:nvPr/>
        </p:nvSpPr>
        <p:spPr>
          <a:xfrm>
            <a:off x="707710" y="2419052"/>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FFFFFF"/>
                </a:solidFill>
                <a:latin typeface="Raleway" pitchFamily="34" charset="0"/>
                <a:ea typeface="Raleway" pitchFamily="34" charset="-122"/>
                <a:cs typeface="Raleway" pitchFamily="34" charset="-120"/>
              </a:rPr>
              <a:t>Lab Objectives</a:t>
            </a:r>
            <a:endParaRPr lang="en-US" sz="1600" dirty="0"/>
          </a:p>
        </p:txBody>
      </p:sp>
      <p:sp>
        <p:nvSpPr>
          <p:cNvPr id="6" name="Text 4"/>
          <p:cNvSpPr/>
          <p:nvPr/>
        </p:nvSpPr>
        <p:spPr>
          <a:xfrm>
            <a:off x="707710" y="2842816"/>
            <a:ext cx="514019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Roboto" pitchFamily="34" charset="0"/>
                <a:ea typeface="Roboto" pitchFamily="34" charset="-122"/>
                <a:cs typeface="Roboto" pitchFamily="34" charset="-120"/>
              </a:rPr>
              <a:t>By completing this lab, students will have hands-on experience with every core component of a LangGraph agent:</a:t>
            </a:r>
            <a:endParaRPr lang="en-US" sz="1300" dirty="0"/>
          </a:p>
        </p:txBody>
      </p:sp>
      <p:sp>
        <p:nvSpPr>
          <p:cNvPr id="7" name="Text 5"/>
          <p:cNvSpPr/>
          <p:nvPr/>
        </p:nvSpPr>
        <p:spPr>
          <a:xfrm>
            <a:off x="707710" y="3520877"/>
            <a:ext cx="5140196" cy="2199382"/>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Build an agent using LangGraph</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Define state using a typed schema</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Add an LLM node for reasoning</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Add a tool node for action execution</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Add conditional routing between nodes</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Create an agent loop that repeats until complete</a:t>
            </a:r>
            <a:endParaRPr lang="en-US" sz="1300" dirty="0"/>
          </a:p>
          <a:p>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Test different user requests against the agent</a:t>
            </a:r>
            <a:endParaRPr lang="en-US" sz="1300" dirty="0"/>
          </a:p>
        </p:txBody>
      </p:sp>
      <p:sp>
        <p:nvSpPr>
          <p:cNvPr id="8" name="Text 6"/>
          <p:cNvSpPr/>
          <p:nvPr/>
        </p:nvSpPr>
        <p:spPr>
          <a:xfrm>
            <a:off x="6303904" y="2419052"/>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Lab Structure</a:t>
            </a:r>
            <a:endParaRPr lang="en-US" sz="1600" dirty="0"/>
          </a:p>
        </p:txBody>
      </p:sp>
      <p:sp>
        <p:nvSpPr>
          <p:cNvPr id="9" name="Text 7"/>
          <p:cNvSpPr/>
          <p:nvPr/>
        </p:nvSpPr>
        <p:spPr>
          <a:xfrm>
            <a:off x="6303904" y="2842816"/>
            <a:ext cx="523266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lab is structured as five sequential implementation steps, each building on the previous:</a:t>
            </a:r>
            <a:endParaRPr lang="en-US" sz="1300" dirty="0"/>
          </a:p>
        </p:txBody>
      </p:sp>
      <p:sp>
        <p:nvSpPr>
          <p:cNvPr id="10" name="Text 8"/>
          <p:cNvSpPr/>
          <p:nvPr/>
        </p:nvSpPr>
        <p:spPr>
          <a:xfrm>
            <a:off x="6303904" y="3520877"/>
            <a:ext cx="5232666" cy="1554460"/>
          </a:xfrm>
          <a:prstGeom prst="rect">
            <a:avLst/>
          </a:prstGeom>
          <a:noFill/>
          <a:ln/>
        </p:spPr>
        <p:txBody>
          <a:bodyPr wrap="square" lIns="0" tIns="0" rIns="0" bIns="0" rtlCol="0" anchor="t">
            <a:normAutofit/>
          </a:bodyPr>
          <a:lstStyle/>
          <a:p>
            <a:pPr algn="l" marL="264160" indent="-264160">
              <a:lnSpc>
                <a:spcPct val="133000"/>
              </a:lnSpc>
              <a:buSzPct val="100000"/>
              <a:buFont typeface="+mj-lt"/>
              <a:buAutoNum type="arabicPeriod" startAt="1"/>
            </a:pPr>
            <a:r>
              <a:rPr lang="en-US" sz="1300" b="1" dirty="0">
                <a:solidFill>
                  <a:srgbClr val="3C3939"/>
                </a:solidFill>
                <a:latin typeface="Roboto Bold" pitchFamily="34" charset="0"/>
                <a:ea typeface="Roboto Bold" pitchFamily="34" charset="-122"/>
                <a:cs typeface="Roboto Bold" pitchFamily="34" charset="-120"/>
              </a:rPr>
              <a:t>Step 1</a:t>
            </a:r>
            <a:pPr algn="l" marL="264160" indent="-264160">
              <a:lnSpc>
                <a:spcPct val="133000"/>
              </a:lnSpc>
              <a:buSzPct val="100000"/>
              <a:buFont typeface="+mj-lt"/>
              <a:buAutoNum type="arabicPeriod" startAt="1"/>
            </a:pPr>
            <a:r>
              <a:rPr lang="en-US" sz="1300" dirty="0">
                <a:solidFill>
                  <a:srgbClr val="3C3939"/>
                </a:solidFill>
                <a:latin typeface="Roboto" pitchFamily="34" charset="0"/>
                <a:ea typeface="Roboto" pitchFamily="34" charset="-122"/>
                <a:cs typeface="Roboto" pitchFamily="34" charset="-120"/>
              </a:rPr>
              <a:t> — Define State</a:t>
            </a:r>
            <a:endParaRPr lang="en-US" sz="1300" dirty="0"/>
          </a:p>
          <a:p>
            <a:pPr algn="l" marL="264160" indent="-264160">
              <a:lnSpc>
                <a:spcPct val="133000"/>
              </a:lnSpc>
              <a:buSzPct val="100000"/>
              <a:buFont typeface="+mj-lt"/>
              <a:buAutoNum type="arabicPeriod" startAt="2"/>
            </a:pPr>
            <a:r>
              <a:rPr lang="en-US" sz="1300" b="1" dirty="0">
                <a:solidFill>
                  <a:srgbClr val="3C3939"/>
                </a:solidFill>
                <a:latin typeface="Roboto Bold" pitchFamily="34" charset="0"/>
                <a:ea typeface="Roboto Bold" pitchFamily="34" charset="-122"/>
                <a:cs typeface="Roboto Bold" pitchFamily="34" charset="-120"/>
              </a:rPr>
              <a:t>Step 2</a:t>
            </a:r>
            <a:pPr algn="l" marL="264160" indent="-264160">
              <a:lnSpc>
                <a:spcPct val="133000"/>
              </a:lnSpc>
              <a:buSzPct val="100000"/>
              <a:buFont typeface="+mj-lt"/>
              <a:buAutoNum type="arabicPeriod" startAt="2"/>
            </a:pPr>
            <a:r>
              <a:rPr lang="en-US" sz="1300" dirty="0">
                <a:solidFill>
                  <a:srgbClr val="3C3939"/>
                </a:solidFill>
                <a:latin typeface="Roboto" pitchFamily="34" charset="0"/>
                <a:ea typeface="Roboto" pitchFamily="34" charset="-122"/>
                <a:cs typeface="Roboto" pitchFamily="34" charset="-120"/>
              </a:rPr>
              <a:t> — Create the Agent Node</a:t>
            </a:r>
            <a:endParaRPr lang="en-US" sz="1300" dirty="0"/>
          </a:p>
          <a:p>
            <a:pPr algn="l" marL="264160" indent="-264160">
              <a:lnSpc>
                <a:spcPct val="133000"/>
              </a:lnSpc>
              <a:buSzPct val="100000"/>
              <a:buFont typeface="+mj-lt"/>
              <a:buAutoNum type="arabicPeriod" startAt="3"/>
            </a:pPr>
            <a:r>
              <a:rPr lang="en-US" sz="1300" b="1" dirty="0">
                <a:solidFill>
                  <a:srgbClr val="3C3939"/>
                </a:solidFill>
                <a:latin typeface="Roboto Bold" pitchFamily="34" charset="0"/>
                <a:ea typeface="Roboto Bold" pitchFamily="34" charset="-122"/>
                <a:cs typeface="Roboto Bold" pitchFamily="34" charset="-120"/>
              </a:rPr>
              <a:t>Step 3</a:t>
            </a:r>
            <a:pPr algn="l" marL="264160" indent="-264160">
              <a:lnSpc>
                <a:spcPct val="133000"/>
              </a:lnSpc>
              <a:buSzPct val="100000"/>
              <a:buFont typeface="+mj-lt"/>
              <a:buAutoNum type="arabicPeriod" startAt="3"/>
            </a:pPr>
            <a:r>
              <a:rPr lang="en-US" sz="1300" dirty="0">
                <a:solidFill>
                  <a:srgbClr val="3C3939"/>
                </a:solidFill>
                <a:latin typeface="Roboto" pitchFamily="34" charset="0"/>
                <a:ea typeface="Roboto" pitchFamily="34" charset="-122"/>
                <a:cs typeface="Roboto" pitchFamily="34" charset="-120"/>
              </a:rPr>
              <a:t> — Create the Tool Node</a:t>
            </a:r>
            <a:endParaRPr lang="en-US" sz="1300" dirty="0"/>
          </a:p>
          <a:p>
            <a:pPr algn="l" marL="264160" indent="-264160">
              <a:lnSpc>
                <a:spcPct val="133000"/>
              </a:lnSpc>
              <a:buSzPct val="100000"/>
              <a:buFont typeface="+mj-lt"/>
              <a:buAutoNum type="arabicPeriod" startAt="4"/>
            </a:pPr>
            <a:r>
              <a:rPr lang="en-US" sz="1300" b="1" dirty="0">
                <a:solidFill>
                  <a:srgbClr val="3C3939"/>
                </a:solidFill>
                <a:latin typeface="Roboto Bold" pitchFamily="34" charset="0"/>
                <a:ea typeface="Roboto Bold" pitchFamily="34" charset="-122"/>
                <a:cs typeface="Roboto Bold" pitchFamily="34" charset="-120"/>
              </a:rPr>
              <a:t>Step 4</a:t>
            </a:r>
            <a:pPr algn="l" marL="264160" indent="-264160">
              <a:lnSpc>
                <a:spcPct val="133000"/>
              </a:lnSpc>
              <a:buSzPct val="100000"/>
              <a:buFont typeface="+mj-lt"/>
              <a:buAutoNum type="arabicPeriod" startAt="4"/>
            </a:pPr>
            <a:r>
              <a:rPr lang="en-US" sz="1300" dirty="0">
                <a:solidFill>
                  <a:srgbClr val="3C3939"/>
                </a:solidFill>
                <a:latin typeface="Roboto" pitchFamily="34" charset="0"/>
                <a:ea typeface="Roboto" pitchFamily="34" charset="-122"/>
                <a:cs typeface="Roboto" pitchFamily="34" charset="-120"/>
              </a:rPr>
              <a:t> — Add Conditional Routing</a:t>
            </a:r>
            <a:endParaRPr lang="en-US" sz="1300" dirty="0"/>
          </a:p>
          <a:p>
            <a:pPr algn="l" marL="264160" indent="-264160">
              <a:lnSpc>
                <a:spcPct val="133000"/>
              </a:lnSpc>
              <a:buSzPct val="100000"/>
              <a:buFont typeface="+mj-lt"/>
              <a:buAutoNum type="arabicPeriod" startAt="5"/>
            </a:pPr>
            <a:r>
              <a:rPr lang="en-US" sz="1300" b="1" dirty="0">
                <a:solidFill>
                  <a:srgbClr val="3C3939"/>
                </a:solidFill>
                <a:latin typeface="Roboto Bold" pitchFamily="34" charset="0"/>
                <a:ea typeface="Roboto Bold" pitchFamily="34" charset="-122"/>
                <a:cs typeface="Roboto Bold" pitchFamily="34" charset="-120"/>
              </a:rPr>
              <a:t>Step 5</a:t>
            </a:r>
            <a:pPr algn="l" marL="264160" indent="-264160">
              <a:lnSpc>
                <a:spcPct val="133000"/>
              </a:lnSpc>
              <a:buSzPct val="100000"/>
              <a:buFont typeface="+mj-lt"/>
              <a:buAutoNum type="arabicPeriod" startAt="5"/>
            </a:pPr>
            <a:r>
              <a:rPr lang="en-US" sz="1300" dirty="0">
                <a:solidFill>
                  <a:srgbClr val="3C3939"/>
                </a:solidFill>
                <a:latin typeface="Roboto" pitchFamily="34" charset="0"/>
                <a:ea typeface="Roboto" pitchFamily="34" charset="-122"/>
                <a:cs typeface="Roboto" pitchFamily="34" charset="-120"/>
              </a:rPr>
              <a:t> — Compile and Invoke</a:t>
            </a:r>
            <a:endParaRPr lang="en-US" sz="1300" dirty="0"/>
          </a:p>
        </p:txBody>
      </p:sp>
      <p:sp>
        <p:nvSpPr>
          <p:cNvPr id="11" name="Text 9"/>
          <p:cNvSpPr/>
          <p:nvPr/>
        </p:nvSpPr>
        <p:spPr>
          <a:xfrm>
            <a:off x="6303904" y="5224165"/>
            <a:ext cx="5232666"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After implementation, students run a structured test suite to observe the agent's behavior across a range of scenarios — from simple questions to multi-step tool-calling tasks.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Lab Architecture</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The lab agent implements the standard tool-calling graph pattern. The architecture is intentionally simple — a single LLM node, a single tool node, and conditional routing — so that students can focus on understanding each component clearly.</a:t>
            </a:r>
            <a:endParaRPr lang="en-US" sz="650" dirty="0"/>
          </a:p>
        </p:txBody>
      </p:sp>
      <p:pic>
        <p:nvPicPr>
          <p:cNvPr id="4" name="Image 0" descr="preencoded.png">    </p:cNvPr>
          <p:cNvPicPr>
            <a:picLocks noChangeAspect="1"/>
          </p:cNvPicPr>
          <p:nvPr/>
        </p:nvPicPr>
        <p:blipFill>
          <a:blip r:embed="rId1"/>
          <a:stretch>
            <a:fillRect/>
          </a:stretch>
        </p:blipFill>
        <p:spPr>
          <a:xfrm>
            <a:off x="749281" y="941487"/>
            <a:ext cx="10693132" cy="5256709"/>
          </a:xfrm>
          <a:prstGeom prst="rect">
            <a:avLst/>
          </a:prstGeom>
        </p:spPr>
      </p:pic>
      <p:sp>
        <p:nvSpPr>
          <p:cNvPr id="5" name="Text 2"/>
          <p:cNvSpPr/>
          <p:nvPr/>
        </p:nvSpPr>
        <p:spPr>
          <a:xfrm>
            <a:off x="5981706" y="1434302"/>
            <a:ext cx="2445432"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Tool Node</a:t>
            </a:r>
            <a:endParaRPr lang="en-US" sz="1900" dirty="0"/>
          </a:p>
        </p:txBody>
      </p:sp>
      <p:sp>
        <p:nvSpPr>
          <p:cNvPr id="6" name="Text 3"/>
          <p:cNvSpPr/>
          <p:nvPr/>
        </p:nvSpPr>
        <p:spPr>
          <a:xfrm>
            <a:off x="5981706" y="1826939"/>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Perform tool task then return</a:t>
            </a:r>
            <a:endParaRPr lang="en-US" sz="1500" dirty="0"/>
          </a:p>
        </p:txBody>
      </p:sp>
      <p:sp>
        <p:nvSpPr>
          <p:cNvPr id="7" name="Text 4"/>
          <p:cNvSpPr/>
          <p:nvPr/>
        </p:nvSpPr>
        <p:spPr>
          <a:xfrm>
            <a:off x="5981706" y="2662483"/>
            <a:ext cx="2445432"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Tool Required?</a:t>
            </a:r>
            <a:endParaRPr lang="en-US" sz="1900" dirty="0"/>
          </a:p>
        </p:txBody>
      </p:sp>
      <p:sp>
        <p:nvSpPr>
          <p:cNvPr id="8" name="Text 5"/>
          <p:cNvSpPr/>
          <p:nvPr/>
        </p:nvSpPr>
        <p:spPr>
          <a:xfrm>
            <a:off x="5981706" y="3055121"/>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If yes invoke tool, no end</a:t>
            </a:r>
            <a:endParaRPr lang="en-US" sz="1500" dirty="0"/>
          </a:p>
        </p:txBody>
      </p:sp>
      <p:sp>
        <p:nvSpPr>
          <p:cNvPr id="9" name="Text 6"/>
          <p:cNvSpPr/>
          <p:nvPr/>
        </p:nvSpPr>
        <p:spPr>
          <a:xfrm>
            <a:off x="5981706" y="3890664"/>
            <a:ext cx="2445432"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Agent / LLM Node</a:t>
            </a:r>
            <a:endParaRPr lang="en-US" sz="1900" dirty="0"/>
          </a:p>
        </p:txBody>
      </p:sp>
      <p:sp>
        <p:nvSpPr>
          <p:cNvPr id="10" name="Text 7"/>
          <p:cNvSpPr/>
          <p:nvPr/>
        </p:nvSpPr>
        <p:spPr>
          <a:xfrm>
            <a:off x="5981706" y="4283302"/>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Generate action or call tool</a:t>
            </a:r>
            <a:endParaRPr lang="en-US" sz="1500" dirty="0"/>
          </a:p>
        </p:txBody>
      </p:sp>
      <p:sp>
        <p:nvSpPr>
          <p:cNvPr id="11" name="Text 8"/>
          <p:cNvSpPr/>
          <p:nvPr/>
        </p:nvSpPr>
        <p:spPr>
          <a:xfrm>
            <a:off x="5992575" y="5118845"/>
            <a:ext cx="2445433" cy="305687"/>
          </a:xfrm>
          <a:prstGeom prst="rect">
            <a:avLst/>
          </a:prstGeom>
          <a:noFill/>
          <a:ln/>
        </p:spPr>
        <p:txBody>
          <a:bodyPr wrap="none" lIns="0" tIns="0" rIns="0" bIns="0" rtlCol="0" anchor="t"/>
          <a:lstStyle/>
          <a:p>
            <a:pPr algn="l" indent="0" marL="0">
              <a:lnSpc>
                <a:spcPct val="104000"/>
              </a:lnSpc>
              <a:buNone/>
            </a:pPr>
            <a:r>
              <a:rPr lang="en-US" sz="1900" dirty="0">
                <a:solidFill>
                  <a:srgbClr val="3C3939"/>
                </a:solidFill>
                <a:latin typeface="Raleway" pitchFamily="34" charset="0"/>
                <a:ea typeface="Raleway" pitchFamily="34" charset="-122"/>
                <a:cs typeface="Raleway" pitchFamily="34" charset="-120"/>
              </a:rPr>
              <a:t>Start</a:t>
            </a:r>
            <a:endParaRPr lang="en-US" sz="1900" dirty="0"/>
          </a:p>
        </p:txBody>
      </p:sp>
      <p:sp>
        <p:nvSpPr>
          <p:cNvPr id="12" name="Text 9"/>
          <p:cNvSpPr/>
          <p:nvPr/>
        </p:nvSpPr>
        <p:spPr>
          <a:xfrm>
            <a:off x="5992575" y="5511483"/>
            <a:ext cx="4945208" cy="183412"/>
          </a:xfrm>
          <a:prstGeom prst="rect">
            <a:avLst/>
          </a:prstGeom>
          <a:noFill/>
          <a:ln/>
        </p:spPr>
        <p:txBody>
          <a:bodyPr wrap="none" lIns="0" tIns="0" rIns="0" bIns="0" rtlCol="0" anchor="t"/>
          <a:lstStyle/>
          <a:p>
            <a:pPr algn="l" indent="0" marL="0">
              <a:lnSpc>
                <a:spcPct val="78000"/>
              </a:lnSpc>
              <a:buNone/>
            </a:pPr>
            <a:r>
              <a:rPr lang="en-US" sz="1500" dirty="0">
                <a:solidFill>
                  <a:srgbClr val="3C3939"/>
                </a:solidFill>
                <a:latin typeface="Roboto" pitchFamily="34" charset="0"/>
                <a:ea typeface="Roboto" pitchFamily="34" charset="-122"/>
                <a:cs typeface="Roboto" pitchFamily="34" charset="-120"/>
              </a:rPr>
              <a:t>Begin agent flow</a:t>
            </a:r>
            <a:endParaRPr lang="en-US" sz="1500" dirty="0"/>
          </a:p>
        </p:txBody>
      </p:sp>
      <p:sp>
        <p:nvSpPr>
          <p:cNvPr id="13" name="Shape 10"/>
          <p:cNvSpPr/>
          <p:nvPr/>
        </p:nvSpPr>
        <p:spPr>
          <a:xfrm>
            <a:off x="661475" y="6244630"/>
            <a:ext cx="5413736" cy="542925"/>
          </a:xfrm>
          <a:prstGeom prst="roundRect">
            <a:avLst>
              <a:gd name="adj" fmla="val 6397"/>
            </a:avLst>
          </a:prstGeom>
          <a:solidFill>
            <a:srgbClr val="FFFFFF">
              <a:alpha val="95000"/>
            </a:srgbClr>
          </a:solidFill>
          <a:ln w="12700">
            <a:solidFill>
              <a:srgbClr val="C7C7D0"/>
            </a:solidFill>
            <a:prstDash val="solid"/>
          </a:ln>
        </p:spPr>
      </p:sp>
      <p:sp>
        <p:nvSpPr>
          <p:cNvPr id="14" name="Text 11"/>
          <p:cNvSpPr/>
          <p:nvPr/>
        </p:nvSpPr>
        <p:spPr>
          <a:xfrm>
            <a:off x="756822" y="6339979"/>
            <a:ext cx="5223042" cy="129183"/>
          </a:xfrm>
          <a:prstGeom prst="rect">
            <a:avLst/>
          </a:prstGeom>
          <a:noFill/>
          <a:ln/>
        </p:spPr>
        <p:txBody>
          <a:bodyPr wrap="none" lIns="0" tIns="0" rIns="0" bIns="0" rtlCol="0" anchor="t"/>
          <a:lstStyle/>
          <a:p>
            <a:pPr algn="l" indent="0" marL="0">
              <a:lnSpc>
                <a:spcPct val="104000"/>
              </a:lnSpc>
              <a:buNone/>
            </a:pPr>
            <a:r>
              <a:rPr lang="en-US" sz="800" dirty="0">
                <a:solidFill>
                  <a:srgbClr val="3C3939"/>
                </a:solidFill>
                <a:latin typeface="Raleway" pitchFamily="34" charset="0"/>
                <a:ea typeface="Raleway" pitchFamily="34" charset="-122"/>
                <a:cs typeface="Raleway" pitchFamily="34" charset="-120"/>
              </a:rPr>
              <a:t>START → Agent / LLM</a:t>
            </a:r>
            <a:endParaRPr lang="en-US" sz="800" dirty="0"/>
          </a:p>
        </p:txBody>
      </p:sp>
      <p:sp>
        <p:nvSpPr>
          <p:cNvPr id="15" name="Text 12"/>
          <p:cNvSpPr/>
          <p:nvPr/>
        </p:nvSpPr>
        <p:spPr>
          <a:xfrm>
            <a:off x="756822" y="6493966"/>
            <a:ext cx="5223042"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The user's input enters state as a human message. The Agent/LLM node is the first node to execute. It receives the initial state and begins reasoning.</a:t>
            </a:r>
            <a:endParaRPr lang="en-US" sz="650" dirty="0"/>
          </a:p>
        </p:txBody>
      </p:sp>
      <p:sp>
        <p:nvSpPr>
          <p:cNvPr id="16" name="Shape 13"/>
          <p:cNvSpPr/>
          <p:nvPr/>
        </p:nvSpPr>
        <p:spPr>
          <a:xfrm>
            <a:off x="6116484" y="6244630"/>
            <a:ext cx="5413736" cy="542925"/>
          </a:xfrm>
          <a:prstGeom prst="roundRect">
            <a:avLst>
              <a:gd name="adj" fmla="val 6397"/>
            </a:avLst>
          </a:prstGeom>
          <a:solidFill>
            <a:srgbClr val="FFFFFF">
              <a:alpha val="95000"/>
            </a:srgbClr>
          </a:solidFill>
          <a:ln w="12700">
            <a:solidFill>
              <a:srgbClr val="C7C7D0"/>
            </a:solidFill>
            <a:prstDash val="solid"/>
          </a:ln>
        </p:spPr>
      </p:sp>
      <p:sp>
        <p:nvSpPr>
          <p:cNvPr id="17" name="Text 14"/>
          <p:cNvSpPr/>
          <p:nvPr/>
        </p:nvSpPr>
        <p:spPr>
          <a:xfrm>
            <a:off x="6211831" y="6339979"/>
            <a:ext cx="5223042" cy="129183"/>
          </a:xfrm>
          <a:prstGeom prst="rect">
            <a:avLst/>
          </a:prstGeom>
          <a:noFill/>
          <a:ln/>
        </p:spPr>
        <p:txBody>
          <a:bodyPr wrap="none" lIns="0" tIns="0" rIns="0" bIns="0" rtlCol="0" anchor="t"/>
          <a:lstStyle/>
          <a:p>
            <a:pPr algn="l" indent="0" marL="0">
              <a:lnSpc>
                <a:spcPct val="104000"/>
              </a:lnSpc>
              <a:buNone/>
            </a:pPr>
            <a:r>
              <a:rPr lang="en-US" sz="800" dirty="0">
                <a:solidFill>
                  <a:srgbClr val="3C3939"/>
                </a:solidFill>
                <a:latin typeface="Raleway" pitchFamily="34" charset="0"/>
                <a:ea typeface="Raleway" pitchFamily="34" charset="-122"/>
                <a:cs typeface="Raleway" pitchFamily="34" charset="-120"/>
              </a:rPr>
              <a:t>Tool Required? → No → END</a:t>
            </a:r>
            <a:endParaRPr lang="en-US" sz="800" dirty="0"/>
          </a:p>
        </p:txBody>
      </p:sp>
      <p:sp>
        <p:nvSpPr>
          <p:cNvPr id="18" name="Text 15"/>
          <p:cNvSpPr/>
          <p:nvPr/>
        </p:nvSpPr>
        <p:spPr>
          <a:xfrm>
            <a:off x="6211831" y="6493966"/>
            <a:ext cx="5223042"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If the LLM produces a response with no tool call, the conditional edge routes directly to END. The final state — containing the agent's answer — is returned to the caller.</a:t>
            </a:r>
            <a:endParaRPr lang="en-US" sz="650" dirty="0"/>
          </a:p>
        </p:txBody>
      </p:sp>
      <p:sp>
        <p:nvSpPr>
          <p:cNvPr id="19" name="Shape 16"/>
          <p:cNvSpPr/>
          <p:nvPr/>
        </p:nvSpPr>
        <p:spPr>
          <a:xfrm>
            <a:off x="661475" y="6828830"/>
            <a:ext cx="5413736" cy="542925"/>
          </a:xfrm>
          <a:prstGeom prst="roundRect">
            <a:avLst>
              <a:gd name="adj" fmla="val 6397"/>
            </a:avLst>
          </a:prstGeom>
          <a:solidFill>
            <a:srgbClr val="FFFFFF">
              <a:alpha val="95000"/>
            </a:srgbClr>
          </a:solidFill>
          <a:ln w="12700">
            <a:solidFill>
              <a:srgbClr val="C7C7D0"/>
            </a:solidFill>
            <a:prstDash val="solid"/>
          </a:ln>
        </p:spPr>
      </p:sp>
      <p:sp>
        <p:nvSpPr>
          <p:cNvPr id="20" name="Text 17"/>
          <p:cNvSpPr/>
          <p:nvPr/>
        </p:nvSpPr>
        <p:spPr>
          <a:xfrm>
            <a:off x="756822" y="6924179"/>
            <a:ext cx="5223042" cy="129183"/>
          </a:xfrm>
          <a:prstGeom prst="rect">
            <a:avLst/>
          </a:prstGeom>
          <a:noFill/>
          <a:ln/>
        </p:spPr>
        <p:txBody>
          <a:bodyPr wrap="none" lIns="0" tIns="0" rIns="0" bIns="0" rtlCol="0" anchor="t"/>
          <a:lstStyle/>
          <a:p>
            <a:pPr algn="l" indent="0" marL="0">
              <a:lnSpc>
                <a:spcPct val="104000"/>
              </a:lnSpc>
              <a:buNone/>
            </a:pPr>
            <a:r>
              <a:rPr lang="en-US" sz="800" dirty="0">
                <a:solidFill>
                  <a:srgbClr val="3C3939"/>
                </a:solidFill>
                <a:latin typeface="Raleway" pitchFamily="34" charset="0"/>
                <a:ea typeface="Raleway" pitchFamily="34" charset="-122"/>
                <a:cs typeface="Raleway" pitchFamily="34" charset="-120"/>
              </a:rPr>
              <a:t>Tool Required? → Yes → Tool Node → Agent / LLM</a:t>
            </a:r>
            <a:endParaRPr lang="en-US" sz="800" dirty="0"/>
          </a:p>
        </p:txBody>
      </p:sp>
      <p:sp>
        <p:nvSpPr>
          <p:cNvPr id="21" name="Text 18"/>
          <p:cNvSpPr/>
          <p:nvPr/>
        </p:nvSpPr>
        <p:spPr>
          <a:xfrm>
            <a:off x="756822" y="7078166"/>
            <a:ext cx="5223042"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If the LLM produces a tool call, the conditional edge routes to the Tool Node. The tool executes, its result is added to state, and execution returns to the Agent/LLM node.</a:t>
            </a:r>
            <a:endParaRPr lang="en-US" sz="650" dirty="0"/>
          </a:p>
        </p:txBody>
      </p:sp>
      <p:sp>
        <p:nvSpPr>
          <p:cNvPr id="22" name="Shape 19"/>
          <p:cNvSpPr/>
          <p:nvPr/>
        </p:nvSpPr>
        <p:spPr>
          <a:xfrm>
            <a:off x="6116484" y="6828830"/>
            <a:ext cx="5413736" cy="542925"/>
          </a:xfrm>
          <a:prstGeom prst="roundRect">
            <a:avLst>
              <a:gd name="adj" fmla="val 6397"/>
            </a:avLst>
          </a:prstGeom>
          <a:solidFill>
            <a:srgbClr val="FFFFFF">
              <a:alpha val="95000"/>
            </a:srgbClr>
          </a:solidFill>
          <a:ln w="12700">
            <a:solidFill>
              <a:srgbClr val="C7C7D0"/>
            </a:solidFill>
            <a:prstDash val="solid"/>
          </a:ln>
        </p:spPr>
      </p:sp>
      <p:sp>
        <p:nvSpPr>
          <p:cNvPr id="23" name="Text 20"/>
          <p:cNvSpPr/>
          <p:nvPr/>
        </p:nvSpPr>
        <p:spPr>
          <a:xfrm>
            <a:off x="6211831" y="6924179"/>
            <a:ext cx="5223042" cy="129183"/>
          </a:xfrm>
          <a:prstGeom prst="rect">
            <a:avLst/>
          </a:prstGeom>
          <a:noFill/>
          <a:ln/>
        </p:spPr>
        <p:txBody>
          <a:bodyPr wrap="none" lIns="0" tIns="0" rIns="0" bIns="0" rtlCol="0" anchor="t"/>
          <a:lstStyle/>
          <a:p>
            <a:pPr algn="l" indent="0" marL="0">
              <a:lnSpc>
                <a:spcPct val="104000"/>
              </a:lnSpc>
              <a:buNone/>
            </a:pPr>
            <a:r>
              <a:rPr lang="en-US" sz="800" dirty="0">
                <a:solidFill>
                  <a:srgbClr val="3C3939"/>
                </a:solidFill>
                <a:latin typeface="Raleway" pitchFamily="34" charset="0"/>
                <a:ea typeface="Raleway" pitchFamily="34" charset="-122"/>
                <a:cs typeface="Raleway" pitchFamily="34" charset="-120"/>
              </a:rPr>
              <a:t>Continue Until Complete</a:t>
            </a:r>
            <a:endParaRPr lang="en-US" sz="800" dirty="0"/>
          </a:p>
        </p:txBody>
      </p:sp>
      <p:sp>
        <p:nvSpPr>
          <p:cNvPr id="24" name="Text 21"/>
          <p:cNvSpPr/>
          <p:nvPr/>
        </p:nvSpPr>
        <p:spPr>
          <a:xfrm>
            <a:off x="6211831" y="7078166"/>
            <a:ext cx="5223042" cy="99120"/>
          </a:xfrm>
          <a:prstGeom prst="rect">
            <a:avLst/>
          </a:prstGeom>
          <a:noFill/>
          <a:ln/>
        </p:spPr>
        <p:txBody>
          <a:bodyPr wrap="none" lIns="0" tIns="0" rIns="0" bIns="0" rtlCol="0" anchor="t"/>
          <a:lstStyle/>
          <a:p>
            <a:pPr algn="l" indent="0" marL="0">
              <a:lnSpc>
                <a:spcPct val="100000"/>
              </a:lnSpc>
              <a:buNone/>
            </a:pPr>
            <a:r>
              <a:rPr lang="en-US" sz="650" dirty="0">
                <a:solidFill>
                  <a:srgbClr val="3C3939"/>
                </a:solidFill>
                <a:latin typeface="Roboto" pitchFamily="34" charset="0"/>
                <a:ea typeface="Roboto" pitchFamily="34" charset="-122"/>
                <a:cs typeface="Roboto" pitchFamily="34" charset="-120"/>
              </a:rPr>
              <a:t>The loop repeats — LLM reasons, tool executes if needed, result is added to state — until the agent produces a final response with no tool call.</a:t>
            </a:r>
            <a:endParaRPr lang="en-US" sz="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61475" y="63579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Lab Step 1: Define State</a:t>
            </a:r>
            <a:endParaRPr lang="en-US" sz="3250" dirty="0"/>
          </a:p>
        </p:txBody>
      </p:sp>
      <p:sp>
        <p:nvSpPr>
          <p:cNvPr id="3" name="Text 1"/>
          <p:cNvSpPr/>
          <p:nvPr/>
        </p:nvSpPr>
        <p:spPr>
          <a:xfrm>
            <a:off x="661475" y="1483221"/>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first step in building the lab agent is defining the state schema. The state schema determines what information the graph will carry and manage throughout its execution.</a:t>
            </a:r>
            <a:endParaRPr lang="en-US" sz="1300" dirty="0"/>
          </a:p>
        </p:txBody>
      </p:sp>
      <p:sp>
        <p:nvSpPr>
          <p:cNvPr id="4" name="Text 2"/>
          <p:cNvSpPr/>
          <p:nvPr/>
        </p:nvSpPr>
        <p:spPr>
          <a:xfrm>
            <a:off x="661475" y="2198489"/>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01</a:t>
            </a:r>
            <a:endParaRPr lang="en-US" sz="1300" dirty="0"/>
          </a:p>
        </p:txBody>
      </p:sp>
      <p:sp>
        <p:nvSpPr>
          <p:cNvPr id="5" name="Shape 3"/>
          <p:cNvSpPr/>
          <p:nvPr/>
        </p:nvSpPr>
        <p:spPr>
          <a:xfrm>
            <a:off x="661475" y="2460427"/>
            <a:ext cx="5351725" cy="19050"/>
          </a:xfrm>
          <a:prstGeom prst="rect">
            <a:avLst/>
          </a:prstGeom>
          <a:solidFill>
            <a:srgbClr val="1B1B27"/>
          </a:solidFill>
          <a:ln/>
        </p:spPr>
      </p:sp>
      <p:sp>
        <p:nvSpPr>
          <p:cNvPr id="6" name="Text 4"/>
          <p:cNvSpPr/>
          <p:nvPr/>
        </p:nvSpPr>
        <p:spPr>
          <a:xfrm>
            <a:off x="661475" y="2581176"/>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Create a State Schema</a:t>
            </a:r>
            <a:endParaRPr lang="en-US" sz="1600" dirty="0"/>
          </a:p>
        </p:txBody>
      </p:sp>
      <p:sp>
        <p:nvSpPr>
          <p:cNvPr id="7" name="Text 5"/>
          <p:cNvSpPr/>
          <p:nvPr/>
        </p:nvSpPr>
        <p:spPr>
          <a:xfrm>
            <a:off x="661475" y="2938859"/>
            <a:ext cx="5351725" cy="8065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Define a class using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TypedDict</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(from Python's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typing</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module) or LangGraph's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MessagesState</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base class. The schema declares the fields that will exist in the state dictionary throughout graph execution.</a:t>
            </a:r>
            <a:endParaRPr lang="en-US" sz="1300" dirty="0"/>
          </a:p>
        </p:txBody>
      </p:sp>
      <p:sp>
        <p:nvSpPr>
          <p:cNvPr id="8" name="Text 6"/>
          <p:cNvSpPr/>
          <p:nvPr/>
        </p:nvSpPr>
        <p:spPr>
          <a:xfrm>
            <a:off x="6178495" y="2198489"/>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02</a:t>
            </a:r>
            <a:endParaRPr lang="en-US" sz="1300" dirty="0"/>
          </a:p>
        </p:txBody>
      </p:sp>
      <p:sp>
        <p:nvSpPr>
          <p:cNvPr id="9" name="Shape 7"/>
          <p:cNvSpPr/>
          <p:nvPr/>
        </p:nvSpPr>
        <p:spPr>
          <a:xfrm>
            <a:off x="6178495" y="2460427"/>
            <a:ext cx="5351725" cy="19050"/>
          </a:xfrm>
          <a:prstGeom prst="rect">
            <a:avLst/>
          </a:prstGeom>
          <a:solidFill>
            <a:srgbClr val="1B1B27"/>
          </a:solidFill>
          <a:ln/>
        </p:spPr>
      </p:sp>
      <p:sp>
        <p:nvSpPr>
          <p:cNvPr id="10" name="Text 8"/>
          <p:cNvSpPr/>
          <p:nvPr/>
        </p:nvSpPr>
        <p:spPr>
          <a:xfrm>
            <a:off x="6178495" y="2581176"/>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Include Messages</a:t>
            </a:r>
            <a:endParaRPr lang="en-US" sz="1600" dirty="0"/>
          </a:p>
        </p:txBody>
      </p:sp>
      <p:sp>
        <p:nvSpPr>
          <p:cNvPr id="11" name="Text 9"/>
          <p:cNvSpPr/>
          <p:nvPr/>
        </p:nvSpPr>
        <p:spPr>
          <a:xfrm>
            <a:off x="6178495" y="2938859"/>
            <a:ext cx="5351725" cy="132943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messages field is the core of the state for a conversational agent. It holds the full message history — human messages, AI messages, and tool messages — and grows with each step of the agent loop. Use LangGraph's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add_messages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reducer to ensure messages are appended rather than overwritten.</a:t>
            </a:r>
            <a:endParaRPr lang="en-US" sz="1300" dirty="0"/>
          </a:p>
        </p:txBody>
      </p:sp>
      <p:sp>
        <p:nvSpPr>
          <p:cNvPr id="12" name="Text 10"/>
          <p:cNvSpPr/>
          <p:nvPr/>
        </p:nvSpPr>
        <p:spPr>
          <a:xfrm>
            <a:off x="661475" y="4557613"/>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03</a:t>
            </a:r>
            <a:endParaRPr lang="en-US" sz="1300" dirty="0"/>
          </a:p>
        </p:txBody>
      </p:sp>
      <p:sp>
        <p:nvSpPr>
          <p:cNvPr id="13" name="Shape 11"/>
          <p:cNvSpPr/>
          <p:nvPr/>
        </p:nvSpPr>
        <p:spPr>
          <a:xfrm>
            <a:off x="661475" y="4819551"/>
            <a:ext cx="5351725" cy="19050"/>
          </a:xfrm>
          <a:prstGeom prst="rect">
            <a:avLst/>
          </a:prstGeom>
          <a:solidFill>
            <a:srgbClr val="1B1B27"/>
          </a:solidFill>
          <a:ln/>
        </p:spPr>
      </p:sp>
      <p:sp>
        <p:nvSpPr>
          <p:cNvPr id="14" name="Text 12"/>
          <p:cNvSpPr/>
          <p:nvPr/>
        </p:nvSpPr>
        <p:spPr>
          <a:xfrm>
            <a:off x="661475" y="4940300"/>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Define Any Additional Information Needed by the Agent</a:t>
            </a:r>
            <a:endParaRPr lang="en-US" sz="1600" dirty="0"/>
          </a:p>
        </p:txBody>
      </p:sp>
      <p:sp>
        <p:nvSpPr>
          <p:cNvPr id="15" name="Text 13"/>
          <p:cNvSpPr/>
          <p:nvPr/>
        </p:nvSpPr>
        <p:spPr>
          <a:xfrm>
            <a:off x="661475" y="5297984"/>
            <a:ext cx="535172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If the agent requires task-specific data beyond the message history — for example, a user ID, a session context, or a configuration flag — add those fields to the state schema at this stage.</a:t>
            </a:r>
            <a:endParaRPr lang="en-US" sz="1300" dirty="0"/>
          </a:p>
        </p:txBody>
      </p:sp>
      <p:sp>
        <p:nvSpPr>
          <p:cNvPr id="16" name="Text 14"/>
          <p:cNvSpPr/>
          <p:nvPr/>
        </p:nvSpPr>
        <p:spPr>
          <a:xfrm>
            <a:off x="6178495" y="4557613"/>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04</a:t>
            </a:r>
            <a:endParaRPr lang="en-US" sz="1300" dirty="0"/>
          </a:p>
        </p:txBody>
      </p:sp>
      <p:sp>
        <p:nvSpPr>
          <p:cNvPr id="17" name="Shape 15"/>
          <p:cNvSpPr/>
          <p:nvPr/>
        </p:nvSpPr>
        <p:spPr>
          <a:xfrm>
            <a:off x="6178495" y="4819551"/>
            <a:ext cx="5351725" cy="19050"/>
          </a:xfrm>
          <a:prstGeom prst="rect">
            <a:avLst/>
          </a:prstGeom>
          <a:solidFill>
            <a:srgbClr val="1B1B27"/>
          </a:solidFill>
          <a:ln/>
        </p:spPr>
      </p:sp>
      <p:sp>
        <p:nvSpPr>
          <p:cNvPr id="18" name="Text 16"/>
          <p:cNvSpPr/>
          <p:nvPr/>
        </p:nvSpPr>
        <p:spPr>
          <a:xfrm>
            <a:off x="6178495" y="4940300"/>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Initialize the Graph with User Input</a:t>
            </a:r>
            <a:endParaRPr lang="en-US" sz="1600" dirty="0"/>
          </a:p>
        </p:txBody>
      </p:sp>
      <p:sp>
        <p:nvSpPr>
          <p:cNvPr id="19" name="Text 17"/>
          <p:cNvSpPr/>
          <p:nvPr/>
        </p:nvSpPr>
        <p:spPr>
          <a:xfrm>
            <a:off x="6178495" y="5297984"/>
            <a:ext cx="535172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When invoking the graph, provide the initial state as a dictionary. At minimum, include the user's request as a human message in the messages list: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{"messages": [HumanMessage(content="...")]}</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661475" y="632619"/>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Lab Step 2: Create the Agent Node</a:t>
            </a:r>
            <a:endParaRPr lang="en-US" sz="3250" dirty="0"/>
          </a:p>
        </p:txBody>
      </p:sp>
      <p:sp>
        <p:nvSpPr>
          <p:cNvPr id="3" name="Text 1"/>
          <p:cNvSpPr/>
          <p:nvPr/>
        </p:nvSpPr>
        <p:spPr>
          <a:xfrm>
            <a:off x="661475" y="1480046"/>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agent node is the reasoning core of the lab agent. It receives the current state, passes the message history to the LLM, and stores the model's response back into state.</a:t>
            </a:r>
            <a:endParaRPr lang="en-US" sz="1300" dirty="0"/>
          </a:p>
        </p:txBody>
      </p:sp>
      <p:sp>
        <p:nvSpPr>
          <p:cNvPr id="4" name="Text 2"/>
          <p:cNvSpPr/>
          <p:nvPr/>
        </p:nvSpPr>
        <p:spPr>
          <a:xfrm>
            <a:off x="661475" y="2195314"/>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01</a:t>
            </a:r>
            <a:endParaRPr lang="en-US" sz="1300" dirty="0"/>
          </a:p>
        </p:txBody>
      </p:sp>
      <p:sp>
        <p:nvSpPr>
          <p:cNvPr id="5" name="Shape 3"/>
          <p:cNvSpPr/>
          <p:nvPr/>
        </p:nvSpPr>
        <p:spPr>
          <a:xfrm>
            <a:off x="661475" y="2457252"/>
            <a:ext cx="5351725" cy="19050"/>
          </a:xfrm>
          <a:prstGeom prst="rect">
            <a:avLst/>
          </a:prstGeom>
          <a:solidFill>
            <a:srgbClr val="1B1B27"/>
          </a:solidFill>
          <a:ln/>
        </p:spPr>
      </p:sp>
      <p:sp>
        <p:nvSpPr>
          <p:cNvPr id="6" name="Text 4"/>
          <p:cNvSpPr/>
          <p:nvPr/>
        </p:nvSpPr>
        <p:spPr>
          <a:xfrm>
            <a:off x="661475" y="2578001"/>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Create the Chat Model</a:t>
            </a:r>
            <a:endParaRPr lang="en-US" sz="1600" dirty="0"/>
          </a:p>
        </p:txBody>
      </p:sp>
      <p:sp>
        <p:nvSpPr>
          <p:cNvPr id="7" name="Text 5"/>
          <p:cNvSpPr/>
          <p:nvPr/>
        </p:nvSpPr>
        <p:spPr>
          <a:xfrm>
            <a:off x="661475" y="2935684"/>
            <a:ext cx="5351725" cy="106481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Instantiate a chat model using LangChain — for example,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ChatOpenAI(model="gpt-4o")</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Configure the model with the appropriate provider credentials and parameters. This model will serve as the agent's reasoning engine.</a:t>
            </a:r>
            <a:endParaRPr lang="en-US" sz="1300" dirty="0"/>
          </a:p>
        </p:txBody>
      </p:sp>
      <p:sp>
        <p:nvSpPr>
          <p:cNvPr id="8" name="Text 6"/>
          <p:cNvSpPr/>
          <p:nvPr/>
        </p:nvSpPr>
        <p:spPr>
          <a:xfrm>
            <a:off x="6178495" y="2195314"/>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02</a:t>
            </a:r>
            <a:endParaRPr lang="en-US" sz="1300" dirty="0"/>
          </a:p>
        </p:txBody>
      </p:sp>
      <p:sp>
        <p:nvSpPr>
          <p:cNvPr id="9" name="Shape 7"/>
          <p:cNvSpPr/>
          <p:nvPr/>
        </p:nvSpPr>
        <p:spPr>
          <a:xfrm>
            <a:off x="6178495" y="2457252"/>
            <a:ext cx="5351725" cy="19050"/>
          </a:xfrm>
          <a:prstGeom prst="rect">
            <a:avLst/>
          </a:prstGeom>
          <a:solidFill>
            <a:srgbClr val="1B1B27"/>
          </a:solidFill>
          <a:ln/>
        </p:spPr>
      </p:sp>
      <p:sp>
        <p:nvSpPr>
          <p:cNvPr id="10" name="Text 8"/>
          <p:cNvSpPr/>
          <p:nvPr/>
        </p:nvSpPr>
        <p:spPr>
          <a:xfrm>
            <a:off x="6178495" y="2578001"/>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Pass the Current Messages to the Model</a:t>
            </a:r>
            <a:endParaRPr lang="en-US" sz="1600" dirty="0"/>
          </a:p>
        </p:txBody>
      </p:sp>
      <p:sp>
        <p:nvSpPr>
          <p:cNvPr id="11" name="Text 9"/>
          <p:cNvSpPr/>
          <p:nvPr/>
        </p:nvSpPr>
        <p:spPr>
          <a:xfrm>
            <a:off x="6178495" y="2935684"/>
            <a:ext cx="5351725" cy="106481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Inside the agent node function, extract the messages list from state and pass it to the model using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model.invoke(state["messages"])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The model receives the full conversation history and uses it to reason about the next action.</a:t>
            </a:r>
            <a:endParaRPr lang="en-US" sz="1300" dirty="0"/>
          </a:p>
        </p:txBody>
      </p:sp>
      <p:sp>
        <p:nvSpPr>
          <p:cNvPr id="12" name="Text 10"/>
          <p:cNvSpPr/>
          <p:nvPr/>
        </p:nvSpPr>
        <p:spPr>
          <a:xfrm>
            <a:off x="661475" y="4289822"/>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03</a:t>
            </a:r>
            <a:endParaRPr lang="en-US" sz="1300" dirty="0"/>
          </a:p>
        </p:txBody>
      </p:sp>
      <p:sp>
        <p:nvSpPr>
          <p:cNvPr id="13" name="Shape 11"/>
          <p:cNvSpPr/>
          <p:nvPr/>
        </p:nvSpPr>
        <p:spPr>
          <a:xfrm>
            <a:off x="661475" y="4551759"/>
            <a:ext cx="5351725" cy="19050"/>
          </a:xfrm>
          <a:prstGeom prst="rect">
            <a:avLst/>
          </a:prstGeom>
          <a:solidFill>
            <a:srgbClr val="1B1B27"/>
          </a:solidFill>
          <a:ln/>
        </p:spPr>
      </p:sp>
      <p:sp>
        <p:nvSpPr>
          <p:cNvPr id="14" name="Text 12"/>
          <p:cNvSpPr/>
          <p:nvPr/>
        </p:nvSpPr>
        <p:spPr>
          <a:xfrm>
            <a:off x="661475" y="4672509"/>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Store the AI Response in State</a:t>
            </a:r>
            <a:endParaRPr lang="en-US" sz="1600" dirty="0"/>
          </a:p>
        </p:txBody>
      </p:sp>
      <p:sp>
        <p:nvSpPr>
          <p:cNvPr id="15" name="Text 13"/>
          <p:cNvSpPr/>
          <p:nvPr/>
        </p:nvSpPr>
        <p:spPr>
          <a:xfrm>
            <a:off x="661475" y="5030192"/>
            <a:ext cx="5351725" cy="10711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model returns an AI message object. The agent node function returns a state update: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{"messages": [ai_message]}</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LangGraph's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add_messages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reducer appends this AI message to the existing messages list in state.</a:t>
            </a:r>
            <a:endParaRPr lang="en-US" sz="1300" dirty="0"/>
          </a:p>
        </p:txBody>
      </p:sp>
      <p:sp>
        <p:nvSpPr>
          <p:cNvPr id="16" name="Text 14"/>
          <p:cNvSpPr/>
          <p:nvPr/>
        </p:nvSpPr>
        <p:spPr>
          <a:xfrm>
            <a:off x="6178495" y="4289822"/>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04</a:t>
            </a:r>
            <a:endParaRPr lang="en-US" sz="1300" dirty="0"/>
          </a:p>
        </p:txBody>
      </p:sp>
      <p:sp>
        <p:nvSpPr>
          <p:cNvPr id="17" name="Shape 15"/>
          <p:cNvSpPr/>
          <p:nvPr/>
        </p:nvSpPr>
        <p:spPr>
          <a:xfrm>
            <a:off x="6178495" y="4551759"/>
            <a:ext cx="5351725" cy="19050"/>
          </a:xfrm>
          <a:prstGeom prst="rect">
            <a:avLst/>
          </a:prstGeom>
          <a:solidFill>
            <a:srgbClr val="1B1B27"/>
          </a:solidFill>
          <a:ln/>
        </p:spPr>
      </p:sp>
      <p:sp>
        <p:nvSpPr>
          <p:cNvPr id="18" name="Text 16"/>
          <p:cNvSpPr/>
          <p:nvPr/>
        </p:nvSpPr>
        <p:spPr>
          <a:xfrm>
            <a:off x="6178495" y="4672509"/>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Allow the Model to Generate Tool Calls</a:t>
            </a:r>
            <a:endParaRPr lang="en-US" sz="1600" dirty="0"/>
          </a:p>
        </p:txBody>
      </p:sp>
      <p:sp>
        <p:nvSpPr>
          <p:cNvPr id="19" name="Text 17"/>
          <p:cNvSpPr/>
          <p:nvPr/>
        </p:nvSpPr>
        <p:spPr>
          <a:xfrm>
            <a:off x="6178495" y="5030192"/>
            <a:ext cx="5351725" cy="106481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Bind the available tools to the model using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model.bind_tools(tools)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before using it in the node. This enables the model to produce structured tool call requests in its AI messages when it determines that a tool is needed.</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61475" y="632619"/>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Lab Step 3: Create the Tool Node</a:t>
            </a:r>
            <a:endParaRPr lang="en-US" sz="3250" dirty="0"/>
          </a:p>
        </p:txBody>
      </p:sp>
      <p:sp>
        <p:nvSpPr>
          <p:cNvPr id="3" name="Text 1"/>
          <p:cNvSpPr/>
          <p:nvPr/>
        </p:nvSpPr>
        <p:spPr>
          <a:xfrm>
            <a:off x="661475" y="1480046"/>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The tool node is responsible for executing the tool calls requested by the LLM and returning the results to state. It is the action-taking component of the agent.</a:t>
            </a:r>
            <a:endParaRPr lang="en-US" sz="1300" dirty="0"/>
          </a:p>
        </p:txBody>
      </p:sp>
      <p:sp>
        <p:nvSpPr>
          <p:cNvPr id="4" name="Text 2"/>
          <p:cNvSpPr/>
          <p:nvPr/>
        </p:nvSpPr>
        <p:spPr>
          <a:xfrm>
            <a:off x="661475" y="2195314"/>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01</a:t>
            </a:r>
            <a:endParaRPr lang="en-US" sz="1300" dirty="0"/>
          </a:p>
        </p:txBody>
      </p:sp>
      <p:sp>
        <p:nvSpPr>
          <p:cNvPr id="5" name="Shape 3"/>
          <p:cNvSpPr/>
          <p:nvPr/>
        </p:nvSpPr>
        <p:spPr>
          <a:xfrm>
            <a:off x="661475" y="2457252"/>
            <a:ext cx="5351725" cy="19050"/>
          </a:xfrm>
          <a:prstGeom prst="rect">
            <a:avLst/>
          </a:prstGeom>
          <a:solidFill>
            <a:srgbClr val="1B1B27"/>
          </a:solidFill>
          <a:ln/>
        </p:spPr>
      </p:sp>
      <p:sp>
        <p:nvSpPr>
          <p:cNvPr id="6" name="Text 4"/>
          <p:cNvSpPr/>
          <p:nvPr/>
        </p:nvSpPr>
        <p:spPr>
          <a:xfrm>
            <a:off x="661475" y="2578001"/>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Define a Calculator or Search Tool</a:t>
            </a:r>
            <a:endParaRPr lang="en-US" sz="1600" dirty="0"/>
          </a:p>
        </p:txBody>
      </p:sp>
      <p:sp>
        <p:nvSpPr>
          <p:cNvPr id="7" name="Text 5"/>
          <p:cNvSpPr/>
          <p:nvPr/>
        </p:nvSpPr>
        <p:spPr>
          <a:xfrm>
            <a:off x="661475" y="2935684"/>
            <a:ext cx="5351725" cy="106481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Implement the tool as a Python function. For the calculator tool, the function accepts numeric arguments and returns the computed result. Decorate the function with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@tool</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from LangChain to make it a recognized tool object with a name and description.</a:t>
            </a:r>
            <a:endParaRPr lang="en-US" sz="1300" dirty="0"/>
          </a:p>
        </p:txBody>
      </p:sp>
      <p:sp>
        <p:nvSpPr>
          <p:cNvPr id="8" name="Text 6"/>
          <p:cNvSpPr/>
          <p:nvPr/>
        </p:nvSpPr>
        <p:spPr>
          <a:xfrm>
            <a:off x="6178495" y="2195314"/>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02</a:t>
            </a:r>
            <a:endParaRPr lang="en-US" sz="1300" dirty="0"/>
          </a:p>
        </p:txBody>
      </p:sp>
      <p:sp>
        <p:nvSpPr>
          <p:cNvPr id="9" name="Shape 7"/>
          <p:cNvSpPr/>
          <p:nvPr/>
        </p:nvSpPr>
        <p:spPr>
          <a:xfrm>
            <a:off x="6178495" y="2457252"/>
            <a:ext cx="5351725" cy="19050"/>
          </a:xfrm>
          <a:prstGeom prst="rect">
            <a:avLst/>
          </a:prstGeom>
          <a:solidFill>
            <a:srgbClr val="1B1B27"/>
          </a:solidFill>
          <a:ln/>
        </p:spPr>
      </p:sp>
      <p:sp>
        <p:nvSpPr>
          <p:cNvPr id="10" name="Text 8"/>
          <p:cNvSpPr/>
          <p:nvPr/>
        </p:nvSpPr>
        <p:spPr>
          <a:xfrm>
            <a:off x="6178495" y="2578001"/>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Register the Tool</a:t>
            </a:r>
            <a:endParaRPr lang="en-US" sz="1600" dirty="0"/>
          </a:p>
        </p:txBody>
      </p:sp>
      <p:sp>
        <p:nvSpPr>
          <p:cNvPr id="11" name="Text 9"/>
          <p:cNvSpPr/>
          <p:nvPr/>
        </p:nvSpPr>
        <p:spPr>
          <a:xfrm>
            <a:off x="6178495" y="2935684"/>
            <a:ext cx="535172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Collect the tool(s) into a list: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tools = [calculator_tool]</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This list is used both to bind tools to the LLM (in the agent node) and to configure the tool node for execution.</a:t>
            </a:r>
            <a:endParaRPr lang="en-US" sz="1300" dirty="0"/>
          </a:p>
        </p:txBody>
      </p:sp>
      <p:sp>
        <p:nvSpPr>
          <p:cNvPr id="12" name="Text 10"/>
          <p:cNvSpPr/>
          <p:nvPr/>
        </p:nvSpPr>
        <p:spPr>
          <a:xfrm>
            <a:off x="661475" y="4289822"/>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03</a:t>
            </a:r>
            <a:endParaRPr lang="en-US" sz="1300" dirty="0"/>
          </a:p>
        </p:txBody>
      </p:sp>
      <p:sp>
        <p:nvSpPr>
          <p:cNvPr id="13" name="Shape 11"/>
          <p:cNvSpPr/>
          <p:nvPr/>
        </p:nvSpPr>
        <p:spPr>
          <a:xfrm>
            <a:off x="661475" y="4551759"/>
            <a:ext cx="5351725" cy="19050"/>
          </a:xfrm>
          <a:prstGeom prst="rect">
            <a:avLst/>
          </a:prstGeom>
          <a:solidFill>
            <a:srgbClr val="1B1B27"/>
          </a:solidFill>
          <a:ln/>
        </p:spPr>
      </p:sp>
      <p:sp>
        <p:nvSpPr>
          <p:cNvPr id="14" name="Text 12"/>
          <p:cNvSpPr/>
          <p:nvPr/>
        </p:nvSpPr>
        <p:spPr>
          <a:xfrm>
            <a:off x="661475" y="4672509"/>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Execute Requested Tool Calls</a:t>
            </a:r>
            <a:endParaRPr lang="en-US" sz="1600" dirty="0"/>
          </a:p>
        </p:txBody>
      </p:sp>
      <p:sp>
        <p:nvSpPr>
          <p:cNvPr id="15" name="Text 13"/>
          <p:cNvSpPr/>
          <p:nvPr/>
        </p:nvSpPr>
        <p:spPr>
          <a:xfrm>
            <a:off x="661475" y="5030192"/>
            <a:ext cx="5351725" cy="10711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Use LangGraph's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ToolNode(tools)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utility to create the tool node automatically.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ToolNode</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inspects the latest AI message in state, identifies any tool calls, executes the corresponding tool functions with the provided arguments, and collects the results.</a:t>
            </a:r>
            <a:endParaRPr lang="en-US" sz="1300" dirty="0"/>
          </a:p>
        </p:txBody>
      </p:sp>
      <p:sp>
        <p:nvSpPr>
          <p:cNvPr id="16" name="Text 14"/>
          <p:cNvSpPr/>
          <p:nvPr/>
        </p:nvSpPr>
        <p:spPr>
          <a:xfrm>
            <a:off x="6178495" y="4289822"/>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04</a:t>
            </a:r>
            <a:endParaRPr lang="en-US" sz="1300" dirty="0"/>
          </a:p>
        </p:txBody>
      </p:sp>
      <p:sp>
        <p:nvSpPr>
          <p:cNvPr id="17" name="Shape 15"/>
          <p:cNvSpPr/>
          <p:nvPr/>
        </p:nvSpPr>
        <p:spPr>
          <a:xfrm>
            <a:off x="6178495" y="4551759"/>
            <a:ext cx="5351725" cy="19050"/>
          </a:xfrm>
          <a:prstGeom prst="rect">
            <a:avLst/>
          </a:prstGeom>
          <a:solidFill>
            <a:srgbClr val="1B1B27"/>
          </a:solidFill>
          <a:ln/>
        </p:spPr>
      </p:sp>
      <p:sp>
        <p:nvSpPr>
          <p:cNvPr id="18" name="Text 16"/>
          <p:cNvSpPr/>
          <p:nvPr/>
        </p:nvSpPr>
        <p:spPr>
          <a:xfrm>
            <a:off x="6178495" y="4672509"/>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Add Tool Results to the Message State</a:t>
            </a:r>
            <a:endParaRPr lang="en-US" sz="1600" dirty="0"/>
          </a:p>
        </p:txBody>
      </p:sp>
      <p:sp>
        <p:nvSpPr>
          <p:cNvPr id="19" name="Text 17"/>
          <p:cNvSpPr/>
          <p:nvPr/>
        </p:nvSpPr>
        <p:spPr>
          <a:xfrm>
            <a:off x="6178495" y="5030192"/>
            <a:ext cx="5351725" cy="106481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ToolNode</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automatically formats each tool result as a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ToolMessage</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and returns a state update that appends these messages to the messages list. The LLM node will receive these tool messages in the next iteration of the agent loop.</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661475" y="764877"/>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Lab Step 4: Add Conditional Routing</a:t>
            </a:r>
            <a:endParaRPr lang="en-US" sz="3250" dirty="0"/>
          </a:p>
        </p:txBody>
      </p:sp>
      <p:sp>
        <p:nvSpPr>
          <p:cNvPr id="3" name="Text 1"/>
          <p:cNvSpPr/>
          <p:nvPr/>
        </p:nvSpPr>
        <p:spPr>
          <a:xfrm>
            <a:off x="661475" y="1612305"/>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Conditional routing is what transforms the graph from a linear sequence into an agent loop. This step adds the routing logic that decides whether to call a tool or terminate execution after each LLM response.</a:t>
            </a:r>
            <a:endParaRPr lang="en-US" sz="1300" dirty="0"/>
          </a:p>
        </p:txBody>
      </p:sp>
      <p:sp>
        <p:nvSpPr>
          <p:cNvPr id="4" name="Text 2"/>
          <p:cNvSpPr/>
          <p:nvPr/>
        </p:nvSpPr>
        <p:spPr>
          <a:xfrm>
            <a:off x="661475" y="2327573"/>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01</a:t>
            </a:r>
            <a:endParaRPr lang="en-US" sz="1300" dirty="0"/>
          </a:p>
        </p:txBody>
      </p:sp>
      <p:sp>
        <p:nvSpPr>
          <p:cNvPr id="5" name="Shape 3"/>
          <p:cNvSpPr/>
          <p:nvPr/>
        </p:nvSpPr>
        <p:spPr>
          <a:xfrm>
            <a:off x="661475" y="2589510"/>
            <a:ext cx="5351725" cy="19050"/>
          </a:xfrm>
          <a:prstGeom prst="rect">
            <a:avLst/>
          </a:prstGeom>
          <a:solidFill>
            <a:srgbClr val="1B1B27"/>
          </a:solidFill>
          <a:ln/>
        </p:spPr>
      </p:sp>
      <p:sp>
        <p:nvSpPr>
          <p:cNvPr id="6" name="Text 4"/>
          <p:cNvSpPr/>
          <p:nvPr/>
        </p:nvSpPr>
        <p:spPr>
          <a:xfrm>
            <a:off x="661475" y="2710259"/>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Inspect the Latest Model Response</a:t>
            </a:r>
            <a:endParaRPr lang="en-US" sz="1600" dirty="0"/>
          </a:p>
        </p:txBody>
      </p:sp>
      <p:sp>
        <p:nvSpPr>
          <p:cNvPr id="7" name="Text 5"/>
          <p:cNvSpPr/>
          <p:nvPr/>
        </p:nvSpPr>
        <p:spPr>
          <a:xfrm>
            <a:off x="661475" y="3067943"/>
            <a:ext cx="535172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Write a routing function that receives the current state and retrieves the most recent message from the messages list. This message is the AI message produced by the agent node in the current iteration.</a:t>
            </a:r>
            <a:endParaRPr lang="en-US" sz="1300" dirty="0"/>
          </a:p>
        </p:txBody>
      </p:sp>
      <p:sp>
        <p:nvSpPr>
          <p:cNvPr id="8" name="Text 6"/>
          <p:cNvSpPr/>
          <p:nvPr/>
        </p:nvSpPr>
        <p:spPr>
          <a:xfrm>
            <a:off x="6178495" y="2327573"/>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02</a:t>
            </a:r>
            <a:endParaRPr lang="en-US" sz="1300" dirty="0"/>
          </a:p>
        </p:txBody>
      </p:sp>
      <p:sp>
        <p:nvSpPr>
          <p:cNvPr id="9" name="Shape 7"/>
          <p:cNvSpPr/>
          <p:nvPr/>
        </p:nvSpPr>
        <p:spPr>
          <a:xfrm>
            <a:off x="6178495" y="2589510"/>
            <a:ext cx="5351725" cy="19050"/>
          </a:xfrm>
          <a:prstGeom prst="rect">
            <a:avLst/>
          </a:prstGeom>
          <a:solidFill>
            <a:srgbClr val="1B1B27"/>
          </a:solidFill>
          <a:ln/>
        </p:spPr>
      </p:sp>
      <p:sp>
        <p:nvSpPr>
          <p:cNvPr id="10" name="Text 8"/>
          <p:cNvSpPr/>
          <p:nvPr/>
        </p:nvSpPr>
        <p:spPr>
          <a:xfrm>
            <a:off x="6178495" y="2710259"/>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If a Tool Call Exists → Route to the Tool Node</a:t>
            </a:r>
            <a:endParaRPr lang="en-US" sz="1600" dirty="0"/>
          </a:p>
        </p:txBody>
      </p:sp>
      <p:sp>
        <p:nvSpPr>
          <p:cNvPr id="11" name="Text 9"/>
          <p:cNvSpPr/>
          <p:nvPr/>
        </p:nvSpPr>
        <p:spPr>
          <a:xfrm>
            <a:off x="6178495" y="3067943"/>
            <a:ext cx="535172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Check whether the AI message has a non-empty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tool_calls</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attribute. If it does, the LLM has requested a tool. The routing function returns the name of the tool node, directing execution there.</a:t>
            </a:r>
            <a:endParaRPr lang="en-US" sz="1300" dirty="0"/>
          </a:p>
        </p:txBody>
      </p:sp>
      <p:sp>
        <p:nvSpPr>
          <p:cNvPr id="12" name="Text 10"/>
          <p:cNvSpPr/>
          <p:nvPr/>
        </p:nvSpPr>
        <p:spPr>
          <a:xfrm>
            <a:off x="661475" y="4157464"/>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03</a:t>
            </a:r>
            <a:endParaRPr lang="en-US" sz="1300" dirty="0"/>
          </a:p>
        </p:txBody>
      </p:sp>
      <p:sp>
        <p:nvSpPr>
          <p:cNvPr id="13" name="Shape 11"/>
          <p:cNvSpPr/>
          <p:nvPr/>
        </p:nvSpPr>
        <p:spPr>
          <a:xfrm>
            <a:off x="661475" y="4419402"/>
            <a:ext cx="5351725" cy="19050"/>
          </a:xfrm>
          <a:prstGeom prst="rect">
            <a:avLst/>
          </a:prstGeom>
          <a:solidFill>
            <a:srgbClr val="1B1B27"/>
          </a:solidFill>
          <a:ln/>
        </p:spPr>
      </p:sp>
      <p:sp>
        <p:nvSpPr>
          <p:cNvPr id="14" name="Text 12"/>
          <p:cNvSpPr/>
          <p:nvPr/>
        </p:nvSpPr>
        <p:spPr>
          <a:xfrm>
            <a:off x="661475" y="4540151"/>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If No Tool Call Exists → Route to END</a:t>
            </a:r>
            <a:endParaRPr lang="en-US" sz="1600" dirty="0"/>
          </a:p>
        </p:txBody>
      </p:sp>
      <p:sp>
        <p:nvSpPr>
          <p:cNvPr id="15" name="Text 13"/>
          <p:cNvSpPr/>
          <p:nvPr/>
        </p:nvSpPr>
        <p:spPr>
          <a:xfrm>
            <a:off x="661475" y="4897834"/>
            <a:ext cx="535172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If the AI message has no tool calls, the agent has produced its final response. The routing function returns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END</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directing execution to the graph's exit point. The final state is returned to the caller.</a:t>
            </a:r>
            <a:endParaRPr lang="en-US" sz="1300" dirty="0"/>
          </a:p>
        </p:txBody>
      </p:sp>
      <p:sp>
        <p:nvSpPr>
          <p:cNvPr id="16" name="Text 14"/>
          <p:cNvSpPr/>
          <p:nvPr/>
        </p:nvSpPr>
        <p:spPr>
          <a:xfrm>
            <a:off x="6178495" y="4157464"/>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C3939"/>
                </a:solidFill>
                <a:latin typeface="Raleway Light" pitchFamily="34" charset="0"/>
                <a:ea typeface="Raleway Light" pitchFamily="34" charset="-122"/>
                <a:cs typeface="Raleway Light" pitchFamily="34" charset="-120"/>
              </a:rPr>
              <a:t>04</a:t>
            </a:r>
            <a:endParaRPr lang="en-US" sz="1300" dirty="0"/>
          </a:p>
        </p:txBody>
      </p:sp>
      <p:sp>
        <p:nvSpPr>
          <p:cNvPr id="17" name="Shape 15"/>
          <p:cNvSpPr/>
          <p:nvPr/>
        </p:nvSpPr>
        <p:spPr>
          <a:xfrm>
            <a:off x="6178495" y="4419402"/>
            <a:ext cx="5351725" cy="19050"/>
          </a:xfrm>
          <a:prstGeom prst="rect">
            <a:avLst/>
          </a:prstGeom>
          <a:solidFill>
            <a:srgbClr val="1B1B27"/>
          </a:solidFill>
          <a:ln/>
        </p:spPr>
      </p:sp>
      <p:sp>
        <p:nvSpPr>
          <p:cNvPr id="18" name="Text 16"/>
          <p:cNvSpPr/>
          <p:nvPr/>
        </p:nvSpPr>
        <p:spPr>
          <a:xfrm>
            <a:off x="6178495" y="4540151"/>
            <a:ext cx="5351725"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This Creates the Agent Loop</a:t>
            </a:r>
            <a:endParaRPr lang="en-US" sz="1600" dirty="0"/>
          </a:p>
        </p:txBody>
      </p:sp>
      <p:sp>
        <p:nvSpPr>
          <p:cNvPr id="19" name="Text 17"/>
          <p:cNvSpPr/>
          <p:nvPr/>
        </p:nvSpPr>
        <p:spPr>
          <a:xfrm>
            <a:off x="6178495" y="4897834"/>
            <a:ext cx="5351725" cy="10711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Register the routing function with the graph using </a:t>
            </a:r>
            <a:pPr algn="l" indent="0" marL="0">
              <a:lnSpc>
                <a:spcPct val="133000"/>
              </a:lnSpc>
              <a:buNone/>
            </a:pPr>
            <a:r>
              <a:rPr lang="en-US" sz="1300" dirty="0">
                <a:solidFill>
                  <a:srgbClr val="3C3939"/>
                </a:solidFill>
                <a:highlight>
                  <a:srgbClr val="F2F2F2"/>
                </a:highlight>
                <a:latin typeface="Consolas" pitchFamily="34" charset="0"/>
                <a:ea typeface="Consolas" pitchFamily="34" charset="-122"/>
                <a:cs typeface="Consolas" pitchFamily="34" charset="-120"/>
              </a:rPr>
              <a:t>.add_conditional_edges("agent", routing_function, {"tools": "tools", END: END})</a:t>
            </a:r>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 Combined with the direct edge from the tool node back to the agent node, this creates the complete agent loop.</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61475" y="572988"/>
            <a:ext cx="10868745" cy="508695"/>
          </a:xfrm>
          <a:prstGeom prst="rect">
            <a:avLst/>
          </a:prstGeom>
          <a:noFill/>
          <a:ln/>
        </p:spPr>
        <p:txBody>
          <a:bodyPr wrap="none" lIns="0" tIns="0" rIns="0" bIns="0" rtlCol="0" anchor="t"/>
          <a:lstStyle/>
          <a:p>
            <a:pPr algn="l" indent="0" marL="0">
              <a:lnSpc>
                <a:spcPct val="104000"/>
              </a:lnSpc>
              <a:buNone/>
            </a:pPr>
            <a:r>
              <a:rPr lang="en-US" sz="3200" dirty="0">
                <a:solidFill>
                  <a:srgbClr val="1B1B27"/>
                </a:solidFill>
                <a:latin typeface="Raleway" pitchFamily="34" charset="0"/>
                <a:ea typeface="Raleway" pitchFamily="34" charset="-122"/>
                <a:cs typeface="Raleway" pitchFamily="34" charset="-120"/>
              </a:rPr>
              <a:t>Lab Step 5: Compile and Invoke</a:t>
            </a:r>
            <a:endParaRPr lang="en-US" sz="3200" dirty="0"/>
          </a:p>
        </p:txBody>
      </p:sp>
      <p:sp>
        <p:nvSpPr>
          <p:cNvPr id="3" name="Text 1"/>
          <p:cNvSpPr/>
          <p:nvPr/>
        </p:nvSpPr>
        <p:spPr>
          <a:xfrm>
            <a:off x="661475" y="1402159"/>
            <a:ext cx="10868745"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The final implementation step assembles the complete graph, compiles it for execution, and invokes it with a test input to verify that the agent works correctly end-to-end.</a:t>
            </a:r>
            <a:endParaRPr lang="en-US" sz="1250" dirty="0"/>
          </a:p>
        </p:txBody>
      </p:sp>
      <p:sp>
        <p:nvSpPr>
          <p:cNvPr id="4" name="Text 2"/>
          <p:cNvSpPr/>
          <p:nvPr/>
        </p:nvSpPr>
        <p:spPr>
          <a:xfrm>
            <a:off x="661475" y="2099370"/>
            <a:ext cx="325529" cy="203498"/>
          </a:xfrm>
          <a:prstGeom prst="rect">
            <a:avLst/>
          </a:prstGeom>
          <a:noFill/>
          <a:ln/>
        </p:spPr>
        <p:txBody>
          <a:bodyPr wrap="none" lIns="0" tIns="0" rIns="0" bIns="0" rtlCol="0" anchor="ctr"/>
          <a:lstStyle/>
          <a:p>
            <a:pPr algn="l" indent="0" marL="0">
              <a:lnSpc>
                <a:spcPct val="100000"/>
              </a:lnSpc>
              <a:buNone/>
            </a:pPr>
            <a:r>
              <a:rPr lang="en-US" sz="1250" dirty="0">
                <a:solidFill>
                  <a:srgbClr val="3C3939"/>
                </a:solidFill>
                <a:latin typeface="Raleway Light" pitchFamily="34" charset="0"/>
                <a:ea typeface="Raleway Light" pitchFamily="34" charset="-122"/>
                <a:cs typeface="Raleway Light" pitchFamily="34" charset="-120"/>
              </a:rPr>
              <a:t>01</a:t>
            </a:r>
            <a:endParaRPr lang="en-US" sz="1250" dirty="0"/>
          </a:p>
        </p:txBody>
      </p:sp>
      <p:sp>
        <p:nvSpPr>
          <p:cNvPr id="5" name="Shape 3"/>
          <p:cNvSpPr/>
          <p:nvPr/>
        </p:nvSpPr>
        <p:spPr>
          <a:xfrm>
            <a:off x="661475" y="2357041"/>
            <a:ext cx="3516026" cy="19050"/>
          </a:xfrm>
          <a:prstGeom prst="rect">
            <a:avLst/>
          </a:prstGeom>
          <a:solidFill>
            <a:srgbClr val="1B1B27"/>
          </a:solidFill>
          <a:ln/>
        </p:spPr>
      </p:sp>
      <p:sp>
        <p:nvSpPr>
          <p:cNvPr id="6" name="Text 4"/>
          <p:cNvSpPr/>
          <p:nvPr/>
        </p:nvSpPr>
        <p:spPr>
          <a:xfrm>
            <a:off x="661475" y="2476500"/>
            <a:ext cx="3516026"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Connect START and END</a:t>
            </a:r>
            <a:endParaRPr lang="en-US" sz="1600" dirty="0"/>
          </a:p>
        </p:txBody>
      </p:sp>
      <p:sp>
        <p:nvSpPr>
          <p:cNvPr id="7" name="Text 5"/>
          <p:cNvSpPr/>
          <p:nvPr/>
        </p:nvSpPr>
        <p:spPr>
          <a:xfrm>
            <a:off x="661475" y="2826941"/>
            <a:ext cx="3516026" cy="1550789"/>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Add the entry point edge connecting START to the agent node: </a:t>
            </a:r>
            <a:pPr algn="l" indent="0" marL="0">
              <a:lnSpc>
                <a:spcPct val="132000"/>
              </a:lnSpc>
              <a:buNone/>
            </a:pPr>
            <a:r>
              <a:rPr lang="en-US" sz="1250" dirty="0">
                <a:solidFill>
                  <a:srgbClr val="3C3939"/>
                </a:solidFill>
                <a:highlight>
                  <a:srgbClr val="F2F2F2"/>
                </a:highlight>
                <a:latin typeface="Consolas" pitchFamily="34" charset="0"/>
                <a:ea typeface="Consolas" pitchFamily="34" charset="-122"/>
                <a:cs typeface="Consolas" pitchFamily="34" charset="-120"/>
              </a:rPr>
              <a:t>graph.set_entry_point("agent")</a:t>
            </a:r>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 or </a:t>
            </a:r>
            <a:pPr algn="l" indent="0" marL="0">
              <a:lnSpc>
                <a:spcPct val="132000"/>
              </a:lnSpc>
              <a:buNone/>
            </a:pPr>
            <a:r>
              <a:rPr lang="en-US" sz="1250" dirty="0">
                <a:solidFill>
                  <a:srgbClr val="3C3939"/>
                </a:solidFill>
                <a:highlight>
                  <a:srgbClr val="F2F2F2"/>
                </a:highlight>
                <a:latin typeface="Consolas" pitchFamily="34" charset="0"/>
                <a:ea typeface="Consolas" pitchFamily="34" charset="-122"/>
                <a:cs typeface="Consolas" pitchFamily="34" charset="-120"/>
              </a:rPr>
              <a:t>graph.add_edge(START, "agent")</a:t>
            </a:r>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 Ensure that all terminal paths in the graph lead to END — either directly via the conditional routing function or via explicit edges.</a:t>
            </a:r>
            <a:endParaRPr lang="en-US" sz="1250" dirty="0"/>
          </a:p>
        </p:txBody>
      </p:sp>
      <p:sp>
        <p:nvSpPr>
          <p:cNvPr id="8" name="Text 6"/>
          <p:cNvSpPr/>
          <p:nvPr/>
        </p:nvSpPr>
        <p:spPr>
          <a:xfrm>
            <a:off x="4337735" y="2099370"/>
            <a:ext cx="325529" cy="203498"/>
          </a:xfrm>
          <a:prstGeom prst="rect">
            <a:avLst/>
          </a:prstGeom>
          <a:noFill/>
          <a:ln/>
        </p:spPr>
        <p:txBody>
          <a:bodyPr wrap="none" lIns="0" tIns="0" rIns="0" bIns="0" rtlCol="0" anchor="ctr"/>
          <a:lstStyle/>
          <a:p>
            <a:pPr algn="l" indent="0" marL="0">
              <a:lnSpc>
                <a:spcPct val="100000"/>
              </a:lnSpc>
              <a:buNone/>
            </a:pPr>
            <a:r>
              <a:rPr lang="en-US" sz="1250" dirty="0">
                <a:solidFill>
                  <a:srgbClr val="3C3939"/>
                </a:solidFill>
                <a:latin typeface="Raleway Light" pitchFamily="34" charset="0"/>
                <a:ea typeface="Raleway Light" pitchFamily="34" charset="-122"/>
                <a:cs typeface="Raleway Light" pitchFamily="34" charset="-120"/>
              </a:rPr>
              <a:t>02</a:t>
            </a:r>
            <a:endParaRPr lang="en-US" sz="1250" dirty="0"/>
          </a:p>
        </p:txBody>
      </p:sp>
      <p:sp>
        <p:nvSpPr>
          <p:cNvPr id="9" name="Shape 7"/>
          <p:cNvSpPr/>
          <p:nvPr/>
        </p:nvSpPr>
        <p:spPr>
          <a:xfrm>
            <a:off x="4337735" y="2357041"/>
            <a:ext cx="3516125" cy="19050"/>
          </a:xfrm>
          <a:prstGeom prst="rect">
            <a:avLst/>
          </a:prstGeom>
          <a:solidFill>
            <a:srgbClr val="1B1B27"/>
          </a:solidFill>
          <a:ln/>
        </p:spPr>
      </p:sp>
      <p:sp>
        <p:nvSpPr>
          <p:cNvPr id="10" name="Text 8"/>
          <p:cNvSpPr/>
          <p:nvPr/>
        </p:nvSpPr>
        <p:spPr>
          <a:xfrm>
            <a:off x="4337735" y="2476500"/>
            <a:ext cx="3516125"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Compile the Graph</a:t>
            </a:r>
            <a:endParaRPr lang="en-US" sz="1600" dirty="0"/>
          </a:p>
        </p:txBody>
      </p:sp>
      <p:sp>
        <p:nvSpPr>
          <p:cNvPr id="11" name="Text 9"/>
          <p:cNvSpPr/>
          <p:nvPr/>
        </p:nvSpPr>
        <p:spPr>
          <a:xfrm>
            <a:off x="4337735" y="2826941"/>
            <a:ext cx="3516125" cy="1550789"/>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Call </a:t>
            </a:r>
            <a:pPr algn="l" indent="0" marL="0">
              <a:lnSpc>
                <a:spcPct val="132000"/>
              </a:lnSpc>
              <a:buNone/>
            </a:pPr>
            <a:r>
              <a:rPr lang="en-US" sz="1250" dirty="0">
                <a:solidFill>
                  <a:srgbClr val="3C3939"/>
                </a:solidFill>
                <a:highlight>
                  <a:srgbClr val="F2F2F2"/>
                </a:highlight>
                <a:latin typeface="Consolas" pitchFamily="34" charset="0"/>
                <a:ea typeface="Consolas" pitchFamily="34" charset="-122"/>
                <a:cs typeface="Consolas" pitchFamily="34" charset="-120"/>
              </a:rPr>
              <a:t>app = graph.compile()</a:t>
            </a:r>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 LangGraph validates the complete graph structure — checking that all nodes are reachable, all edges connect valid nodes, and the graph has a valid END point. If validation passes, the compiled graph object is returned.</a:t>
            </a:r>
            <a:endParaRPr lang="en-US" sz="1250" dirty="0"/>
          </a:p>
        </p:txBody>
      </p:sp>
      <p:sp>
        <p:nvSpPr>
          <p:cNvPr id="12" name="Text 10"/>
          <p:cNvSpPr/>
          <p:nvPr/>
        </p:nvSpPr>
        <p:spPr>
          <a:xfrm>
            <a:off x="8014095" y="2099370"/>
            <a:ext cx="325529" cy="203498"/>
          </a:xfrm>
          <a:prstGeom prst="rect">
            <a:avLst/>
          </a:prstGeom>
          <a:noFill/>
          <a:ln/>
        </p:spPr>
        <p:txBody>
          <a:bodyPr wrap="none" lIns="0" tIns="0" rIns="0" bIns="0" rtlCol="0" anchor="ctr"/>
          <a:lstStyle/>
          <a:p>
            <a:pPr algn="l" indent="0" marL="0">
              <a:lnSpc>
                <a:spcPct val="100000"/>
              </a:lnSpc>
              <a:buNone/>
            </a:pPr>
            <a:r>
              <a:rPr lang="en-US" sz="1250" dirty="0">
                <a:solidFill>
                  <a:srgbClr val="3C3939"/>
                </a:solidFill>
                <a:latin typeface="Raleway Light" pitchFamily="34" charset="0"/>
                <a:ea typeface="Raleway Light" pitchFamily="34" charset="-122"/>
                <a:cs typeface="Raleway Light" pitchFamily="34" charset="-120"/>
              </a:rPr>
              <a:t>03</a:t>
            </a:r>
            <a:endParaRPr lang="en-US" sz="1250" dirty="0"/>
          </a:p>
        </p:txBody>
      </p:sp>
      <p:sp>
        <p:nvSpPr>
          <p:cNvPr id="13" name="Shape 11"/>
          <p:cNvSpPr/>
          <p:nvPr/>
        </p:nvSpPr>
        <p:spPr>
          <a:xfrm>
            <a:off x="8014095" y="2357041"/>
            <a:ext cx="3516125" cy="19050"/>
          </a:xfrm>
          <a:prstGeom prst="rect">
            <a:avLst/>
          </a:prstGeom>
          <a:solidFill>
            <a:srgbClr val="1B1B27"/>
          </a:solidFill>
          <a:ln/>
        </p:spPr>
      </p:sp>
      <p:sp>
        <p:nvSpPr>
          <p:cNvPr id="14" name="Text 12"/>
          <p:cNvSpPr/>
          <p:nvPr/>
        </p:nvSpPr>
        <p:spPr>
          <a:xfrm>
            <a:off x="8014095" y="2476500"/>
            <a:ext cx="3516125"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Provide Initial State</a:t>
            </a:r>
            <a:endParaRPr lang="en-US" sz="1600" dirty="0"/>
          </a:p>
        </p:txBody>
      </p:sp>
      <p:sp>
        <p:nvSpPr>
          <p:cNvPr id="15" name="Text 13"/>
          <p:cNvSpPr/>
          <p:nvPr/>
        </p:nvSpPr>
        <p:spPr>
          <a:xfrm>
            <a:off x="8014095" y="2826941"/>
            <a:ext cx="3516125" cy="1292324"/>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Construct the initial state dictionary with the user's test input: </a:t>
            </a:r>
            <a:pPr algn="l" indent="0" marL="0">
              <a:lnSpc>
                <a:spcPct val="132000"/>
              </a:lnSpc>
              <a:buNone/>
            </a:pPr>
            <a:r>
              <a:rPr lang="en-US" sz="1250" dirty="0">
                <a:solidFill>
                  <a:srgbClr val="3C3939"/>
                </a:solidFill>
                <a:highlight>
                  <a:srgbClr val="F2F2F2"/>
                </a:highlight>
                <a:latin typeface="Consolas" pitchFamily="34" charset="0"/>
                <a:ea typeface="Consolas" pitchFamily="34" charset="-122"/>
                <a:cs typeface="Consolas" pitchFamily="34" charset="-120"/>
              </a:rPr>
              <a:t>initial_state = {"messages": [HumanMessage(content="What is 18% of ₹75,000?")]}</a:t>
            </a:r>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 This state will be passed to the first node when the graph is invoked.</a:t>
            </a:r>
            <a:endParaRPr lang="en-US" sz="1250" dirty="0"/>
          </a:p>
        </p:txBody>
      </p:sp>
      <p:sp>
        <p:nvSpPr>
          <p:cNvPr id="16" name="Text 14"/>
          <p:cNvSpPr/>
          <p:nvPr/>
        </p:nvSpPr>
        <p:spPr>
          <a:xfrm>
            <a:off x="661475" y="4660007"/>
            <a:ext cx="325529" cy="203498"/>
          </a:xfrm>
          <a:prstGeom prst="rect">
            <a:avLst/>
          </a:prstGeom>
          <a:noFill/>
          <a:ln/>
        </p:spPr>
        <p:txBody>
          <a:bodyPr wrap="none" lIns="0" tIns="0" rIns="0" bIns="0" rtlCol="0" anchor="ctr"/>
          <a:lstStyle/>
          <a:p>
            <a:pPr algn="l" indent="0" marL="0">
              <a:lnSpc>
                <a:spcPct val="100000"/>
              </a:lnSpc>
              <a:buNone/>
            </a:pPr>
            <a:r>
              <a:rPr lang="en-US" sz="1250" dirty="0">
                <a:solidFill>
                  <a:srgbClr val="3C3939"/>
                </a:solidFill>
                <a:latin typeface="Raleway Light" pitchFamily="34" charset="0"/>
                <a:ea typeface="Raleway Light" pitchFamily="34" charset="-122"/>
                <a:cs typeface="Raleway Light" pitchFamily="34" charset="-120"/>
              </a:rPr>
              <a:t>04</a:t>
            </a:r>
            <a:endParaRPr lang="en-US" sz="1250" dirty="0"/>
          </a:p>
        </p:txBody>
      </p:sp>
      <p:sp>
        <p:nvSpPr>
          <p:cNvPr id="17" name="Shape 15"/>
          <p:cNvSpPr/>
          <p:nvPr/>
        </p:nvSpPr>
        <p:spPr>
          <a:xfrm>
            <a:off x="661475" y="4917678"/>
            <a:ext cx="5354206" cy="19050"/>
          </a:xfrm>
          <a:prstGeom prst="rect">
            <a:avLst/>
          </a:prstGeom>
          <a:solidFill>
            <a:srgbClr val="1B1B27"/>
          </a:solidFill>
          <a:ln/>
        </p:spPr>
      </p:sp>
      <p:sp>
        <p:nvSpPr>
          <p:cNvPr id="18" name="Text 16"/>
          <p:cNvSpPr/>
          <p:nvPr/>
        </p:nvSpPr>
        <p:spPr>
          <a:xfrm>
            <a:off x="661475" y="5037138"/>
            <a:ext cx="5354206"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Invoke the Graph</a:t>
            </a:r>
            <a:endParaRPr lang="en-US" sz="1600" dirty="0"/>
          </a:p>
        </p:txBody>
      </p:sp>
      <p:sp>
        <p:nvSpPr>
          <p:cNvPr id="19" name="Text 17"/>
          <p:cNvSpPr/>
          <p:nvPr/>
        </p:nvSpPr>
        <p:spPr>
          <a:xfrm>
            <a:off x="661475" y="5387578"/>
            <a:ext cx="5354206"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Call </a:t>
            </a:r>
            <a:pPr algn="l" indent="0" marL="0">
              <a:lnSpc>
                <a:spcPct val="132000"/>
              </a:lnSpc>
              <a:buNone/>
            </a:pPr>
            <a:r>
              <a:rPr lang="en-US" sz="1250" dirty="0">
                <a:solidFill>
                  <a:srgbClr val="3C3939"/>
                </a:solidFill>
                <a:highlight>
                  <a:srgbClr val="F2F2F2"/>
                </a:highlight>
                <a:latin typeface="Consolas" pitchFamily="34" charset="0"/>
                <a:ea typeface="Consolas" pitchFamily="34" charset="-122"/>
                <a:cs typeface="Consolas" pitchFamily="34" charset="-120"/>
              </a:rPr>
              <a:t>result = app.invoke(initial_state)</a:t>
            </a:r>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 The graph executes — the agent node reasons, the conditional edge routes, the tool node executes if needed, and the loop continues until END is reached.</a:t>
            </a:r>
            <a:endParaRPr lang="en-US" sz="1250" dirty="0"/>
          </a:p>
        </p:txBody>
      </p:sp>
      <p:sp>
        <p:nvSpPr>
          <p:cNvPr id="20" name="Text 18"/>
          <p:cNvSpPr/>
          <p:nvPr/>
        </p:nvSpPr>
        <p:spPr>
          <a:xfrm>
            <a:off x="6175915" y="4660007"/>
            <a:ext cx="325529" cy="203498"/>
          </a:xfrm>
          <a:prstGeom prst="rect">
            <a:avLst/>
          </a:prstGeom>
          <a:noFill/>
          <a:ln/>
        </p:spPr>
        <p:txBody>
          <a:bodyPr wrap="none" lIns="0" tIns="0" rIns="0" bIns="0" rtlCol="0" anchor="ctr"/>
          <a:lstStyle/>
          <a:p>
            <a:pPr algn="l" indent="0" marL="0">
              <a:lnSpc>
                <a:spcPct val="100000"/>
              </a:lnSpc>
              <a:buNone/>
            </a:pPr>
            <a:r>
              <a:rPr lang="en-US" sz="1250" dirty="0">
                <a:solidFill>
                  <a:srgbClr val="3C3939"/>
                </a:solidFill>
                <a:latin typeface="Raleway Light" pitchFamily="34" charset="0"/>
                <a:ea typeface="Raleway Light" pitchFamily="34" charset="-122"/>
                <a:cs typeface="Raleway Light" pitchFamily="34" charset="-120"/>
              </a:rPr>
              <a:t>05</a:t>
            </a:r>
            <a:endParaRPr lang="en-US" sz="1250" dirty="0"/>
          </a:p>
        </p:txBody>
      </p:sp>
      <p:sp>
        <p:nvSpPr>
          <p:cNvPr id="21" name="Shape 19"/>
          <p:cNvSpPr/>
          <p:nvPr/>
        </p:nvSpPr>
        <p:spPr>
          <a:xfrm>
            <a:off x="6175915" y="4917678"/>
            <a:ext cx="5354305" cy="19050"/>
          </a:xfrm>
          <a:prstGeom prst="rect">
            <a:avLst/>
          </a:prstGeom>
          <a:solidFill>
            <a:srgbClr val="1B1B27"/>
          </a:solidFill>
          <a:ln/>
        </p:spPr>
      </p:sp>
      <p:sp>
        <p:nvSpPr>
          <p:cNvPr id="22" name="Text 20"/>
          <p:cNvSpPr/>
          <p:nvPr/>
        </p:nvSpPr>
        <p:spPr>
          <a:xfrm>
            <a:off x="6175915" y="5037138"/>
            <a:ext cx="5354305" cy="254298"/>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Inspect the Final Response</a:t>
            </a:r>
            <a:endParaRPr lang="en-US" sz="1600" dirty="0"/>
          </a:p>
        </p:txBody>
      </p:sp>
      <p:sp>
        <p:nvSpPr>
          <p:cNvPr id="23" name="Text 21"/>
          <p:cNvSpPr/>
          <p:nvPr/>
        </p:nvSpPr>
        <p:spPr>
          <a:xfrm>
            <a:off x="6175915" y="5387578"/>
            <a:ext cx="5354305"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Examine the returned state. The final AI message in </a:t>
            </a:r>
            <a:pPr algn="l" indent="0" marL="0">
              <a:lnSpc>
                <a:spcPct val="132000"/>
              </a:lnSpc>
              <a:buNone/>
            </a:pPr>
            <a:r>
              <a:rPr lang="en-US" sz="1250" dirty="0">
                <a:solidFill>
                  <a:srgbClr val="3C3939"/>
                </a:solidFill>
                <a:highlight>
                  <a:srgbClr val="F2F2F2"/>
                </a:highlight>
                <a:latin typeface="Consolas" pitchFamily="34" charset="0"/>
                <a:ea typeface="Consolas" pitchFamily="34" charset="-122"/>
                <a:cs typeface="Consolas" pitchFamily="34" charset="-120"/>
              </a:rPr>
              <a:t>result["messages"]</a:t>
            </a:r>
            <a:pPr algn="l" indent="0" marL="0">
              <a:lnSpc>
                <a:spcPct val="132000"/>
              </a:lnSpc>
              <a:buNone/>
            </a:pPr>
            <a:r>
              <a:rPr lang="en-US" sz="1250" dirty="0">
                <a:solidFill>
                  <a:srgbClr val="3C3939"/>
                </a:solidFill>
                <a:latin typeface="Roboto" pitchFamily="34" charset="0"/>
                <a:ea typeface="Roboto" pitchFamily="34" charset="-122"/>
                <a:cs typeface="Roboto" pitchFamily="34" charset="-120"/>
              </a:rPr>
              <a:t> contains the agent's answer. Review the full message history to trace the agent's reasoning, tool calls, and tool results across the execution.</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61475" y="463748"/>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B1B27"/>
                </a:solidFill>
                <a:latin typeface="Raleway" pitchFamily="34" charset="0"/>
                <a:ea typeface="Raleway" pitchFamily="34" charset="-122"/>
                <a:cs typeface="Raleway" pitchFamily="34" charset="-120"/>
              </a:rPr>
              <a:t>Lab Testing</a:t>
            </a:r>
            <a:endParaRPr lang="en-US" sz="3250" dirty="0"/>
          </a:p>
        </p:txBody>
      </p:sp>
      <p:sp>
        <p:nvSpPr>
          <p:cNvPr id="3" name="Text 1"/>
          <p:cNvSpPr/>
          <p:nvPr/>
        </p:nvSpPr>
        <p:spPr>
          <a:xfrm>
            <a:off x="661475" y="1311176"/>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After implementing the agent, a structured test suite validates its behavior across a range of scenarios — from simple questions to complex multi-step tasks and failure conditions.</a:t>
            </a:r>
            <a:endParaRPr lang="en-US" sz="1300" dirty="0"/>
          </a:p>
        </p:txBody>
      </p:sp>
      <p:sp>
        <p:nvSpPr>
          <p:cNvPr id="4" name="Shape 2"/>
          <p:cNvSpPr/>
          <p:nvPr/>
        </p:nvSpPr>
        <p:spPr>
          <a:xfrm>
            <a:off x="542415" y="2026444"/>
            <a:ext cx="5470785" cy="4367709"/>
          </a:xfrm>
          <a:prstGeom prst="roundRect">
            <a:avLst>
              <a:gd name="adj" fmla="val 2726"/>
            </a:avLst>
          </a:prstGeom>
          <a:solidFill>
            <a:srgbClr val="1B1B27">
              <a:alpha val="95000"/>
            </a:srgbClr>
          </a:solidFill>
          <a:ln/>
        </p:spPr>
      </p:sp>
      <p:sp>
        <p:nvSpPr>
          <p:cNvPr id="5" name="Text 3"/>
          <p:cNvSpPr/>
          <p:nvPr/>
        </p:nvSpPr>
        <p:spPr>
          <a:xfrm>
            <a:off x="707710" y="2191742"/>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FFFFFF"/>
                </a:solidFill>
                <a:latin typeface="Raleway" pitchFamily="34" charset="0"/>
                <a:ea typeface="Raleway" pitchFamily="34" charset="-122"/>
                <a:cs typeface="Raleway" pitchFamily="34" charset="-120"/>
              </a:rPr>
              <a:t>Test Scenarios</a:t>
            </a:r>
            <a:endParaRPr lang="en-US" sz="1600" dirty="0"/>
          </a:p>
        </p:txBody>
      </p:sp>
      <p:sp>
        <p:nvSpPr>
          <p:cNvPr id="6" name="Text 4"/>
          <p:cNvSpPr/>
          <p:nvPr/>
        </p:nvSpPr>
        <p:spPr>
          <a:xfrm>
            <a:off x="707710" y="2615505"/>
            <a:ext cx="5140196" cy="2935387"/>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b="1" dirty="0">
                <a:solidFill>
                  <a:srgbClr val="FFFFFF"/>
                </a:solidFill>
                <a:latin typeface="Roboto Bold" pitchFamily="34" charset="0"/>
                <a:ea typeface="Roboto Bold" pitchFamily="34" charset="-122"/>
                <a:cs typeface="Roboto Bold" pitchFamily="34" charset="-120"/>
              </a:rPr>
              <a:t>No tool required</a:t>
            </a:r>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 — a question the LLM can answer directly without calling any tool</a:t>
            </a:r>
            <a:endParaRPr lang="en-US" sz="1300" dirty="0"/>
          </a:p>
          <a:p>
            <a:pPr algn="l" marL="264160" indent="-264160">
              <a:lnSpc>
                <a:spcPct val="133000"/>
              </a:lnSpc>
              <a:buSzPct val="100000"/>
              <a:buChar char="•"/>
            </a:pPr>
            <a:r>
              <a:rPr lang="en-US" sz="1300" b="1" dirty="0">
                <a:solidFill>
                  <a:srgbClr val="FFFFFF"/>
                </a:solidFill>
                <a:latin typeface="Roboto Bold" pitchFamily="34" charset="0"/>
                <a:ea typeface="Roboto Bold" pitchFamily="34" charset="-122"/>
                <a:cs typeface="Roboto Bold" pitchFamily="34" charset="-120"/>
              </a:rPr>
              <a:t>Single tool call</a:t>
            </a:r>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 — a calculation requiring the calculator tool</a:t>
            </a:r>
            <a:endParaRPr lang="en-US" sz="1300" dirty="0"/>
          </a:p>
          <a:p>
            <a:pPr algn="l" marL="264160" indent="-264160">
              <a:lnSpc>
                <a:spcPct val="133000"/>
              </a:lnSpc>
              <a:buSzPct val="100000"/>
              <a:buChar char="•"/>
            </a:pPr>
            <a:r>
              <a:rPr lang="en-US" sz="1300" b="1" dirty="0">
                <a:solidFill>
                  <a:srgbClr val="FFFFFF"/>
                </a:solidFill>
                <a:latin typeface="Roboto Bold" pitchFamily="34" charset="0"/>
                <a:ea typeface="Roboto Bold" pitchFamily="34" charset="-122"/>
                <a:cs typeface="Roboto Bold" pitchFamily="34" charset="-120"/>
              </a:rPr>
              <a:t>Multiple tool calls</a:t>
            </a:r>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 — a task requiring the tool to be called more than once in a single execution</a:t>
            </a:r>
            <a:endParaRPr lang="en-US" sz="1300" dirty="0"/>
          </a:p>
          <a:p>
            <a:pPr algn="l" marL="264160" indent="-264160">
              <a:lnSpc>
                <a:spcPct val="133000"/>
              </a:lnSpc>
              <a:buSzPct val="100000"/>
              <a:buChar char="•"/>
            </a:pPr>
            <a:r>
              <a:rPr lang="en-US" sz="1300" b="1" dirty="0">
                <a:solidFill>
                  <a:srgbClr val="FFFFFF"/>
                </a:solidFill>
                <a:latin typeface="Roboto Bold" pitchFamily="34" charset="0"/>
                <a:ea typeface="Roboto Bold" pitchFamily="34" charset="-122"/>
                <a:cs typeface="Roboto Bold" pitchFamily="34" charset="-120"/>
              </a:rPr>
              <a:t>Invalid input</a:t>
            </a:r>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 — a malformed or out-of-scope request</a:t>
            </a:r>
            <a:endParaRPr lang="en-US" sz="1300" dirty="0"/>
          </a:p>
          <a:p>
            <a:pPr algn="l" marL="264160" indent="-264160">
              <a:lnSpc>
                <a:spcPct val="133000"/>
              </a:lnSpc>
              <a:buSzPct val="100000"/>
              <a:buChar char="•"/>
            </a:pPr>
            <a:r>
              <a:rPr lang="en-US" sz="1300" b="1" dirty="0">
                <a:solidFill>
                  <a:srgbClr val="FFFFFF"/>
                </a:solidFill>
                <a:latin typeface="Roboto Bold" pitchFamily="34" charset="0"/>
                <a:ea typeface="Roboto Bold" pitchFamily="34" charset="-122"/>
                <a:cs typeface="Roboto Bold" pitchFamily="34" charset="-120"/>
              </a:rPr>
              <a:t>Tool failure</a:t>
            </a:r>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 — a scenario where the tool raises an exception or returns an error</a:t>
            </a:r>
            <a:endParaRPr lang="en-US" sz="1300" dirty="0"/>
          </a:p>
          <a:p>
            <a:pPr algn="l" marL="264160" indent="-264160">
              <a:lnSpc>
                <a:spcPct val="133000"/>
              </a:lnSpc>
              <a:buSzPct val="100000"/>
              <a:buChar char="•"/>
            </a:pPr>
            <a:r>
              <a:rPr lang="en-US" sz="1300" b="1" dirty="0">
                <a:solidFill>
                  <a:srgbClr val="FFFFFF"/>
                </a:solidFill>
                <a:latin typeface="Roboto Bold" pitchFamily="34" charset="0"/>
                <a:ea typeface="Roboto Bold" pitchFamily="34" charset="-122"/>
                <a:cs typeface="Roboto Bold" pitchFamily="34" charset="-120"/>
              </a:rPr>
              <a:t>Multi-step reasoning</a:t>
            </a:r>
            <a:pPr algn="l" marL="264160" indent="-264160">
              <a:lnSpc>
                <a:spcPct val="133000"/>
              </a:lnSpc>
              <a:buSzPct val="100000"/>
              <a:buChar char="•"/>
            </a:pPr>
            <a:r>
              <a:rPr lang="en-US" sz="1300" dirty="0">
                <a:solidFill>
                  <a:srgbClr val="FFFFFF"/>
                </a:solidFill>
                <a:latin typeface="Roboto" pitchFamily="34" charset="0"/>
                <a:ea typeface="Roboto" pitchFamily="34" charset="-122"/>
                <a:cs typeface="Roboto" pitchFamily="34" charset="-120"/>
              </a:rPr>
              <a:t> — a question requiring several reasoning steps before a final answer</a:t>
            </a:r>
            <a:endParaRPr lang="en-US" sz="1300" dirty="0"/>
          </a:p>
        </p:txBody>
      </p:sp>
      <p:sp>
        <p:nvSpPr>
          <p:cNvPr id="7" name="Text 5"/>
          <p:cNvSpPr/>
          <p:nvPr/>
        </p:nvSpPr>
        <p:spPr>
          <a:xfrm>
            <a:off x="6303904" y="2191742"/>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1B1B27"/>
                </a:solidFill>
                <a:latin typeface="Raleway" pitchFamily="34" charset="0"/>
                <a:ea typeface="Raleway" pitchFamily="34" charset="-122"/>
                <a:cs typeface="Raleway" pitchFamily="34" charset="-120"/>
              </a:rPr>
              <a:t>What to Observe</a:t>
            </a:r>
            <a:endParaRPr lang="en-US" sz="1600" dirty="0"/>
          </a:p>
        </p:txBody>
      </p:sp>
      <p:sp>
        <p:nvSpPr>
          <p:cNvPr id="8" name="Text 6"/>
          <p:cNvSpPr/>
          <p:nvPr/>
        </p:nvSpPr>
        <p:spPr>
          <a:xfrm>
            <a:off x="6303904" y="2615505"/>
            <a:ext cx="5842251"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For each test scenario, observe and record:</a:t>
            </a:r>
            <a:endParaRPr lang="en-US" sz="1300" dirty="0"/>
          </a:p>
        </p:txBody>
      </p:sp>
      <p:sp>
        <p:nvSpPr>
          <p:cNvPr id="9" name="Text 7"/>
          <p:cNvSpPr/>
          <p:nvPr/>
        </p:nvSpPr>
        <p:spPr>
          <a:xfrm>
            <a:off x="6303904" y="3028950"/>
            <a:ext cx="5232666" cy="1819077"/>
          </a:xfrm>
          <a:prstGeom prst="rect">
            <a:avLst/>
          </a:prstGeom>
          <a:noFill/>
          <a:ln/>
        </p:spPr>
        <p:txBody>
          <a:bodyPr wrap="square" lIns="0" tIns="66156" rIns="0" bIns="0" rtlCol="0" anchor="t">
            <a:normAutofit/>
          </a:bodyPr>
          <a:lstStyle/>
          <a:p>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State changes</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how the messages list grows with each step</a:t>
            </a:r>
            <a:endParaRPr lang="en-US" sz="1300" dirty="0"/>
          </a:p>
          <a:p>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Node execution</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which nodes execute and in what order</a:t>
            </a:r>
            <a:endParaRPr lang="en-US" sz="1300" dirty="0"/>
          </a:p>
          <a:p>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Tool calls</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the tool call arguments produced by the LLM</a:t>
            </a:r>
            <a:endParaRPr lang="en-US" sz="1300" dirty="0"/>
          </a:p>
          <a:p>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Conditional routing</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which path the routing function selects at each decision point</a:t>
            </a:r>
            <a:endParaRPr lang="en-US" sz="1300" dirty="0"/>
          </a:p>
          <a:p>
            <a:pPr algn="l" marL="264160" indent="-264160">
              <a:lnSpc>
                <a:spcPct val="133000"/>
              </a:lnSpc>
              <a:buSzPct val="100000"/>
              <a:buChar char="•"/>
            </a:pPr>
            <a:r>
              <a:rPr lang="en-US" sz="1300" b="1" dirty="0">
                <a:solidFill>
                  <a:srgbClr val="3C3939"/>
                </a:solidFill>
                <a:latin typeface="Roboto Bold" pitchFamily="34" charset="0"/>
                <a:ea typeface="Roboto Bold" pitchFamily="34" charset="-122"/>
                <a:cs typeface="Roboto Bold" pitchFamily="34" charset="-120"/>
              </a:rPr>
              <a:t>Final response</a:t>
            </a:r>
            <a:pPr algn="l" marL="264160" indent="-264160">
              <a:lnSpc>
                <a:spcPct val="133000"/>
              </a:lnSpc>
              <a:buSzPct val="100000"/>
              <a:buChar char="•"/>
            </a:pPr>
            <a:r>
              <a:rPr lang="en-US" sz="1300" dirty="0">
                <a:solidFill>
                  <a:srgbClr val="3C3939"/>
                </a:solidFill>
                <a:latin typeface="Roboto" pitchFamily="34" charset="0"/>
                <a:ea typeface="Roboto" pitchFamily="34" charset="-122"/>
                <a:cs typeface="Roboto" pitchFamily="34" charset="-120"/>
              </a:rPr>
              <a:t> — the quality and correctness of the agent's answer</a:t>
            </a:r>
            <a:endParaRPr lang="en-US" sz="1300" dirty="0"/>
          </a:p>
        </p:txBody>
      </p:sp>
      <p:sp>
        <p:nvSpPr>
          <p:cNvPr id="10" name="Shape 8"/>
          <p:cNvSpPr/>
          <p:nvPr/>
        </p:nvSpPr>
        <p:spPr>
          <a:xfrm>
            <a:off x="6303904" y="5034062"/>
            <a:ext cx="5232666" cy="1174055"/>
          </a:xfrm>
          <a:prstGeom prst="roundRect">
            <a:avLst>
              <a:gd name="adj" fmla="val 5917"/>
            </a:avLst>
          </a:prstGeom>
          <a:solidFill>
            <a:srgbClr val="E1E1EA"/>
          </a:solidFill>
          <a:ln/>
        </p:spPr>
      </p:sp>
      <p:pic>
        <p:nvPicPr>
          <p:cNvPr id="11" name="Image 0" descr="preencoded.png">    </p:cNvPr>
          <p:cNvPicPr>
            <a:picLocks noChangeAspect="1"/>
          </p:cNvPicPr>
          <p:nvPr/>
        </p:nvPicPr>
        <p:blipFill>
          <a:blip r:embed="rId1"/>
          <a:stretch>
            <a:fillRect/>
          </a:stretch>
        </p:blipFill>
        <p:spPr>
          <a:xfrm>
            <a:off x="6469198" y="5280124"/>
            <a:ext cx="206667" cy="165298"/>
          </a:xfrm>
          <a:prstGeom prst="rect">
            <a:avLst/>
          </a:prstGeom>
        </p:spPr>
      </p:pic>
      <p:sp>
        <p:nvSpPr>
          <p:cNvPr id="12" name="Text 9"/>
          <p:cNvSpPr/>
          <p:nvPr/>
        </p:nvSpPr>
        <p:spPr>
          <a:xfrm>
            <a:off x="6841160" y="5224165"/>
            <a:ext cx="4530116"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Observing state changes across test scenarios is the most effective way to build an intuitive understanding of how LangGraph agents work.</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61475" y="484485"/>
            <a:ext cx="10868745" cy="444103"/>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Visualize and Debug the Graph</a:t>
            </a:r>
            <a:endParaRPr lang="en-US" sz="2750" dirty="0"/>
          </a:p>
        </p:txBody>
      </p:sp>
      <p:sp>
        <p:nvSpPr>
          <p:cNvPr id="3" name="Text 1"/>
          <p:cNvSpPr/>
          <p:nvPr/>
        </p:nvSpPr>
        <p:spPr>
          <a:xfrm>
            <a:off x="661475" y="1172865"/>
            <a:ext cx="10868745"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Debugging a LangGraph agent requires visibility into the graph structure, the execution sequence, and the state at each step. LangGraph provides several mechanisms to support this.</a:t>
            </a:r>
            <a:endParaRPr lang="en-US" sz="1100" dirty="0"/>
          </a:p>
        </p:txBody>
      </p:sp>
      <p:sp>
        <p:nvSpPr>
          <p:cNvPr id="4" name="Shape 2"/>
          <p:cNvSpPr/>
          <p:nvPr/>
        </p:nvSpPr>
        <p:spPr>
          <a:xfrm>
            <a:off x="661475" y="1733054"/>
            <a:ext cx="5373255" cy="1469628"/>
          </a:xfrm>
          <a:prstGeom prst="roundRect">
            <a:avLst>
              <a:gd name="adj" fmla="val 4062"/>
            </a:avLst>
          </a:prstGeom>
          <a:solidFill>
            <a:srgbClr val="FFFFFF">
              <a:alpha val="95000"/>
            </a:srgbClr>
          </a:solidFill>
          <a:ln w="19050">
            <a:solidFill>
              <a:srgbClr val="C7C7D0"/>
            </a:solidFill>
            <a:prstDash val="solid"/>
          </a:ln>
        </p:spPr>
      </p:sp>
      <p:sp>
        <p:nvSpPr>
          <p:cNvPr id="5" name="Text 3"/>
          <p:cNvSpPr/>
          <p:nvPr/>
        </p:nvSpPr>
        <p:spPr>
          <a:xfrm>
            <a:off x="822602" y="1894185"/>
            <a:ext cx="5051001"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Inspect the Graph Structure</a:t>
            </a:r>
            <a:endParaRPr lang="en-US" sz="1350" dirty="0"/>
          </a:p>
        </p:txBody>
      </p:sp>
      <p:sp>
        <p:nvSpPr>
          <p:cNvPr id="6" name="Text 4"/>
          <p:cNvSpPr/>
          <p:nvPr/>
        </p:nvSpPr>
        <p:spPr>
          <a:xfrm>
            <a:off x="822602" y="2189460"/>
            <a:ext cx="5051001" cy="852091"/>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Use </a:t>
            </a:r>
            <a:pPr algn="l" indent="0" marL="0">
              <a:lnSpc>
                <a:spcPct val="124000"/>
              </a:lnSpc>
              <a:buNone/>
            </a:pPr>
            <a:r>
              <a:rPr lang="en-US" sz="1100" dirty="0">
                <a:solidFill>
                  <a:srgbClr val="3C3939"/>
                </a:solidFill>
                <a:highlight>
                  <a:srgbClr val="F2F2F2"/>
                </a:highlight>
                <a:latin typeface="Consolas" pitchFamily="34" charset="0"/>
                <a:ea typeface="Consolas" pitchFamily="34" charset="-122"/>
                <a:cs typeface="Consolas" pitchFamily="34" charset="-120"/>
              </a:rPr>
              <a:t>app.get_graph().print_ascii()</a:t>
            </a:r>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 or </a:t>
            </a:r>
            <a:pPr algn="l" indent="0" marL="0">
              <a:lnSpc>
                <a:spcPct val="124000"/>
              </a:lnSpc>
              <a:buNone/>
            </a:pPr>
            <a:r>
              <a:rPr lang="en-US" sz="1100" dirty="0">
                <a:solidFill>
                  <a:srgbClr val="3C3939"/>
                </a:solidFill>
                <a:highlight>
                  <a:srgbClr val="F2F2F2"/>
                </a:highlight>
                <a:latin typeface="Consolas" pitchFamily="34" charset="0"/>
                <a:ea typeface="Consolas" pitchFamily="34" charset="-122"/>
                <a:cs typeface="Consolas" pitchFamily="34" charset="-120"/>
              </a:rPr>
              <a:t>app.get_graph().draw_mermaid()</a:t>
            </a:r>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 to visualize the compiled graph. This confirms that nodes and edges are connected as intended and helps identify structural errors before running the agent.</a:t>
            </a:r>
            <a:endParaRPr lang="en-US" sz="1100" dirty="0"/>
          </a:p>
        </p:txBody>
      </p:sp>
      <p:sp>
        <p:nvSpPr>
          <p:cNvPr id="7" name="Shape 5"/>
          <p:cNvSpPr/>
          <p:nvPr/>
        </p:nvSpPr>
        <p:spPr>
          <a:xfrm>
            <a:off x="6156866" y="1733054"/>
            <a:ext cx="5373355" cy="1469628"/>
          </a:xfrm>
          <a:prstGeom prst="roundRect">
            <a:avLst>
              <a:gd name="adj" fmla="val 4062"/>
            </a:avLst>
          </a:prstGeom>
          <a:solidFill>
            <a:srgbClr val="FFFFFF">
              <a:alpha val="95000"/>
            </a:srgbClr>
          </a:solidFill>
          <a:ln w="19050">
            <a:solidFill>
              <a:srgbClr val="C7C7D0"/>
            </a:solidFill>
            <a:prstDash val="solid"/>
          </a:ln>
        </p:spPr>
      </p:sp>
      <p:sp>
        <p:nvSpPr>
          <p:cNvPr id="8" name="Text 6"/>
          <p:cNvSpPr/>
          <p:nvPr/>
        </p:nvSpPr>
        <p:spPr>
          <a:xfrm>
            <a:off x="6317993" y="1894185"/>
            <a:ext cx="5051100"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Trace Node Execution</a:t>
            </a:r>
            <a:endParaRPr lang="en-US" sz="1350" dirty="0"/>
          </a:p>
        </p:txBody>
      </p:sp>
      <p:sp>
        <p:nvSpPr>
          <p:cNvPr id="9" name="Text 7"/>
          <p:cNvSpPr/>
          <p:nvPr/>
        </p:nvSpPr>
        <p:spPr>
          <a:xfrm>
            <a:off x="6317993" y="2189460"/>
            <a:ext cx="5051100" cy="640655"/>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Use </a:t>
            </a:r>
            <a:pPr algn="l" indent="0" marL="0">
              <a:lnSpc>
                <a:spcPct val="124000"/>
              </a:lnSpc>
              <a:buNone/>
            </a:pPr>
            <a:r>
              <a:rPr lang="en-US" sz="1100" dirty="0">
                <a:solidFill>
                  <a:srgbClr val="3C3939"/>
                </a:solidFill>
                <a:highlight>
                  <a:srgbClr val="F2F2F2"/>
                </a:highlight>
                <a:latin typeface="Consolas" pitchFamily="34" charset="0"/>
                <a:ea typeface="Consolas" pitchFamily="34" charset="-122"/>
                <a:cs typeface="Consolas" pitchFamily="34" charset="-120"/>
              </a:rPr>
              <a:t>app.stream()</a:t>
            </a:r>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 instead of </a:t>
            </a:r>
            <a:pPr algn="l" indent="0" marL="0">
              <a:lnSpc>
                <a:spcPct val="124000"/>
              </a:lnSpc>
              <a:buNone/>
            </a:pPr>
            <a:r>
              <a:rPr lang="en-US" sz="1100" dirty="0">
                <a:solidFill>
                  <a:srgbClr val="3C3939"/>
                </a:solidFill>
                <a:highlight>
                  <a:srgbClr val="F2F2F2"/>
                </a:highlight>
                <a:latin typeface="Consolas" pitchFamily="34" charset="0"/>
                <a:ea typeface="Consolas" pitchFamily="34" charset="-122"/>
                <a:cs typeface="Consolas" pitchFamily="34" charset="-120"/>
              </a:rPr>
              <a:t>app.invoke()</a:t>
            </a:r>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 to receive a stream of events as the graph executes. Each event identifies which node produced it, allowing you to trace the exact execution sequence step by step.</a:t>
            </a:r>
            <a:endParaRPr lang="en-US" sz="1100" dirty="0"/>
          </a:p>
        </p:txBody>
      </p:sp>
      <p:sp>
        <p:nvSpPr>
          <p:cNvPr id="10" name="Shape 8"/>
          <p:cNvSpPr/>
          <p:nvPr/>
        </p:nvSpPr>
        <p:spPr>
          <a:xfrm>
            <a:off x="661475" y="3324820"/>
            <a:ext cx="5373255" cy="1463278"/>
          </a:xfrm>
          <a:prstGeom prst="roundRect">
            <a:avLst>
              <a:gd name="adj" fmla="val 4080"/>
            </a:avLst>
          </a:prstGeom>
          <a:solidFill>
            <a:srgbClr val="FFFFFF">
              <a:alpha val="95000"/>
            </a:srgbClr>
          </a:solidFill>
          <a:ln w="19050">
            <a:solidFill>
              <a:srgbClr val="C7C7D0"/>
            </a:solidFill>
            <a:prstDash val="solid"/>
          </a:ln>
        </p:spPr>
      </p:sp>
      <p:sp>
        <p:nvSpPr>
          <p:cNvPr id="11" name="Text 9"/>
          <p:cNvSpPr/>
          <p:nvPr/>
        </p:nvSpPr>
        <p:spPr>
          <a:xfrm>
            <a:off x="822602" y="3485952"/>
            <a:ext cx="5051001"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Inspect Messages and State</a:t>
            </a:r>
            <a:endParaRPr lang="en-US" sz="1350" dirty="0"/>
          </a:p>
        </p:txBody>
      </p:sp>
      <p:sp>
        <p:nvSpPr>
          <p:cNvPr id="12" name="Text 10"/>
          <p:cNvSpPr/>
          <p:nvPr/>
        </p:nvSpPr>
        <p:spPr>
          <a:xfrm>
            <a:off x="822602" y="3781227"/>
            <a:ext cx="5051001" cy="845741"/>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After each test run, print the full messages list from the final state. Examine each message in sequence — human, AI, tool, AI — to verify that the agent reasoned correctly, called the right tools with the right arguments, and produced an appropriate final response.</a:t>
            </a:r>
            <a:endParaRPr lang="en-US" sz="1100" dirty="0"/>
          </a:p>
        </p:txBody>
      </p:sp>
      <p:sp>
        <p:nvSpPr>
          <p:cNvPr id="13" name="Shape 11"/>
          <p:cNvSpPr/>
          <p:nvPr/>
        </p:nvSpPr>
        <p:spPr>
          <a:xfrm>
            <a:off x="6156866" y="3324820"/>
            <a:ext cx="5373355" cy="1463278"/>
          </a:xfrm>
          <a:prstGeom prst="roundRect">
            <a:avLst>
              <a:gd name="adj" fmla="val 4080"/>
            </a:avLst>
          </a:prstGeom>
          <a:solidFill>
            <a:srgbClr val="FFFFFF">
              <a:alpha val="95000"/>
            </a:srgbClr>
          </a:solidFill>
          <a:ln w="19050">
            <a:solidFill>
              <a:srgbClr val="C7C7D0"/>
            </a:solidFill>
            <a:prstDash val="solid"/>
          </a:ln>
        </p:spPr>
      </p:sp>
      <p:sp>
        <p:nvSpPr>
          <p:cNvPr id="14" name="Text 12"/>
          <p:cNvSpPr/>
          <p:nvPr/>
        </p:nvSpPr>
        <p:spPr>
          <a:xfrm>
            <a:off x="6317993" y="3485952"/>
            <a:ext cx="5051100"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Identify Incorrect Routing</a:t>
            </a:r>
            <a:endParaRPr lang="en-US" sz="1350" dirty="0"/>
          </a:p>
        </p:txBody>
      </p:sp>
      <p:sp>
        <p:nvSpPr>
          <p:cNvPr id="15" name="Text 13"/>
          <p:cNvSpPr/>
          <p:nvPr/>
        </p:nvSpPr>
        <p:spPr>
          <a:xfrm>
            <a:off x="6317993" y="3781227"/>
            <a:ext cx="5051100" cy="634305"/>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If the agent terminates too early or loops indefinitely, the routing function is the first place to investigate. Add print statements or logging inside the routing function to observe what it receives and what it returns at each decision point.</a:t>
            </a:r>
            <a:endParaRPr lang="en-US" sz="1100" dirty="0"/>
          </a:p>
        </p:txBody>
      </p:sp>
      <p:sp>
        <p:nvSpPr>
          <p:cNvPr id="16" name="Shape 14"/>
          <p:cNvSpPr/>
          <p:nvPr/>
        </p:nvSpPr>
        <p:spPr>
          <a:xfrm>
            <a:off x="661475" y="4910237"/>
            <a:ext cx="5373255" cy="1463278"/>
          </a:xfrm>
          <a:prstGeom prst="roundRect">
            <a:avLst>
              <a:gd name="adj" fmla="val 4080"/>
            </a:avLst>
          </a:prstGeom>
          <a:solidFill>
            <a:srgbClr val="FFFFFF">
              <a:alpha val="95000"/>
            </a:srgbClr>
          </a:solidFill>
          <a:ln w="19050">
            <a:solidFill>
              <a:srgbClr val="C7C7D0"/>
            </a:solidFill>
            <a:prstDash val="solid"/>
          </a:ln>
        </p:spPr>
      </p:sp>
      <p:sp>
        <p:nvSpPr>
          <p:cNvPr id="17" name="Text 15"/>
          <p:cNvSpPr/>
          <p:nvPr/>
        </p:nvSpPr>
        <p:spPr>
          <a:xfrm>
            <a:off x="822602" y="5071368"/>
            <a:ext cx="5051001"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Identify Failed Tool Calls</a:t>
            </a:r>
            <a:endParaRPr lang="en-US" sz="1350" dirty="0"/>
          </a:p>
        </p:txBody>
      </p:sp>
      <p:sp>
        <p:nvSpPr>
          <p:cNvPr id="18" name="Text 16"/>
          <p:cNvSpPr/>
          <p:nvPr/>
        </p:nvSpPr>
        <p:spPr>
          <a:xfrm>
            <a:off x="822602" y="5366643"/>
            <a:ext cx="5051001" cy="634305"/>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If a tool call fails, inspect the tool message in state for the error details. Check that the tool function handles edge cases correctly and that the LLM is providing arguments in the expected format.</a:t>
            </a:r>
            <a:endParaRPr lang="en-US" sz="1100" dirty="0"/>
          </a:p>
        </p:txBody>
      </p:sp>
      <p:sp>
        <p:nvSpPr>
          <p:cNvPr id="19" name="Shape 17"/>
          <p:cNvSpPr/>
          <p:nvPr/>
        </p:nvSpPr>
        <p:spPr>
          <a:xfrm>
            <a:off x="6156866" y="4910237"/>
            <a:ext cx="5373355" cy="1463278"/>
          </a:xfrm>
          <a:prstGeom prst="roundRect">
            <a:avLst>
              <a:gd name="adj" fmla="val 4080"/>
            </a:avLst>
          </a:prstGeom>
          <a:solidFill>
            <a:srgbClr val="FFFFFF">
              <a:alpha val="95000"/>
            </a:srgbClr>
          </a:solidFill>
          <a:ln w="19050">
            <a:solidFill>
              <a:srgbClr val="C7C7D0"/>
            </a:solidFill>
            <a:prstDash val="solid"/>
          </a:ln>
        </p:spPr>
      </p:sp>
      <p:sp>
        <p:nvSpPr>
          <p:cNvPr id="20" name="Text 18"/>
          <p:cNvSpPr/>
          <p:nvPr/>
        </p:nvSpPr>
        <p:spPr>
          <a:xfrm>
            <a:off x="6317993" y="5071368"/>
            <a:ext cx="5051100" cy="222052"/>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Use Logging / Tracing During Development</a:t>
            </a:r>
            <a:endParaRPr lang="en-US" sz="1350" dirty="0"/>
          </a:p>
        </p:txBody>
      </p:sp>
      <p:sp>
        <p:nvSpPr>
          <p:cNvPr id="21" name="Text 19"/>
          <p:cNvSpPr/>
          <p:nvPr/>
        </p:nvSpPr>
        <p:spPr>
          <a:xfrm>
            <a:off x="6317993" y="5366643"/>
            <a:ext cx="5051100" cy="845741"/>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C3939"/>
                </a:solidFill>
                <a:latin typeface="Roboto" pitchFamily="34" charset="0"/>
                <a:ea typeface="Roboto" pitchFamily="34" charset="-122"/>
                <a:cs typeface="Roboto" pitchFamily="34" charset="-120"/>
              </a:rPr>
              <a:t>Add structured logging to node functions and the routing function during development. LangSmith — LangChain's observability platform — provides a visual trace of every LangGraph execution, showing node inputs, outputs, and state at each step.</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61475" y="603052"/>
            <a:ext cx="10868745" cy="460375"/>
          </a:xfrm>
          <a:prstGeom prst="rect">
            <a:avLst/>
          </a:prstGeom>
          <a:noFill/>
          <a:ln/>
        </p:spPr>
        <p:txBody>
          <a:bodyPr wrap="none" lIns="0" tIns="0" rIns="0" bIns="0" rtlCol="0" anchor="t"/>
          <a:lstStyle/>
          <a:p>
            <a:pPr algn="l" indent="0" marL="0">
              <a:lnSpc>
                <a:spcPct val="104000"/>
              </a:lnSpc>
              <a:buNone/>
            </a:pPr>
            <a:r>
              <a:rPr lang="en-US" sz="2850" dirty="0">
                <a:solidFill>
                  <a:srgbClr val="1B1B27"/>
                </a:solidFill>
                <a:latin typeface="Raleway" pitchFamily="34" charset="0"/>
                <a:ea typeface="Raleway" pitchFamily="34" charset="-122"/>
                <a:cs typeface="Raleway" pitchFamily="34" charset="-120"/>
              </a:rPr>
              <a:t>Module 4 Summary</a:t>
            </a:r>
            <a:endParaRPr lang="en-US" sz="2850" dirty="0"/>
          </a:p>
        </p:txBody>
      </p:sp>
      <p:sp>
        <p:nvSpPr>
          <p:cNvPr id="3" name="Text 1"/>
          <p:cNvSpPr/>
          <p:nvPr/>
        </p:nvSpPr>
        <p:spPr>
          <a:xfrm>
            <a:off x="661475" y="1325761"/>
            <a:ext cx="10868745"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Module 4 has covered the complete conceptual and practical foundation for building stateful AI agents with LangGraph. The following are the core principles to carry forward.</a:t>
            </a:r>
            <a:endParaRPr lang="en-US" sz="1150" dirty="0"/>
          </a:p>
        </p:txBody>
      </p:sp>
      <p:sp>
        <p:nvSpPr>
          <p:cNvPr id="4" name="Shape 2"/>
          <p:cNvSpPr/>
          <p:nvPr/>
        </p:nvSpPr>
        <p:spPr>
          <a:xfrm>
            <a:off x="661475" y="1918990"/>
            <a:ext cx="5368791" cy="1061740"/>
          </a:xfrm>
          <a:prstGeom prst="roundRect">
            <a:avLst>
              <a:gd name="adj" fmla="val 5827"/>
            </a:avLst>
          </a:prstGeom>
          <a:solidFill>
            <a:srgbClr val="E1E1EA"/>
          </a:solidFill>
          <a:ln w="6350">
            <a:solidFill>
              <a:srgbClr val="C7C7D0"/>
            </a:solidFill>
            <a:prstDash val="solid"/>
          </a:ln>
        </p:spPr>
      </p:sp>
      <p:sp>
        <p:nvSpPr>
          <p:cNvPr id="5" name="Text 3"/>
          <p:cNvSpPr/>
          <p:nvPr/>
        </p:nvSpPr>
        <p:spPr>
          <a:xfrm>
            <a:off x="815062" y="2072580"/>
            <a:ext cx="5061617"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Graph Represents Logic</a:t>
            </a:r>
            <a:endParaRPr lang="en-US" sz="1400" dirty="0"/>
          </a:p>
        </p:txBody>
      </p:sp>
      <p:sp>
        <p:nvSpPr>
          <p:cNvPr id="6" name="Text 4"/>
          <p:cNvSpPr/>
          <p:nvPr/>
        </p:nvSpPr>
        <p:spPr>
          <a:xfrm>
            <a:off x="815062" y="2381448"/>
            <a:ext cx="5061617"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LangGraph represents agent logic as a directed graph — making branching, looping, and conditional behavior explicit and inspectable.</a:t>
            </a:r>
            <a:endParaRPr lang="en-US" sz="1150" dirty="0"/>
          </a:p>
        </p:txBody>
      </p:sp>
      <p:sp>
        <p:nvSpPr>
          <p:cNvPr id="7" name="Shape 5"/>
          <p:cNvSpPr/>
          <p:nvPr/>
        </p:nvSpPr>
        <p:spPr>
          <a:xfrm>
            <a:off x="6161429" y="1918990"/>
            <a:ext cx="5368791" cy="1061740"/>
          </a:xfrm>
          <a:prstGeom prst="roundRect">
            <a:avLst>
              <a:gd name="adj" fmla="val 5827"/>
            </a:avLst>
          </a:prstGeom>
          <a:solidFill>
            <a:srgbClr val="E1E1EA"/>
          </a:solidFill>
          <a:ln w="6350">
            <a:solidFill>
              <a:srgbClr val="C7C7D0"/>
            </a:solidFill>
            <a:prstDash val="solid"/>
          </a:ln>
        </p:spPr>
      </p:sp>
      <p:sp>
        <p:nvSpPr>
          <p:cNvPr id="8" name="Text 6"/>
          <p:cNvSpPr/>
          <p:nvPr/>
        </p:nvSpPr>
        <p:spPr>
          <a:xfrm>
            <a:off x="6315016" y="2072580"/>
            <a:ext cx="5061617"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State Carries Information</a:t>
            </a:r>
            <a:endParaRPr lang="en-US" sz="1400" dirty="0"/>
          </a:p>
        </p:txBody>
      </p:sp>
      <p:sp>
        <p:nvSpPr>
          <p:cNvPr id="9" name="Text 7"/>
          <p:cNvSpPr/>
          <p:nvPr/>
        </p:nvSpPr>
        <p:spPr>
          <a:xfrm>
            <a:off x="6315016" y="2381448"/>
            <a:ext cx="5061617"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A shared state object flows through every node, providing continuity and context across the entire execution of the agent.</a:t>
            </a:r>
            <a:endParaRPr lang="en-US" sz="1150" dirty="0"/>
          </a:p>
        </p:txBody>
      </p:sp>
      <p:sp>
        <p:nvSpPr>
          <p:cNvPr id="10" name="Shape 8"/>
          <p:cNvSpPr/>
          <p:nvPr/>
        </p:nvSpPr>
        <p:spPr>
          <a:xfrm>
            <a:off x="661475" y="3111897"/>
            <a:ext cx="5368791" cy="1061740"/>
          </a:xfrm>
          <a:prstGeom prst="roundRect">
            <a:avLst>
              <a:gd name="adj" fmla="val 5827"/>
            </a:avLst>
          </a:prstGeom>
          <a:solidFill>
            <a:srgbClr val="E1E1EA"/>
          </a:solidFill>
          <a:ln w="6350">
            <a:solidFill>
              <a:srgbClr val="C7C7D0"/>
            </a:solidFill>
            <a:prstDash val="solid"/>
          </a:ln>
        </p:spPr>
      </p:sp>
      <p:sp>
        <p:nvSpPr>
          <p:cNvPr id="11" name="Text 9"/>
          <p:cNvSpPr/>
          <p:nvPr/>
        </p:nvSpPr>
        <p:spPr>
          <a:xfrm>
            <a:off x="815062" y="3265488"/>
            <a:ext cx="5061617"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Nodes Perform Operations</a:t>
            </a:r>
            <a:endParaRPr lang="en-US" sz="1400" dirty="0"/>
          </a:p>
        </p:txBody>
      </p:sp>
      <p:sp>
        <p:nvSpPr>
          <p:cNvPr id="12" name="Text 10"/>
          <p:cNvSpPr/>
          <p:nvPr/>
        </p:nvSpPr>
        <p:spPr>
          <a:xfrm>
            <a:off x="815062" y="3574355"/>
            <a:ext cx="5061617"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Each node is a discrete Python function — LLM call, tool execution, validation, or formatting — that reads from and writes to state.</a:t>
            </a:r>
            <a:endParaRPr lang="en-US" sz="1150" dirty="0"/>
          </a:p>
        </p:txBody>
      </p:sp>
      <p:sp>
        <p:nvSpPr>
          <p:cNvPr id="13" name="Shape 11"/>
          <p:cNvSpPr/>
          <p:nvPr/>
        </p:nvSpPr>
        <p:spPr>
          <a:xfrm>
            <a:off x="6161429" y="3111897"/>
            <a:ext cx="5368791" cy="1061740"/>
          </a:xfrm>
          <a:prstGeom prst="roundRect">
            <a:avLst>
              <a:gd name="adj" fmla="val 5827"/>
            </a:avLst>
          </a:prstGeom>
          <a:solidFill>
            <a:srgbClr val="E1E1EA"/>
          </a:solidFill>
          <a:ln w="6350">
            <a:solidFill>
              <a:srgbClr val="C7C7D0"/>
            </a:solidFill>
            <a:prstDash val="solid"/>
          </a:ln>
        </p:spPr>
      </p:sp>
      <p:sp>
        <p:nvSpPr>
          <p:cNvPr id="14" name="Text 12"/>
          <p:cNvSpPr/>
          <p:nvPr/>
        </p:nvSpPr>
        <p:spPr>
          <a:xfrm>
            <a:off x="6315016" y="3265488"/>
            <a:ext cx="5061617"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Edges Control Execution</a:t>
            </a:r>
            <a:endParaRPr lang="en-US" sz="1400" dirty="0"/>
          </a:p>
        </p:txBody>
      </p:sp>
      <p:sp>
        <p:nvSpPr>
          <p:cNvPr id="15" name="Text 13"/>
          <p:cNvSpPr/>
          <p:nvPr/>
        </p:nvSpPr>
        <p:spPr>
          <a:xfrm>
            <a:off x="6315016" y="3574355"/>
            <a:ext cx="5061617"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Direct edges define the default control flow. Conditional edges enable state-dependent routing — the foundation of agentic decision-making.</a:t>
            </a:r>
            <a:endParaRPr lang="en-US" sz="1150" dirty="0"/>
          </a:p>
        </p:txBody>
      </p:sp>
      <p:sp>
        <p:nvSpPr>
          <p:cNvPr id="16" name="Shape 14"/>
          <p:cNvSpPr/>
          <p:nvPr/>
        </p:nvSpPr>
        <p:spPr>
          <a:xfrm>
            <a:off x="661475" y="4304804"/>
            <a:ext cx="5368791" cy="1061740"/>
          </a:xfrm>
          <a:prstGeom prst="roundRect">
            <a:avLst>
              <a:gd name="adj" fmla="val 5827"/>
            </a:avLst>
          </a:prstGeom>
          <a:solidFill>
            <a:srgbClr val="E1E1EA"/>
          </a:solidFill>
          <a:ln w="6350">
            <a:solidFill>
              <a:srgbClr val="C7C7D0"/>
            </a:solidFill>
            <a:prstDash val="solid"/>
          </a:ln>
        </p:spPr>
      </p:sp>
      <p:sp>
        <p:nvSpPr>
          <p:cNvPr id="17" name="Text 15"/>
          <p:cNvSpPr/>
          <p:nvPr/>
        </p:nvSpPr>
        <p:spPr>
          <a:xfrm>
            <a:off x="815062" y="4458395"/>
            <a:ext cx="5061617"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Loops Enable Iteration</a:t>
            </a:r>
            <a:endParaRPr lang="en-US" sz="1400" dirty="0"/>
          </a:p>
        </p:txBody>
      </p:sp>
      <p:sp>
        <p:nvSpPr>
          <p:cNvPr id="18" name="Text 16"/>
          <p:cNvSpPr/>
          <p:nvPr/>
        </p:nvSpPr>
        <p:spPr>
          <a:xfrm>
            <a:off x="815062" y="4767263"/>
            <a:ext cx="5061617"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Graphs can return to previous nodes, enabling tool-calling loops, retry logic, validation cycles, and iterative processing.</a:t>
            </a:r>
            <a:endParaRPr lang="en-US" sz="1150" dirty="0"/>
          </a:p>
        </p:txBody>
      </p:sp>
      <p:sp>
        <p:nvSpPr>
          <p:cNvPr id="19" name="Shape 17"/>
          <p:cNvSpPr/>
          <p:nvPr/>
        </p:nvSpPr>
        <p:spPr>
          <a:xfrm>
            <a:off x="6161429" y="4304804"/>
            <a:ext cx="5368791" cy="1061740"/>
          </a:xfrm>
          <a:prstGeom prst="roundRect">
            <a:avLst>
              <a:gd name="adj" fmla="val 5827"/>
            </a:avLst>
          </a:prstGeom>
          <a:solidFill>
            <a:srgbClr val="E1E1EA"/>
          </a:solidFill>
          <a:ln w="6350">
            <a:solidFill>
              <a:srgbClr val="C7C7D0"/>
            </a:solidFill>
            <a:prstDash val="solid"/>
          </a:ln>
        </p:spPr>
      </p:sp>
      <p:sp>
        <p:nvSpPr>
          <p:cNvPr id="20" name="Text 18"/>
          <p:cNvSpPr/>
          <p:nvPr/>
        </p:nvSpPr>
        <p:spPr>
          <a:xfrm>
            <a:off x="6315016" y="4458395"/>
            <a:ext cx="5061617" cy="230187"/>
          </a:xfrm>
          <a:prstGeom prst="rect">
            <a:avLst/>
          </a:prstGeom>
          <a:noFill/>
          <a:ln/>
        </p:spPr>
        <p:txBody>
          <a:bodyPr wrap="none" lIns="0" tIns="0" rIns="0" bIns="0" rtlCol="0" anchor="t"/>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Tools Extend Capabilities</a:t>
            </a:r>
            <a:endParaRPr lang="en-US" sz="1400" dirty="0"/>
          </a:p>
        </p:txBody>
      </p:sp>
      <p:sp>
        <p:nvSpPr>
          <p:cNvPr id="21" name="Text 19"/>
          <p:cNvSpPr/>
          <p:nvPr/>
        </p:nvSpPr>
        <p:spPr>
          <a:xfrm>
            <a:off x="6315016" y="4767263"/>
            <a:ext cx="5061617"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Python functions exposed as tools allow the agent to take real-world actions — calculation, search, API calls — beyond language generation alone.</a:t>
            </a:r>
            <a:endParaRPr lang="en-US" sz="1150" dirty="0"/>
          </a:p>
        </p:txBody>
      </p:sp>
      <p:sp>
        <p:nvSpPr>
          <p:cNvPr id="22" name="Text 20"/>
          <p:cNvSpPr/>
          <p:nvPr/>
        </p:nvSpPr>
        <p:spPr>
          <a:xfrm>
            <a:off x="882330" y="5661620"/>
            <a:ext cx="10647890" cy="445691"/>
          </a:xfrm>
          <a:prstGeom prst="rect">
            <a:avLst/>
          </a:prstGeom>
          <a:noFill/>
          <a:ln/>
        </p:spPr>
        <p:txBody>
          <a:bodyPr wrap="square" lIns="0" tIns="0" rIns="0" bIns="0" rtlCol="0" anchor="t">
            <a:normAutofit/>
          </a:bodyPr>
          <a:lstStyle/>
          <a:p>
            <a:pPr algn="l" indent="0" marL="0">
              <a:lnSpc>
                <a:spcPct val="126000"/>
              </a:lnSpc>
              <a:buNone/>
            </a:pPr>
            <a:r>
              <a:rPr lang="en-US" sz="1150" b="1" dirty="0">
                <a:solidFill>
                  <a:srgbClr val="3C3939"/>
                </a:solidFill>
                <a:latin typeface="Roboto Bold" pitchFamily="34" charset="0"/>
                <a:ea typeface="Roboto Bold" pitchFamily="34" charset="-122"/>
                <a:cs typeface="Roboto Bold" pitchFamily="34" charset="-120"/>
              </a:rPr>
              <a:t>Key Takeaway:</a:t>
            </a:r>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 LangChain provides the building blocks — models, prompts, tools, structured output. LangGraph lets us orchestrate those building blocks into </a:t>
            </a:r>
            <a:pPr algn="l" indent="0" marL="0">
              <a:lnSpc>
                <a:spcPct val="126000"/>
              </a:lnSpc>
              <a:buNone/>
            </a:pPr>
            <a:r>
              <a:rPr lang="en-US" sz="1150" b="1" dirty="0">
                <a:solidFill>
                  <a:srgbClr val="3C3939"/>
                </a:solidFill>
                <a:latin typeface="Roboto Bold" pitchFamily="34" charset="0"/>
                <a:ea typeface="Roboto Bold" pitchFamily="34" charset="-122"/>
                <a:cs typeface="Roboto Bold" pitchFamily="34" charset="-120"/>
              </a:rPr>
              <a:t>stateful, controllable agent workflows</a:t>
            </a:r>
            <a:pPr algn="l" indent="0" marL="0">
              <a:lnSpc>
                <a:spcPct val="126000"/>
              </a:lnSpc>
              <a:buNone/>
            </a:pPr>
            <a:r>
              <a:rPr lang="en-US" sz="1150" dirty="0">
                <a:solidFill>
                  <a:srgbClr val="3C3939"/>
                </a:solidFill>
                <a:latin typeface="Roboto" pitchFamily="34" charset="0"/>
                <a:ea typeface="Roboto" pitchFamily="34" charset="-122"/>
                <a:cs typeface="Roboto" pitchFamily="34" charset="-120"/>
              </a:rPr>
              <a:t>. Together, they form the complete stack for production-grade agentic AI applications.</a:t>
            </a:r>
            <a:endParaRPr lang="en-US" sz="1150" dirty="0"/>
          </a:p>
        </p:txBody>
      </p:sp>
      <p:sp>
        <p:nvSpPr>
          <p:cNvPr id="23" name="Shape 21"/>
          <p:cNvSpPr/>
          <p:nvPr/>
        </p:nvSpPr>
        <p:spPr>
          <a:xfrm>
            <a:off x="661475" y="5514082"/>
            <a:ext cx="19050" cy="740767"/>
          </a:xfrm>
          <a:prstGeom prst="roundRect">
            <a:avLst>
              <a:gd name="adj" fmla="val 49999"/>
            </a:avLst>
          </a:prstGeom>
          <a:solidFill>
            <a:srgbClr val="1B1B27"/>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2026-08-25T14:29:45Z</dcterms:created>
  <dcterms:modified xsi:type="dcterms:W3CDTF">2026-08-25T14:29:45Z</dcterms:modified>
</cp:coreProperties>
</file>