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089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build a real service-request app end to end: a form to collect requests, a Google Sheet as the database, and n8n to connect them and send Gmail alerts. The same Service Request Desk grows through all five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 session is hands-on. Concepts are kept short: just enough to understand what we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who has built a Google Form? That's no-code. The trade-off is always speed versus flexibility. n8n lets you stay no-code but drop into JavaScript when a step needs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using the Service Request Desk. Data first: design the sheet columns before anything else. The cards show which tool plays each role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shape of WF1. Data moves between nodes as JSON items. One form submission = one item; 20 sheet rows = 20 items, and each node runs on all of them. {{ $json.field }} is the one piece of syntax needed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this sheet now with the header row only. Explain why a unique ID matters: WF2 finds rows by ticket_id. Sheets is fine for hundreds or a few thousand rows; Module 2 moves to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common beginner confusion: sharing the test URL. It stops working after one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OAuth is the slowest part of the course; do it carefully once. The redirect URL is shown in the n8n credential dialog: copy it from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Applications with Forms, Tables &amp; Views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business app with n8n Forms, Google Sheets and Gmail — without writing code.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Kahate</a:t>
            </a:r>
          </a:p>
          <a:p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(https://www.linkedin.com/in/atulkahate/)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in Generative AI and Automation  ·  No-Code Low-Code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745236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841" y="892637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7960" y="7269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a request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89904" y="134874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806440" y="1705356"/>
            <a:ext cx="566928" cy="5669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841" y="1852757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37960" y="16870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adds ID + rules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89904" y="230886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806440" y="2665476"/>
            <a:ext cx="566928" cy="56692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841" y="2812877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26471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ticket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9904" y="326898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5806440" y="3625596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841" y="3772997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537960" y="36073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the support team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Goals &amp; Agenda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hands-on workflows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49047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no-code vs low-code and when each fits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26771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five building blocks of a no-code app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04495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form that saves records to Google Sheets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82219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an email alert from a business rule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0" y="128016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480060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992624" y="1847088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440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objectives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992624" y="2249424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440680" y="21396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992624" y="2651760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440680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n8n and Google credentials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800600" y="298094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4800600" y="298094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544068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 Intake app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4800600" y="3383280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800600" y="338328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5440680" y="33467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app + Sheet views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4800600" y="378561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800600" y="378561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44068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alert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4992624" y="4261104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440680" y="4151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Troubleshooting, challenge, Q&amp;A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Low-Code, No-Code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build software — trading flexibility for speed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1685239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Code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194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Developers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 every line in Python, Java, JS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Unlimited flexibility; slowest to build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91840" y="132588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168523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6052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520440" y="2194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Developers + power users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Visual builder, with code where needed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Fast, and still extendable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26480" y="132588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39" y="168523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9516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355080" y="2194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Business users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Drag, drop and configure — no code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Fastest; limited to platform features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n8n sits: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no-code nodes for most steps, plus an optional Code node — so it spans no-code and low-code.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forms, approvals, internal tools, reports, prototypes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complex algorithms, very high scale, strict compliance, pixel-perfect UI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Building Blocks of a No-Code App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you build in this course has the same parts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86968" y="1371600"/>
            <a:ext cx="640080" cy="6400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9" y="15380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2404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records live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591056" y="1691640"/>
            <a:ext cx="914400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57200" y="2834640"/>
            <a:ext cx="1499616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66928" y="29260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kern="0" spc="2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kern="0" spc="2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sheet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69464" y="1371600"/>
            <a:ext cx="640080" cy="64008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885" y="153802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139696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139696" y="2404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comes in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73552" y="1691640"/>
            <a:ext cx="914400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2139696" y="2834640"/>
            <a:ext cx="1499616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2249424" y="29260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kern="0" spc="2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Form Trigger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kern="0" spc="2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form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381" y="15380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822192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3822192" y="2404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calculations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956048" y="1691640"/>
            <a:ext cx="914400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3822192" y="2834640"/>
            <a:ext cx="1499616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3931920" y="29260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kern="0" spc="2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IF, Edit Fields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kern="0" spc="2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ID, check priority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934456" y="1371600"/>
            <a:ext cx="640080" cy="64008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877" y="153802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504688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5504688" y="2404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see data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638544" y="1691640"/>
            <a:ext cx="914400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5504688" y="2834640"/>
            <a:ext cx="1499616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5614416" y="29260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kern="0" spc="2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filters, charts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kern="0" spc="2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tickets by status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7616952" y="1371600"/>
            <a:ext cx="640080" cy="6400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3373" y="1538021"/>
            <a:ext cx="307238" cy="30723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187184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7187184" y="2404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7187184" y="2834640"/>
            <a:ext cx="1499616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7296912" y="29260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kern="0" spc="2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Gmail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kern="0" spc="2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on High priority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in Five Words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Trigger · Node · Item · Execution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55448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6420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Trigger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801368" y="1892808"/>
            <a:ext cx="512064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331720" y="155448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166420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148840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355848" y="1892808"/>
            <a:ext cx="512064" cy="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3886200" y="155448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66420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703320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292608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 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canvas — one automated process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 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node; starts a run (form, schedule, webhook)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 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that does one job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 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flowing between nodes, stored as JSON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 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of the workflow, saved for debugging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557784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item, as n8n sees it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577840" y="1645920"/>
            <a:ext cx="3108960" cy="1575816"/>
          </a:xfrm>
          <a:prstGeom prst="roundRect">
            <a:avLst>
              <a:gd name="adj" fmla="val 348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715000" y="1783080"/>
            <a:ext cx="2834640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"ticket_id": "SR-1001",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"Asha Patil",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"Billing",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"priority": "High",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"Open"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34046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field in any node: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$json.priority }}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as Your Database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 = one table. This is the Tickets sheet all three workflows share.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168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SR-260929-41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Sep 10:15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Asha Patil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asha@example.com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Charged twice for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SR-260929-42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Sep 10:30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Deshmukh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crashes on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SR-260929-47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Sep 11:12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Iyer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billing address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3"/>
          <p:cNvSpPr txBox="1"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 1 holds the column headers n8n will use · one row per record · a unique ID column · one kind of value per column · no merged cells or blank rows.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7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vs Production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has two URLs — know which one you are using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527048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URL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only after you click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 one run. Each node's data appears live on the canvas. URL contains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/form-test/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64608" y="1527048"/>
            <a:ext cx="457200" cy="45720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459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URL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86460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any time once the workflow is active. This is the link you share with users. URL contains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/form/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368" y="3264408"/>
            <a:ext cx="457200" cy="45720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38328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(Publish)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5836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workflow on (called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newer n8n versions). Triggers then run without the editor open.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864608" y="3264408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38328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8640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Executions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486460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run is logged in the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Executions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tab. Open one to see what each node received and returned.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8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n8n and Google Credentials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 — every later module reuses these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4416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32588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n8n with the commands on the right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89280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18745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http://localhost:5678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create the owner account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244144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42316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Console: new project, enable the 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Sheets, Drive, Gmail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299008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29718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consent screen: External; add your Gmail as a 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353872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35204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OAuth client ID (Web application) with n8n's redirect URL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57200" y="408736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" y="406908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n8n, add Google Sheets and Gmail credentials with that client ID and secret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13258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17720" y="1645920"/>
            <a:ext cx="4069080" cy="2087118"/>
          </a:xfrm>
          <a:prstGeom prst="roundRect">
            <a:avLst>
              <a:gd name="adj" fmla="val 262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1783080"/>
            <a:ext cx="3794760" cy="1812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n8n (first time only)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create n8n_data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n8n -p 5678:5678 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GENERIC_TIMEZONE=Asia/Kolkata 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TZ=Asia/Kolkata 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n8n_data:/home/node/.n8n 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docker.n8n.io/n8nio/n8n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later session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start n8n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OAuth redirect URL (also shown in n8n)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http://localhost:5678/rest/oauth2-credential/callback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 Intake App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19656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708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82496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Trigger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submission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9008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73552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04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36392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ticket_id, time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443984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27448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90288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row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89788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181344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396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44184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page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customers a web form to raise a service request. Each submission gets a ticket ID, is saved as a new row in the </a:t>
            </a: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sheet, and the customer sees a confirmation page.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fields: text, email, dropdown, required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ID with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$now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fields to sheet columns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URL vs production URL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 Intake App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18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Raise a Service Request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Fields: Name (text), Email (email), Category (dropdown: Billing, Technical, General), Priority (dropdown: Low, Medium, High), Description (textarea). All </a:t>
                      </a: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Fields (Set)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ticket_id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SR-{{ $now.toFormat('yyMMdd') }}-{{ $execution.id }}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$now.toFormat('yyyy-MM-dd HH:mm') }}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Keep </a:t>
                      </a: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Other Input Fields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</a:t>
                      </a: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Row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Tickets sheet. Mapping </a:t>
                      </a: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Each Column Manually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drag each form field onto its column.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(ending)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type </a:t>
                      </a: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Ending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Title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 received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text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Your ticket ID is {{ $('Edit Fields').item.json.ticket_id }}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one sample request via the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URL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 — every later node then shows real data you can drag in.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 Intake App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open the Test URL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6916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request with priority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4028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each node turn green; inspect its output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889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Tickets sheet: the new row is there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375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Activate, then share the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URL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 output (trimmed)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417320"/>
            <a:ext cx="4069080" cy="1823720"/>
          </a:xfrm>
          <a:prstGeom prst="roundRect">
            <a:avLst>
              <a:gd name="adj" fmla="val 300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554480"/>
            <a:ext cx="379476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"Asha Patil",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"asha@example.com",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"Billing",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"Priority": "High",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"Charged twice",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"ticket_id": "SR-260929-41",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"created_at": "2026-09-29 10:15",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"Open"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with a new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SR-…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 appears in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confirmation page shows the same ID.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App + Sheet Views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55548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Trigger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ID + status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6314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46604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656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09444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row(s)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717036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000500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63340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found?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170932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454396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17236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row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62482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908292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14904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771132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/ not found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staff update a ticket's status through a second form. The workflow finds the ticket, updates its row and replies. A </a:t>
            </a: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 gives managers a live view.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updating existing rows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node and 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Output Data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 an earlier node: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$('Node').item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Views: filter views, COUNTIF, charts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App + Sheet Views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1183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Fields: Ticket ID (text, required), New Status (dropdown: Open, In Progress, Resolved, Closed), Comment (textarea).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Row(s)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Filter: column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ticket_id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$json['Ticket ID'] }}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Node </a:t>
                      </a: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→ Always Output Data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on, so a wrong ID still continues.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$json.ticket_id }}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not empty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True → update the row; False → 'not found' page.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to match on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ticket_id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$('Form Trigger').item.json['New Status'] }}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comment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the form's Comment.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(x2)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branch: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 updated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False branch: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ticket with that ID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 to the Tickets sheet first, then reopen the node so it sees the new column.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App + Sheet Views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form with a real ticket 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6916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wrong ID: you get the 'not found' page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4028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 with the formulas on the right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889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column chart of the status counts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375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Create filter view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High priority, not Closed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417320"/>
            <a:ext cx="4069080" cy="1668780"/>
          </a:xfrm>
          <a:prstGeom prst="roundRect">
            <a:avLst>
              <a:gd name="adj" fmla="val 328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554480"/>
            <a:ext cx="379476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Status counts (status = column 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Open         B2 =COUNTIF(Tickets!H:H,A2)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 In Progress  B3 =COUNTIF(Tickets!H:H,A3)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Resolved     B4 =COUNTIF(Tickets!H:H,A4)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Closed       B5 =COUNTIF(Tickets!H:H,A5)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High-priority tickets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=COUNTIFS(Tickets!F:F,"High",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Tickets!H:H,"&lt;&gt;Closed")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changes in the sheet within seconds, and the dashboard counts and chart update on their own.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Alert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46604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409444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Trigger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added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717036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00500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863340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= High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70932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454396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17236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team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 new ticket row arrives with priority </a:t>
            </a: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email the support team straight away with the details and a link to the sheet.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triggers (check every minute)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conditions on text values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node: HTML email with expressions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separate workflow: loose coupling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Alert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686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Sheets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on </a:t>
                      </a: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Added</a:t>
                      </a: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 the Tickets sheet, poll every minute. Uses its own credential type (</a:t>
                      </a: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Sheets Trigger OAuth2</a:t>
                      </a: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with the same client ID and secret.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$json.priority }}</a:t>
                      </a: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equal to</a:t>
                      </a: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Leave the False branch empty: nothing happens.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Message → </a:t>
                      </a: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</a:t>
                      </a: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To: the team address. Subject </a:t>
                      </a:r>
                      <a:r>
                        <a:rPr lang="en-US" sz="12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[HIGH] {{ $json.ticket_id }} - {{ $json.category }}</a:t>
                      </a: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Email type HTML; body shows name, email, description and the sheet link.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building, use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Test Event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trigger. Once active, it polls by itself.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Alert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WF3 (keep WF1 active too)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6916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request on WF1's production form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4028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up to a minute for the trigger to poll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889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team inbox and the Executions tab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375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request: no email should arrive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team receives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417320"/>
            <a:ext cx="4069080" cy="1823720"/>
          </a:xfrm>
          <a:prstGeom prst="roundRect">
            <a:avLst>
              <a:gd name="adj" fmla="val 300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554480"/>
            <a:ext cx="379476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[HIGH] SR-260929-41 - Billing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high-priority ticket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: Asha Patil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  : asha@example.com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: Billing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    : Charged twice for plan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 Tickets sheet to respond.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workflows now form one small app: intake (WF1), updates (WF2) and alerts (WF3), sharing one Google Sheet.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students hit most often, and how to fix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264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redirect_uri_mismatch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Google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71907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redirect URI in Google Cloud must match n8n's OAuth Redirect URL exactly. Copy it from the credential dialog.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4264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6636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'Access blocked' / app not verified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166360" y="171907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OAuth consent screen, add your Gmail address under </a:t>
            </a: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users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414016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60120" y="2505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URL shows 404 / not listening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60120" y="285292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first. The test URL listens for one submission only.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2414016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56032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66360" y="2505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are blank in the sheet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66360" y="285292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must hold the headers. Reopen the Sheets node after adding columns.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54787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9417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012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Trigger never fires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60120" y="398678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must be </a:t>
            </a: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polls every minute, so wait before retrying.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663440" y="354787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694176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16636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are 5½ hours off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5166360" y="398678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container with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GENERIC_TIMEZONE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TZ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to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Asia/Kolkata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Extend what you built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confirmation email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WF1, add a Gmail node after the sheet so the customer receives their ticket ID by email.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from the form's Email field with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$('Form Trigger')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agent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assigned_to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dropdown to the WF2 form and a matching column, then one filter view per agent.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Row can set several columns at once.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digest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 pm, read all Open tickets and email one summary list to the manager.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→ Get Row(s) with a filter → </a:t>
            </a: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Gmail.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1  |  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80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 Intake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→ ID → Google Sheets → confirmation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945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48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+ Views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up, update, dashboard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632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17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Alert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Trigger → IF → Gmail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7373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data (sheet columns) before the form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pass JSON items; expressions like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$json.priority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them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test URLs, share production URLs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single-purpose workflows are easier to debug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372160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Business workflow automation with n8n and MySQL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2927</Words>
  <Application>Microsoft Office PowerPoint</Application>
  <PresentationFormat>On-screen Show (16:9)</PresentationFormat>
  <Paragraphs>428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No-Code Applications with Forms, Tables &amp; Views</dc:title>
  <dc:subject>PptxGenJS Presentation</dc:subject>
  <dc:creator>Atul Kahate</dc:creator>
  <cp:lastModifiedBy>Atul Kahate</cp:lastModifiedBy>
  <cp:revision>2</cp:revision>
  <dcterms:created xsi:type="dcterms:W3CDTF">2026-09-29T10:53:03Z</dcterms:created>
  <dcterms:modified xsi:type="dcterms:W3CDTF">2026-10-11T06:42:29Z</dcterms:modified>
</cp:coreProperties>
</file>