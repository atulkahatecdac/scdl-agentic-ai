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1 used Google Sheets as the database. Today we move to MySQL, running in its own Docker container, and build three classic business automations: lead handling, approvals and reporting.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students to name one repetitive task from their own job. Most will fit one of these three columns.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expression editor: the right-hand preview evaluates the expression on the current item as you type.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PowerShell has no &lt; redirection, hence Get-Content piped into docker exec -i. host.docker.internal is Docker Desktop's name for the host machine, where port 3306 is published.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731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09728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Workflow Automation with n8n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51460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data, apply business rules and store the results in MySQL — automatically.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4290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657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Atul Kahate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3891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Certificate in Generative AI and Automation  ·  No-Code Low-Code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806440" y="745236"/>
            <a:ext cx="566928" cy="56692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53841" y="892637"/>
            <a:ext cx="272125" cy="27212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537960" y="726948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lead or expense arrives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6089904" y="1348740"/>
            <a:ext cx="0" cy="320040"/>
          </a:xfrm>
          <a:prstGeom prst="line">
            <a:avLst/>
          </a:prstGeom>
          <a:noFill/>
          <a:ln w="19050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5806440" y="1705356"/>
            <a:ext cx="566928" cy="56692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3841" y="1852757"/>
            <a:ext cx="272125" cy="272125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537960" y="1687068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Rules: route, approve, report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6089904" y="2308860"/>
            <a:ext cx="0" cy="320040"/>
          </a:xfrm>
          <a:prstGeom prst="line">
            <a:avLst/>
          </a:prstGeom>
          <a:noFill/>
          <a:ln w="19050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5806440" y="2665476"/>
            <a:ext cx="566928" cy="56692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3841" y="2812877"/>
            <a:ext cx="272125" cy="272125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537960" y="2647188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every record</a:t>
            </a:r>
            <a:endParaRPr lang="en-US" sz="1400" dirty="0"/>
          </a:p>
        </p:txBody>
      </p:sp>
      <p:sp>
        <p:nvSpPr>
          <p:cNvPr id="20" name="Shape 14"/>
          <p:cNvSpPr/>
          <p:nvPr/>
        </p:nvSpPr>
        <p:spPr>
          <a:xfrm>
            <a:off x="6089904" y="3268980"/>
            <a:ext cx="0" cy="320040"/>
          </a:xfrm>
          <a:prstGeom prst="line">
            <a:avLst/>
          </a:prstGeom>
          <a:noFill/>
          <a:ln w="19050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1" name="Shape 15"/>
          <p:cNvSpPr/>
          <p:nvPr/>
        </p:nvSpPr>
        <p:spPr>
          <a:xfrm>
            <a:off x="5806440" y="3625596"/>
            <a:ext cx="566928" cy="56692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3841" y="3772997"/>
            <a:ext cx="272125" cy="272125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537960" y="3607308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Gmail + Docs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Emails and daily reports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No-Code Low-Code · Module 2  |  2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Goals &amp; Agenda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hands-on workflows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457200" cy="45720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490472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51560" y="13716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a manual business process into a workflow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57200" y="2148840"/>
            <a:ext cx="457200" cy="45720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2267712"/>
            <a:ext cx="219456" cy="21945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051560" y="21488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items with IF and Switch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57200" y="2926080"/>
            <a:ext cx="457200" cy="45720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3044952"/>
            <a:ext cx="219456" cy="21945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51560" y="29260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and write MySQL from n8n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457200" y="3703320"/>
            <a:ext cx="457200" cy="45720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" y="3822192"/>
            <a:ext cx="219456" cy="219456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051560" y="37033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a workflow for a human approval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4572000" y="1280160"/>
            <a:ext cx="4114800" cy="3337560"/>
          </a:xfrm>
          <a:prstGeom prst="roundRect">
            <a:avLst>
              <a:gd name="adj" fmla="val 274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4800600" y="1417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000" dirty="0"/>
          </a:p>
        </p:txBody>
      </p:sp>
      <p:sp>
        <p:nvSpPr>
          <p:cNvPr id="19" name="Shape 13"/>
          <p:cNvSpPr/>
          <p:nvPr/>
        </p:nvSpPr>
        <p:spPr>
          <a:xfrm>
            <a:off x="4992624" y="1847088"/>
            <a:ext cx="100584" cy="100584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44068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 &amp; objectives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4992624" y="2249424"/>
            <a:ext cx="100584" cy="100584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5440680" y="2139696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concepts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4992624" y="2651760"/>
            <a:ext cx="100584" cy="100584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440680" y="254203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Setup: MySQL container + credential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4800600" y="2980944"/>
            <a:ext cx="502920" cy="246888"/>
          </a:xfrm>
          <a:prstGeom prst="roundRect">
            <a:avLst>
              <a:gd name="adj" fmla="val 18519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4800600" y="2980944"/>
            <a:ext cx="502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WF1</a:t>
            </a:r>
            <a:endParaRPr lang="en-US" sz="1000" dirty="0"/>
          </a:p>
        </p:txBody>
      </p:sp>
      <p:sp>
        <p:nvSpPr>
          <p:cNvPr id="27" name="Text 21"/>
          <p:cNvSpPr txBox="1"/>
          <p:nvPr/>
        </p:nvSpPr>
        <p:spPr>
          <a:xfrm>
            <a:off x="5440680" y="294436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Capture &amp; Qualification</a:t>
            </a:r>
            <a:endParaRPr lang="en-US" sz="1300" dirty="0"/>
          </a:p>
        </p:txBody>
      </p:sp>
      <p:sp>
        <p:nvSpPr>
          <p:cNvPr id="28" name="Shape 22"/>
          <p:cNvSpPr/>
          <p:nvPr/>
        </p:nvSpPr>
        <p:spPr>
          <a:xfrm>
            <a:off x="4800600" y="3383280"/>
            <a:ext cx="502920" cy="246888"/>
          </a:xfrm>
          <a:prstGeom prst="roundRect">
            <a:avLst>
              <a:gd name="adj" fmla="val 18519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4800600" y="3383280"/>
            <a:ext cx="502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WF2</a:t>
            </a:r>
            <a:endParaRPr lang="en-US" sz="1000" dirty="0"/>
          </a:p>
        </p:txBody>
      </p:sp>
      <p:sp>
        <p:nvSpPr>
          <p:cNvPr id="30" name="Text 24"/>
          <p:cNvSpPr txBox="1"/>
          <p:nvPr/>
        </p:nvSpPr>
        <p:spPr>
          <a:xfrm>
            <a:off x="5440680" y="3346704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 Approval</a:t>
            </a:r>
            <a:endParaRPr lang="en-US" sz="1300" dirty="0"/>
          </a:p>
        </p:txBody>
      </p:sp>
      <p:sp>
        <p:nvSpPr>
          <p:cNvPr id="31" name="Shape 25"/>
          <p:cNvSpPr/>
          <p:nvPr/>
        </p:nvSpPr>
        <p:spPr>
          <a:xfrm>
            <a:off x="4800600" y="3785616"/>
            <a:ext cx="502920" cy="246888"/>
          </a:xfrm>
          <a:prstGeom prst="roundRect">
            <a:avLst>
              <a:gd name="adj" fmla="val 18519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4800600" y="3785616"/>
            <a:ext cx="502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WF3</a:t>
            </a:r>
            <a:endParaRPr lang="en-US" sz="1000" dirty="0"/>
          </a:p>
        </p:txBody>
      </p:sp>
      <p:sp>
        <p:nvSpPr>
          <p:cNvPr id="33" name="Text 27"/>
          <p:cNvSpPr txBox="1"/>
          <p:nvPr/>
        </p:nvSpPr>
        <p:spPr>
          <a:xfrm>
            <a:off x="5440680" y="37490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Sales Report</a:t>
            </a:r>
            <a:endParaRPr lang="en-US" sz="1300" dirty="0"/>
          </a:p>
        </p:txBody>
      </p:sp>
      <p:sp>
        <p:nvSpPr>
          <p:cNvPr id="34" name="Shape 28"/>
          <p:cNvSpPr/>
          <p:nvPr/>
        </p:nvSpPr>
        <p:spPr>
          <a:xfrm>
            <a:off x="4992624" y="4261104"/>
            <a:ext cx="100584" cy="100584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5440680" y="4151376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Troubleshooting, challenge, Q&amp;A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No-Code Low-Code · Module 2  |  3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Worth Automating?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for work that is frequent, rule-based and already digital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325880"/>
            <a:ext cx="2560320" cy="2240280"/>
          </a:xfrm>
          <a:prstGeom prst="roundRect">
            <a:avLst>
              <a:gd name="adj" fmla="val 4082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1554480"/>
            <a:ext cx="502920" cy="50292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6559" y="1685239"/>
            <a:ext cx="241402" cy="24140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544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2194560"/>
            <a:ext cx="2148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leads from forms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and route them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the first email instantly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3291840" y="1325880"/>
            <a:ext cx="2560320" cy="2240280"/>
          </a:xfrm>
          <a:prstGeom prst="roundRect">
            <a:avLst>
              <a:gd name="adj" fmla="val 4082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3520440" y="1554480"/>
            <a:ext cx="502920" cy="50292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1199" y="1685239"/>
            <a:ext cx="241402" cy="24140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160520" y="15544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3520440" y="2194560"/>
            <a:ext cx="2148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 claims and approvals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 reminders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alerts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126480" y="1325880"/>
            <a:ext cx="2560320" cy="2240280"/>
          </a:xfrm>
          <a:prstGeom prst="roundRect">
            <a:avLst>
              <a:gd name="adj" fmla="val 4082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355080" y="1554480"/>
            <a:ext cx="502920" cy="50292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5839" y="1685239"/>
            <a:ext cx="241402" cy="24140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995160" y="15544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6355080" y="2194560"/>
            <a:ext cx="2148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and weekly reports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and SLA alerts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checklists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457200" y="3703320"/>
            <a:ext cx="8229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when: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 happens often · the rules are clear · the data is already digital.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a human in the loop when: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money, legal risk or customer-facing judgement is involved — WF2 shows how.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No-Code Low-Code · Module 2  |  4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Expressions: Reading Data Anywhere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inside {{ }} is a small piece of JavaScript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344168"/>
            <a:ext cx="438912" cy="438912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317" y="1458285"/>
            <a:ext cx="210678" cy="21067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51560" y="1325880"/>
            <a:ext cx="38862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item</a:t>
            </a:r>
            <a:endParaRPr lang="en-US" sz="1400" dirty="0"/>
          </a:p>
          <a:p>
            <a:pPr indent="0" marL="0">
              <a:buNone/>
            </a:pPr>
            <a:r>
              <a:rPr lang="en-US" sz="1200" b="1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 $json.email }}</a:t>
            </a:r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 field from the node just before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2057400"/>
            <a:ext cx="438912" cy="438912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317" y="2171517"/>
            <a:ext cx="210678" cy="21067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51560" y="2039112"/>
            <a:ext cx="38862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earlier node</a:t>
            </a:r>
            <a:endParaRPr lang="en-US" sz="1400" dirty="0"/>
          </a:p>
          <a:p>
            <a:pPr indent="0" marL="0">
              <a:buNone/>
            </a:pPr>
            <a:r>
              <a:rPr lang="en-US" sz="1200" b="1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 $('Form Trigger').item.json.email }}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457200" y="2770632"/>
            <a:ext cx="438912" cy="438912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317" y="2884749"/>
            <a:ext cx="210678" cy="21067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51560" y="2752344"/>
            <a:ext cx="38862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Dates and times</a:t>
            </a:r>
            <a:endParaRPr lang="en-US" sz="1400" dirty="0"/>
          </a:p>
          <a:p>
            <a:pPr indent="0" marL="0">
              <a:buNone/>
            </a:pPr>
            <a:r>
              <a:rPr lang="en-US" sz="1200" b="1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 $now }}</a:t>
            </a:r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1200" b="1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 $today.minus({days: 1}) }}</a:t>
            </a:r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(Luxon)</a:t>
            </a:r>
            <a:endParaRPr lang="en-US" sz="1400" dirty="0"/>
          </a:p>
        </p:txBody>
      </p:sp>
      <p:sp>
        <p:nvSpPr>
          <p:cNvPr id="15" name="Shape 9"/>
          <p:cNvSpPr/>
          <p:nvPr/>
        </p:nvSpPr>
        <p:spPr>
          <a:xfrm>
            <a:off x="457200" y="3483864"/>
            <a:ext cx="438912" cy="438912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317" y="3597981"/>
            <a:ext cx="210678" cy="210678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051560" y="3465576"/>
            <a:ext cx="38862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 methods</a:t>
            </a:r>
            <a:endParaRPr lang="en-US" sz="1400" dirty="0"/>
          </a:p>
          <a:p>
            <a:pPr indent="0" marL="0">
              <a:buNone/>
            </a:pPr>
            <a:r>
              <a:rPr lang="en-US" sz="1200" b="1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 $json.Email.trim().toLowerCase() }}</a:t>
            </a:r>
            <a:endParaRPr lang="en-US" sz="1400" dirty="0"/>
          </a:p>
        </p:txBody>
      </p:sp>
      <p:sp>
        <p:nvSpPr>
          <p:cNvPr id="18" name="Text 11"/>
          <p:cNvSpPr txBox="1"/>
          <p:nvPr/>
        </p:nvSpPr>
        <p:spPr>
          <a:xfrm>
            <a:off x="5257800" y="132588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Cleaning form input in Edit Fields</a:t>
            </a:r>
            <a:endParaRPr lang="en-US" sz="1200" dirty="0"/>
          </a:p>
        </p:txBody>
      </p:sp>
      <p:sp>
        <p:nvSpPr>
          <p:cNvPr id="19" name="Shape 12"/>
          <p:cNvSpPr/>
          <p:nvPr/>
        </p:nvSpPr>
        <p:spPr>
          <a:xfrm>
            <a:off x="5257800" y="1645920"/>
            <a:ext cx="3429000" cy="1668780"/>
          </a:xfrm>
          <a:prstGeom prst="roundRect">
            <a:avLst>
              <a:gd name="adj" fmla="val 3288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0" name="Text 13"/>
          <p:cNvSpPr txBox="1"/>
          <p:nvPr/>
        </p:nvSpPr>
        <p:spPr>
          <a:xfrm>
            <a:off x="5394960" y="1783080"/>
            <a:ext cx="3154680" cy="1394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field = expression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email =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{{ $json.Email.trim().toLowerCase() }}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 =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{{ $json.Name.trim() }}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big_deal =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{{ $json.Budget == 'Above 5 lakh' }}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received_on =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{{ $now.toFormat('yyyy-MM-dd') }}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No-Code Low-Code · Module 2  |  5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Logic Nodes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them they cover almost every business rule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527048"/>
            <a:ext cx="457200" cy="45720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645920"/>
            <a:ext cx="219456" cy="21945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80160" y="152704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2075688"/>
            <a:ext cx="36210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paths: true and false. Example: </a:t>
            </a:r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amount &gt; 5000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needs approval.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663440" y="132588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864608" y="1527048"/>
            <a:ext cx="457200" cy="45720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645920"/>
            <a:ext cx="219456" cy="21945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486400" y="152704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4864608" y="2075688"/>
            <a:ext cx="36210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paths, one per rule or value. Example: budget band → hot, warm or cold.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457200" y="306324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58368" y="3264408"/>
            <a:ext cx="457200" cy="45720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383280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280160" y="326440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658368" y="3813048"/>
            <a:ext cx="36210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Drops items that fail a condition. Example: keep only </a:t>
            </a:r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 = Open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4663440" y="306324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864608" y="3264408"/>
            <a:ext cx="457200" cy="45720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3480" y="3383280"/>
            <a:ext cx="219456" cy="219456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5486400" y="326440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4864608" y="3813048"/>
            <a:ext cx="36210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Joins two branches into one — by position, or by matching a field like </a:t>
            </a:r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email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No-Code Low-Code · Module 2  |  6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Efficiently in n8n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habits that save hours of debugging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527048"/>
            <a:ext cx="457200" cy="45720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645920"/>
            <a:ext cx="219456" cy="21945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80160" y="152704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2075688"/>
            <a:ext cx="36210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once, encrypted, reused by every node. Never paste passwords into node fields.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663440" y="132588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864608" y="1527048"/>
            <a:ext cx="457200" cy="45720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645920"/>
            <a:ext cx="219456" cy="21945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486400" y="152704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Executions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4864608" y="2075688"/>
            <a:ext cx="36210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run is saved with every node's input and output — your first stop when something fails.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457200" y="306324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58368" y="3264408"/>
            <a:ext cx="457200" cy="45720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383280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280160" y="326440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 data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658368" y="3813048"/>
            <a:ext cx="36210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a node's output so you can rebuild later nodes without submitting the form again.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4663440" y="306324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864608" y="3264408"/>
            <a:ext cx="457200" cy="45720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3480" y="3383280"/>
            <a:ext cx="219456" cy="219456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5486400" y="326440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step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4864608" y="3813048"/>
            <a:ext cx="36210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just one node on its current input to test a change quickly.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No-Code Low-Code · Module 2  |  7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Handling Basics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for failure from the first workflow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344168"/>
            <a:ext cx="438912" cy="438912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317" y="1458285"/>
            <a:ext cx="210678" cy="21067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51560" y="1325880"/>
            <a:ext cx="763524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On Fail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</a:t>
            </a:r>
            <a:pPr indent="0" marL="0">
              <a:buNone/>
            </a:pPr>
            <a:r>
              <a:rPr lang="en-US" sz="12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</a:t>
            </a:r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retry up to 3 times with a wait. Good for brief network or API hiccups.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57200" y="2057400"/>
            <a:ext cx="438912" cy="438912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317" y="2171517"/>
            <a:ext cx="210678" cy="21067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051560" y="2039112"/>
            <a:ext cx="763524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Error → Continue (using error output)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 items go down a separate output instead of stopping the whole run.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57200" y="2770632"/>
            <a:ext cx="438912" cy="438912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317" y="2884749"/>
            <a:ext cx="210678" cy="21067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51560" y="2752344"/>
            <a:ext cx="763524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workflow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</a:t>
            </a:r>
            <a:pPr indent="0" marL="0">
              <a:buNone/>
            </a:pPr>
            <a:r>
              <a:rPr lang="en-US" sz="12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Error workflow</a:t>
            </a:r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 separate workflow that alerts you on any failure (built in Module 5).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457200" y="3483864"/>
            <a:ext cx="438912" cy="438912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317" y="3597981"/>
            <a:ext cx="210678" cy="210678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051560" y="3465576"/>
            <a:ext cx="763524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failed execution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red node shows the exact error message and the input that caused it.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No-Code Low-Code · Module 2  |  8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Setup: MySQL in Its Own Container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 keeps running in its container; MySQL gets a second one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344168"/>
            <a:ext cx="347472" cy="347472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57200" y="13441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1325880"/>
            <a:ext cx="3383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MySQL with the commands on the right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57200" y="2002536"/>
            <a:ext cx="347472" cy="347472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7200" y="20025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960120" y="1984248"/>
            <a:ext cx="3383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</a:t>
            </a:r>
            <a:pPr indent="0" marL="0">
              <a:buNone/>
            </a:pPr>
            <a:r>
              <a:rPr lang="en-US" sz="1250" b="1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m2_schema.sql</a:t>
            </a:r>
            <a:pPr indent="0" marL="0">
              <a:buNone/>
            </a:pP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tables </a:t>
            </a:r>
            <a:pPr indent="0" marL="0">
              <a:buNone/>
            </a:pPr>
            <a:r>
              <a:rPr lang="en-US" sz="1250" b="1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leads</a:t>
            </a:r>
            <a:pPr indent="0" marL="0">
              <a:buNone/>
            </a:pP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1250" b="1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expenses</a:t>
            </a:r>
            <a:pPr indent="0" marL="0">
              <a:buNone/>
            </a:pP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1250" b="1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sales</a:t>
            </a:r>
            <a:pPr indent="0" marL="0">
              <a:buNone/>
            </a:pP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sample rows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457200" y="2660904"/>
            <a:ext cx="347472" cy="347472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57200" y="26609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2642616"/>
            <a:ext cx="3383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n8n: </a:t>
            </a:r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Credentials → MySQL</a:t>
            </a:r>
            <a:pPr indent="0" marL="0">
              <a:buNone/>
            </a:pP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Host </a:t>
            </a:r>
            <a:pPr indent="0" marL="0">
              <a:buNone/>
            </a:pPr>
            <a:r>
              <a:rPr lang="en-US" sz="1250" b="1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host.docker.internal</a:t>
            </a:r>
            <a:pPr indent="0" marL="0">
              <a:buNone/>
            </a:pP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port </a:t>
            </a:r>
            <a:pPr indent="0" marL="0">
              <a:buNone/>
            </a:pPr>
            <a:r>
              <a:rPr lang="en-US" sz="1250" b="1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3306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457200" y="3319272"/>
            <a:ext cx="347472" cy="347472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57200" y="33192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960120" y="3300984"/>
            <a:ext cx="3383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</a:t>
            </a:r>
            <a:pPr indent="0" marL="0">
              <a:buNone/>
            </a:pPr>
            <a:r>
              <a:rPr lang="en-US" sz="1250" b="1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bizdb</a:t>
            </a:r>
            <a:pPr indent="0" marL="0">
              <a:buNone/>
            </a:pP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user </a:t>
            </a:r>
            <a:pPr indent="0" marL="0">
              <a:buNone/>
            </a:pPr>
            <a:r>
              <a:rPr lang="en-US" sz="1250" b="1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n8n</a:t>
            </a:r>
            <a:pPr indent="0" marL="0">
              <a:buNone/>
            </a:pP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password </a:t>
            </a:r>
            <a:pPr indent="0" marL="0">
              <a:buNone/>
            </a:pPr>
            <a:r>
              <a:rPr lang="en-US" sz="1250" b="1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n8npass</a:t>
            </a:r>
            <a:pPr indent="0" marL="0">
              <a:buNone/>
            </a:pP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</a:t>
            </a:r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457200" y="3977640"/>
            <a:ext cx="347472" cy="347472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57200" y="39776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960120" y="3959352"/>
            <a:ext cx="3383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</a:t>
            </a:r>
            <a:pPr indent="0" marL="0">
              <a:buNone/>
            </a:pPr>
            <a:r>
              <a:rPr lang="en-US" sz="1250" b="1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localhost</a:t>
            </a:r>
            <a:pPr indent="0" marL="0">
              <a:buNone/>
            </a:pP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 Inside the n8n container, it means n8n itself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4617720" y="132588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PowerShell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617720" y="1645920"/>
            <a:ext cx="4069080" cy="2226564"/>
          </a:xfrm>
          <a:prstGeom prst="roundRect">
            <a:avLst>
              <a:gd name="adj" fmla="val 2464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754880" y="1783080"/>
            <a:ext cx="3794760" cy="195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Start MySQL (first time only)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volume create mysql_data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 -d --name mysql -p 3306:3306 `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-e MYSQL_ROOT_PASSWORD=root123 `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-e MYSQL_DATABASE=bizdb `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-e MYSQL_USER=n8n -e MYSQL_PASSWORD=n8npass `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-v mysql_data:/var/lib/mysql mysql:8.4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Wait ~20 s on first start, then load tables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Get-Content m2_schema.sql |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docker exec -i mysql mysql -un8n -pn8npass bizdb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Every later session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start n8n mysql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No-Code Low-Code · Module 2  |  9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384048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WF1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274320"/>
            <a:ext cx="7543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Capture &amp; Qualification</a:t>
            </a:r>
            <a:pPr indent="0" marL="0">
              <a:buNone/>
            </a:pPr>
            <a:r>
              <a:rPr lang="en-US" sz="24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Overview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8229600" cy="1554480"/>
          </a:xfrm>
          <a:prstGeom prst="roundRect">
            <a:avLst>
              <a:gd name="adj" fmla="val 5882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2708" y="1371600"/>
            <a:ext cx="11430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5DAE3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8760" y="1490472"/>
            <a:ext cx="310896" cy="3108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955548" y="1984248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Trigger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form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263140" y="1645920"/>
            <a:ext cx="256032" cy="0"/>
          </a:xfrm>
          <a:prstGeom prst="line">
            <a:avLst/>
          </a:prstGeom>
          <a:noFill/>
          <a:ln w="15875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2546604" y="1371600"/>
            <a:ext cx="11430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5DAE3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2656" y="1490472"/>
            <a:ext cx="310896" cy="31089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409444" y="1984248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Fields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+ segment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3717036" y="1645920"/>
            <a:ext cx="256032" cy="0"/>
          </a:xfrm>
          <a:prstGeom prst="line">
            <a:avLst/>
          </a:prstGeom>
          <a:noFill/>
          <a:ln w="15875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4000500" y="1371600"/>
            <a:ext cx="11430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5DAE3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6552" y="1490472"/>
            <a:ext cx="310896" cy="31089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3863340" y="1984248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lead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5170932" y="1645920"/>
            <a:ext cx="256032" cy="0"/>
          </a:xfrm>
          <a:prstGeom prst="line">
            <a:avLst/>
          </a:prstGeom>
          <a:noFill/>
          <a:ln w="15875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5454396" y="1371600"/>
            <a:ext cx="11430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5DAE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90472"/>
            <a:ext cx="310896" cy="310896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317236" y="1984248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/ warm / cold</a:t>
            </a:r>
            <a:endParaRPr lang="en-US" sz="1050" dirty="0"/>
          </a:p>
        </p:txBody>
      </p:sp>
      <p:sp>
        <p:nvSpPr>
          <p:cNvPr id="22" name="Shape 16"/>
          <p:cNvSpPr/>
          <p:nvPr/>
        </p:nvSpPr>
        <p:spPr>
          <a:xfrm>
            <a:off x="6624828" y="1645920"/>
            <a:ext cx="256032" cy="0"/>
          </a:xfrm>
          <a:prstGeom prst="line">
            <a:avLst/>
          </a:prstGeom>
          <a:noFill/>
          <a:ln w="15875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23" name="Shape 17"/>
          <p:cNvSpPr/>
          <p:nvPr/>
        </p:nvSpPr>
        <p:spPr>
          <a:xfrm>
            <a:off x="6908292" y="1371600"/>
            <a:ext cx="11430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5DAE3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4344" y="1490472"/>
            <a:ext cx="310896" cy="310896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6771132" y="1984248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Gmail ×3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 emails</a:t>
            </a:r>
            <a:endParaRPr lang="en-US" sz="1050" dirty="0"/>
          </a:p>
        </p:txBody>
      </p:sp>
      <p:sp>
        <p:nvSpPr>
          <p:cNvPr id="26" name="Text 19"/>
          <p:cNvSpPr txBox="1"/>
          <p:nvPr/>
        </p:nvSpPr>
        <p:spPr>
          <a:xfrm>
            <a:off x="457200" y="2971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1000" dirty="0"/>
          </a:p>
        </p:txBody>
      </p:sp>
      <p:sp>
        <p:nvSpPr>
          <p:cNvPr id="27" name="Text 20"/>
          <p:cNvSpPr txBox="1"/>
          <p:nvPr/>
        </p:nvSpPr>
        <p:spPr>
          <a:xfrm>
            <a:off x="457200" y="3218688"/>
            <a:ext cx="3840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arrive through a web form. The workflow cleans the data, labels each lead </a:t>
            </a:r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hot, warm or cold</a:t>
            </a:r>
            <a:pPr indent="0" marL="0">
              <a:buNone/>
            </a:pPr>
            <a:r>
              <a:rPr lang="en-US" sz="13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by budget, saves it in MySQL and sends a welcome email that suits the segment.</a:t>
            </a:r>
            <a:endParaRPr lang="en-US" sz="1300" dirty="0"/>
          </a:p>
        </p:txBody>
      </p:sp>
      <p:sp>
        <p:nvSpPr>
          <p:cNvPr id="28" name="Text 21"/>
          <p:cNvSpPr txBox="1"/>
          <p:nvPr/>
        </p:nvSpPr>
        <p:spPr>
          <a:xfrm>
            <a:off x="4754880" y="2971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WILL LEARN</a:t>
            </a:r>
            <a:endParaRPr lang="en-US" sz="1000" dirty="0"/>
          </a:p>
        </p:txBody>
      </p:sp>
      <p:sp>
        <p:nvSpPr>
          <p:cNvPr id="29" name="Text 22"/>
          <p:cNvSpPr txBox="1"/>
          <p:nvPr/>
        </p:nvSpPr>
        <p:spPr>
          <a:xfrm>
            <a:off x="4754880" y="3218688"/>
            <a:ext cx="3931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Computing a field with an expression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</a:t>
            </a:r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</a:t>
            </a:r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automatic mapping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node with named outputs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 earlier node with </a:t>
            </a:r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$('Edit Fields')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No-Code Low-Code · Module 2  |  10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384048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WF1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274320"/>
            <a:ext cx="7543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Capture &amp; Qualification</a:t>
            </a:r>
            <a:pPr indent="0" marL="0">
              <a:buNone/>
            </a:pPr>
            <a:r>
              <a:rPr lang="en-US" sz="24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Build it</a:t>
            </a:r>
            <a:endParaRPr lang="en-US" sz="2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6309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settings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 Trigger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Fields: Name, Email, Company, Budget (dropdown: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Under 1 lakh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1-5 lakh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Above 5 lakh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), Source (dropdown: Website, Referral, Event).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 Fields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email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=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{{ $json.Email.trim().toLowerCase() }}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plus name, company, budget, source.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segment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=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{{ $json.Budget == 'Above 5 lakh' ? 'hot' : $json.Budget == '1-5 lakh' ? 'warm' : 'cold' }}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MySQL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Insert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table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leads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 Automatically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(field names = column names).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Switch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Rules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on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{{ $('Edit Fields').item.json.segment }}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: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hot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warm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cold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 Rename the outputs Hot / Warm / Cold.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Gmail ×3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{{ $('Edit Fields').item.json.email }}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 Hot: 'Our sales head will call you today.' Warm: brochure link. Cold: newsletter welcome.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4160520"/>
            <a:ext cx="8229600" cy="502920"/>
          </a:xfrm>
          <a:prstGeom prst="roundRect">
            <a:avLst>
              <a:gd name="adj" fmla="val 10909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41605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MySQL node, </a:t>
            </a:r>
            <a:pPr indent="0" marL="0">
              <a:buNone/>
            </a:pPr>
            <a:r>
              <a:rPr lang="en-US" sz="1200" b="1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$json</a:t>
            </a:r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holds the database result, not the lead — so later nodes read the lead from </a:t>
            </a:r>
            <a:pPr indent="0" marL="0">
              <a:buNone/>
            </a:pPr>
            <a:r>
              <a:rPr lang="en-US" sz="1200" b="1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$('Edit Fields')</a:t>
            </a:r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No-Code Low-Code · Module 2  |  11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384048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WF1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274320"/>
            <a:ext cx="7543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Capture &amp; Qualification</a:t>
            </a:r>
            <a:pPr indent="0" marL="0">
              <a:buNone/>
            </a:pPr>
            <a:r>
              <a:rPr lang="en-US" sz="24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Run &amp; verify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1704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1143000"/>
            <a:ext cx="3429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workflow; submit 3 leads, one per budget band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773936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17739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1746504"/>
            <a:ext cx="3429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each lead leaves by the right Switch output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377440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377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2350008"/>
            <a:ext cx="3429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MySQL (right): 3 new rows with segments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980944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29809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2953512"/>
            <a:ext cx="3429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the three different welcome emails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617720" y="109728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in MySQL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617720" y="1417320"/>
            <a:ext cx="4069080" cy="1893443"/>
          </a:xfrm>
          <a:prstGeom prst="roundRect">
            <a:avLst>
              <a:gd name="adj" fmla="val 2898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54880" y="1554480"/>
            <a:ext cx="3794760" cy="16191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exec -it mysql mysql -un8n -pn8npass bizdb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name, budget, segment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FROM leads ORDER BY id DESC LIMIT 3;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+-------------+--------------+---------+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name        | budget       | segment |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+-------------+--------------+---------+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Kiran Joshi | Under 1 lakh | cold    |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Neha Rao    | 1-5 lakh     | warm    |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Vikram Shah | Above 5 lakh | hot     |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+-------------+--------------+---------+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" y="4114800"/>
            <a:ext cx="8229600" cy="54864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4242816"/>
            <a:ext cx="292608" cy="292608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1051560" y="411480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lead is stored once with the right </a:t>
            </a:r>
            <a:pPr indent="0" marL="0">
              <a:buNone/>
            </a:pPr>
            <a:r>
              <a:rPr lang="en-US" sz="1200" b="1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segment</a:t>
            </a:r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each person got the email meant for their band.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No-Code Low-Code · Module 2  |  12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384048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WF2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274320"/>
            <a:ext cx="7543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 Approval</a:t>
            </a:r>
            <a:pPr indent="0" marL="0">
              <a:buNone/>
            </a:pPr>
            <a:r>
              <a:rPr lang="en-US" sz="24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Overview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8229600" cy="1554480"/>
          </a:xfrm>
          <a:prstGeom prst="roundRect">
            <a:avLst>
              <a:gd name="adj" fmla="val 5882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371600"/>
            <a:ext cx="856923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5DAE3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3094" y="1490472"/>
            <a:ext cx="310896" cy="3108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1984248"/>
            <a:ext cx="113124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Trigger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 claim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1524435" y="1645920"/>
            <a:ext cx="256032" cy="0"/>
          </a:xfrm>
          <a:prstGeom prst="line">
            <a:avLst/>
          </a:prstGeom>
          <a:noFill/>
          <a:ln w="15875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1807899" y="1371600"/>
            <a:ext cx="856923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5DAE3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0913" y="1490472"/>
            <a:ext cx="310896" cy="31089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670739" y="1984248"/>
            <a:ext cx="113124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Fields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expense_id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2692255" y="1645920"/>
            <a:ext cx="256032" cy="0"/>
          </a:xfrm>
          <a:prstGeom prst="line">
            <a:avLst/>
          </a:prstGeom>
          <a:noFill/>
          <a:ln w="15875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2975719" y="1371600"/>
            <a:ext cx="856923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5DAE3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8733" y="1490472"/>
            <a:ext cx="310896" cy="31089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2838559" y="1984248"/>
            <a:ext cx="113124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Insert: Pending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3860074" y="1645920"/>
            <a:ext cx="256032" cy="0"/>
          </a:xfrm>
          <a:prstGeom prst="line">
            <a:avLst/>
          </a:prstGeom>
          <a:noFill/>
          <a:ln w="15875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4143538" y="1371600"/>
            <a:ext cx="856923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5DAE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6552" y="1490472"/>
            <a:ext cx="310896" cy="310896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4006378" y="1984248"/>
            <a:ext cx="113124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amount &gt; 5000</a:t>
            </a:r>
            <a:endParaRPr lang="en-US" sz="1050" dirty="0"/>
          </a:p>
        </p:txBody>
      </p:sp>
      <p:sp>
        <p:nvSpPr>
          <p:cNvPr id="22" name="Shape 16"/>
          <p:cNvSpPr/>
          <p:nvPr/>
        </p:nvSpPr>
        <p:spPr>
          <a:xfrm>
            <a:off x="5027894" y="1645920"/>
            <a:ext cx="256032" cy="0"/>
          </a:xfrm>
          <a:prstGeom prst="line">
            <a:avLst/>
          </a:prstGeom>
          <a:noFill/>
          <a:ln w="15875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23" name="Shape 17"/>
          <p:cNvSpPr/>
          <p:nvPr/>
        </p:nvSpPr>
        <p:spPr>
          <a:xfrm>
            <a:off x="5311358" y="1371600"/>
            <a:ext cx="856923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5DAE3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84371" y="1490472"/>
            <a:ext cx="310896" cy="310896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5174198" y="1984248"/>
            <a:ext cx="113124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Gmail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and wait</a:t>
            </a:r>
            <a:endParaRPr lang="en-US" sz="1050" dirty="0"/>
          </a:p>
        </p:txBody>
      </p:sp>
      <p:sp>
        <p:nvSpPr>
          <p:cNvPr id="26" name="Shape 19"/>
          <p:cNvSpPr/>
          <p:nvPr/>
        </p:nvSpPr>
        <p:spPr>
          <a:xfrm>
            <a:off x="6195713" y="1645920"/>
            <a:ext cx="256032" cy="0"/>
          </a:xfrm>
          <a:prstGeom prst="line">
            <a:avLst/>
          </a:prstGeom>
          <a:noFill/>
          <a:ln w="15875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27" name="Shape 20"/>
          <p:cNvSpPr/>
          <p:nvPr/>
        </p:nvSpPr>
        <p:spPr>
          <a:xfrm>
            <a:off x="6479177" y="1371600"/>
            <a:ext cx="856923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5DAE3"/>
            </a:solidFill>
            <a:prstDash val="solid"/>
          </a:ln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52191" y="1490472"/>
            <a:ext cx="310896" cy="310896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6342017" y="1984248"/>
            <a:ext cx="113124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status</a:t>
            </a:r>
            <a:endParaRPr lang="en-US" sz="1050" dirty="0"/>
          </a:p>
        </p:txBody>
      </p:sp>
      <p:sp>
        <p:nvSpPr>
          <p:cNvPr id="30" name="Shape 22"/>
          <p:cNvSpPr/>
          <p:nvPr/>
        </p:nvSpPr>
        <p:spPr>
          <a:xfrm>
            <a:off x="7363533" y="1645920"/>
            <a:ext cx="256032" cy="0"/>
          </a:xfrm>
          <a:prstGeom prst="line">
            <a:avLst/>
          </a:prstGeom>
          <a:noFill/>
          <a:ln w="15875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31" name="Shape 23"/>
          <p:cNvSpPr/>
          <p:nvPr/>
        </p:nvSpPr>
        <p:spPr>
          <a:xfrm>
            <a:off x="7646997" y="1371600"/>
            <a:ext cx="856923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5DAE3"/>
            </a:solidFill>
            <a:prstDash val="solid"/>
          </a:ln>
        </p:spPr>
      </p:sp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20010" y="1490472"/>
            <a:ext cx="310896" cy="310896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7509837" y="1984248"/>
            <a:ext cx="113124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Gmail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employee</a:t>
            </a:r>
            <a:endParaRPr lang="en-US" sz="1050" dirty="0"/>
          </a:p>
        </p:txBody>
      </p:sp>
      <p:sp>
        <p:nvSpPr>
          <p:cNvPr id="34" name="Text 25"/>
          <p:cNvSpPr txBox="1"/>
          <p:nvPr/>
        </p:nvSpPr>
        <p:spPr>
          <a:xfrm>
            <a:off x="457200" y="2971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1000" dirty="0"/>
          </a:p>
        </p:txBody>
      </p:sp>
      <p:sp>
        <p:nvSpPr>
          <p:cNvPr id="35" name="Text 26"/>
          <p:cNvSpPr txBox="1"/>
          <p:nvPr/>
        </p:nvSpPr>
        <p:spPr>
          <a:xfrm>
            <a:off x="457200" y="3218688"/>
            <a:ext cx="3840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 submit expense claims. Small claims are approved automatically; claims above Rs 5,000 wait until the manager clicks </a:t>
            </a:r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pPr indent="0" marL="0">
              <a:buNone/>
            </a:pPr>
            <a:r>
              <a:rPr lang="en-US" sz="13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or </a:t>
            </a:r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Decline</a:t>
            </a:r>
            <a:pPr indent="0" marL="0">
              <a:buNone/>
            </a:pPr>
            <a:r>
              <a:rPr lang="en-US" sz="13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an email. MySQL keeps the status and the employee hears the result.</a:t>
            </a:r>
            <a:endParaRPr lang="en-US" sz="1300" dirty="0"/>
          </a:p>
        </p:txBody>
      </p:sp>
      <p:sp>
        <p:nvSpPr>
          <p:cNvPr id="36" name="Text 27"/>
          <p:cNvSpPr txBox="1"/>
          <p:nvPr/>
        </p:nvSpPr>
        <p:spPr>
          <a:xfrm>
            <a:off x="4754880" y="2971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WILL LEARN</a:t>
            </a:r>
            <a:endParaRPr lang="en-US" sz="1000" dirty="0"/>
          </a:p>
        </p:txBody>
      </p:sp>
      <p:sp>
        <p:nvSpPr>
          <p:cNvPr id="37" name="Text 28"/>
          <p:cNvSpPr txBox="1"/>
          <p:nvPr/>
        </p:nvSpPr>
        <p:spPr>
          <a:xfrm>
            <a:off x="4754880" y="3218688"/>
            <a:ext cx="3931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with </a:t>
            </a:r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and Wait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branches that rejoin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</a:t>
            </a:r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matched on a key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fields: Pending → Approved / Rejected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No-Code Low-Code · Module 2  |  13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384048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WF2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274320"/>
            <a:ext cx="7543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 Approval</a:t>
            </a:r>
            <a:pPr indent="0" marL="0">
              <a:buNone/>
            </a:pPr>
            <a:r>
              <a:rPr lang="en-US" sz="24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Build it</a:t>
            </a:r>
            <a:endParaRPr lang="en-US" sz="2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6309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settings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 Trigger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Fields: Employee name, Email, Amount (number), Category (Travel, Meals, Supplies), Description.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 Fields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expense_id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=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EXP-{{ $now.toFormat('yyMMdd') }}-{{ $execution.id }}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=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Pending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plus the form fields in lowercase.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MySQL: Insert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Table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expenses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map automatically.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{{ $('Edit Fields').item.json.amount }}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 greater than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5000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(Number).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Gmail (true)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Send and Wait for Response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response type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Approval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to the manager. Message shows employee, amount and description.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MySQL: Update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Table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expenses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match on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expense_id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;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=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{{ $json.data.approved ? 'Approved' : 'Rejected' }}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 The false branch updates to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Approved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directly.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Gmail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Tell the employee the result; read their email from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$('Edit Fields')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No-Code Low-Code · Module 2  |  14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384048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WF2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274320"/>
            <a:ext cx="7543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 Approval</a:t>
            </a:r>
            <a:pPr indent="0" marL="0">
              <a:buNone/>
            </a:pPr>
            <a:r>
              <a:rPr lang="en-US" sz="24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Run &amp; verify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1704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1143000"/>
            <a:ext cx="3429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a Rs 1,200 claim: approved at once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719072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1719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1691640"/>
            <a:ext cx="3429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a Rs 12,000 claim: the run pauses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267712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2677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2240280"/>
            <a:ext cx="3429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 clicks </a:t>
            </a:r>
            <a:pPr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 email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816352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28163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2788920"/>
            <a:ext cx="3429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 resumes; the employee gets the result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364992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7200" y="33649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14400" y="3337560"/>
            <a:ext cx="3429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the </a:t>
            </a:r>
            <a:pPr indent="0" marL="0">
              <a:buNone/>
            </a:pPr>
            <a:r>
              <a:rPr lang="en-US" sz="1200" b="1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expenses</a:t>
            </a:r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table (right)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617720" y="109728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expenses table after both claims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617720" y="1417320"/>
            <a:ext cx="4069080" cy="1668780"/>
          </a:xfrm>
          <a:prstGeom prst="roundRect">
            <a:avLst>
              <a:gd name="adj" fmla="val 3288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54880" y="1554480"/>
            <a:ext cx="3794760" cy="1394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expense_id, amount, status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FROM expenses ORDER BY id DESC LIMIT 2;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+---------------+--------+----------+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expense_id    | amount | status  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+---------------+--------+----------+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EXP-260929-58 |  12000 | Approved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EXP-260929-57 |   1200 | Approved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+---------------+--------+----------+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4114800"/>
            <a:ext cx="8229600" cy="54864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4242816"/>
            <a:ext cx="292608" cy="292608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1051560" y="411480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it waits, the run shows as </a:t>
            </a:r>
            <a:pPr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Waiting</a:t>
            </a:r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under Executions. n8n resumes it when the manager responds, even hours later.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No-Code Low-Code · Module 2  |  15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384048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WF3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274320"/>
            <a:ext cx="7543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Sales Report</a:t>
            </a:r>
            <a:pPr indent="0" marL="0">
              <a:buNone/>
            </a:pPr>
            <a:r>
              <a:rPr lang="en-US" sz="24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Overview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8229600" cy="1554480"/>
          </a:xfrm>
          <a:prstGeom prst="roundRect">
            <a:avLst>
              <a:gd name="adj" fmla="val 5882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371600"/>
            <a:ext cx="10515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5DAE3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0412" y="1490472"/>
            <a:ext cx="310896" cy="3108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1984248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9:00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1719072" y="1645920"/>
            <a:ext cx="256032" cy="0"/>
          </a:xfrm>
          <a:prstGeom prst="line">
            <a:avLst/>
          </a:prstGeom>
          <a:noFill/>
          <a:ln w="15875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2002536" y="1371600"/>
            <a:ext cx="10515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5DAE3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2868" y="1490472"/>
            <a:ext cx="310896" cy="31089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865376" y="1984248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Yesterday's sales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3081528" y="1645920"/>
            <a:ext cx="256032" cy="0"/>
          </a:xfrm>
          <a:prstGeom prst="line">
            <a:avLst/>
          </a:prstGeom>
          <a:noFill/>
          <a:ln w="15875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3364992" y="1371600"/>
            <a:ext cx="10515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5DAE3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5324" y="1490472"/>
            <a:ext cx="310896" cy="31089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3227832" y="1984248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→ one list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4443984" y="1645920"/>
            <a:ext cx="256032" cy="0"/>
          </a:xfrm>
          <a:prstGeom prst="line">
            <a:avLst/>
          </a:prstGeom>
          <a:noFill/>
          <a:ln w="15875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4727448" y="1371600"/>
            <a:ext cx="10515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5DAE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97780" y="1490472"/>
            <a:ext cx="310896" cy="310896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4590288" y="1984248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Docs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doc</a:t>
            </a:r>
            <a:endParaRPr lang="en-US" sz="1050" dirty="0"/>
          </a:p>
        </p:txBody>
      </p:sp>
      <p:sp>
        <p:nvSpPr>
          <p:cNvPr id="22" name="Shape 16"/>
          <p:cNvSpPr/>
          <p:nvPr/>
        </p:nvSpPr>
        <p:spPr>
          <a:xfrm>
            <a:off x="5806440" y="1645920"/>
            <a:ext cx="256032" cy="0"/>
          </a:xfrm>
          <a:prstGeom prst="line">
            <a:avLst/>
          </a:prstGeom>
          <a:noFill/>
          <a:ln w="15875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23" name="Shape 17"/>
          <p:cNvSpPr/>
          <p:nvPr/>
        </p:nvSpPr>
        <p:spPr>
          <a:xfrm>
            <a:off x="6089904" y="1371600"/>
            <a:ext cx="10515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5DAE3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0236" y="1490472"/>
            <a:ext cx="310896" cy="310896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5952744" y="1984248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Docs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text</a:t>
            </a:r>
            <a:endParaRPr lang="en-US" sz="1050" dirty="0"/>
          </a:p>
        </p:txBody>
      </p:sp>
      <p:sp>
        <p:nvSpPr>
          <p:cNvPr id="26" name="Shape 19"/>
          <p:cNvSpPr/>
          <p:nvPr/>
        </p:nvSpPr>
        <p:spPr>
          <a:xfrm>
            <a:off x="7168896" y="1645920"/>
            <a:ext cx="256032" cy="0"/>
          </a:xfrm>
          <a:prstGeom prst="line">
            <a:avLst/>
          </a:prstGeom>
          <a:noFill/>
          <a:ln w="15875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27" name="Shape 20"/>
          <p:cNvSpPr/>
          <p:nvPr/>
        </p:nvSpPr>
        <p:spPr>
          <a:xfrm>
            <a:off x="7452360" y="1371600"/>
            <a:ext cx="10515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5DAE3"/>
            </a:solidFill>
            <a:prstDash val="solid"/>
          </a:ln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22692" y="1490472"/>
            <a:ext cx="310896" cy="310896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315200" y="1984248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Gmail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link</a:t>
            </a:r>
            <a:endParaRPr lang="en-US" sz="1050" dirty="0"/>
          </a:p>
        </p:txBody>
      </p:sp>
      <p:sp>
        <p:nvSpPr>
          <p:cNvPr id="30" name="Text 22"/>
          <p:cNvSpPr txBox="1"/>
          <p:nvPr/>
        </p:nvSpPr>
        <p:spPr>
          <a:xfrm>
            <a:off x="457200" y="2971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1000" dirty="0"/>
          </a:p>
        </p:txBody>
      </p:sp>
      <p:sp>
        <p:nvSpPr>
          <p:cNvPr id="31" name="Text 23"/>
          <p:cNvSpPr txBox="1"/>
          <p:nvPr/>
        </p:nvSpPr>
        <p:spPr>
          <a:xfrm>
            <a:off x="457200" y="3218688"/>
            <a:ext cx="3840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morning at 9, read yesterday's sales from MySQL, summarise them by region, write the summary into a new Google Doc and email the link to the sales manager.</a:t>
            </a:r>
            <a:endParaRPr lang="en-US" sz="1300" dirty="0"/>
          </a:p>
        </p:txBody>
      </p:sp>
      <p:sp>
        <p:nvSpPr>
          <p:cNvPr id="32" name="Text 24"/>
          <p:cNvSpPr txBox="1"/>
          <p:nvPr/>
        </p:nvSpPr>
        <p:spPr>
          <a:xfrm>
            <a:off x="4754880" y="2971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WILL LEARN</a:t>
            </a:r>
            <a:endParaRPr lang="en-US" sz="1000" dirty="0"/>
          </a:p>
        </p:txBody>
      </p:sp>
      <p:sp>
        <p:nvSpPr>
          <p:cNvPr id="33" name="Text 25"/>
          <p:cNvSpPr txBox="1"/>
          <p:nvPr/>
        </p:nvSpPr>
        <p:spPr>
          <a:xfrm>
            <a:off x="4754880" y="3218688"/>
            <a:ext cx="3931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Trigger and time zones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with </a:t>
            </a:r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a SQL query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Aggregating many items into one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Docs: create, then insert text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No-Code Low-Code · Module 2  |  16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384048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WF3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274320"/>
            <a:ext cx="7543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Sales Report</a:t>
            </a:r>
            <a:pPr indent="0" marL="0">
              <a:buNone/>
            </a:pPr>
            <a:r>
              <a:rPr lang="en-US" sz="24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Build it</a:t>
            </a:r>
            <a:endParaRPr lang="en-US" sz="2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6309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settings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Schedule Trigger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day at 9:00 (uses the container's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GENERIC_TIMEZONE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).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MySQL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Execute a SQL query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: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SELECT region, COUNT(*) AS orders, SUM(amount) AS revenue FROM sales WHERE sale_date = CURDATE() - INTERVAL 1 DAY GROUP BY region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Aggregate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Item Data (Into a Single List)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output field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rows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Docs: Create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Rename the node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Create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 Title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Sales report {{ $today.minus({days: 1}).toFormat('dd MMM yyyy') }}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choose a Drive folder.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Docs: Update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 ID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{{ $json.id }}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action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Insert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text: the report text (expression on the next slide).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Gmail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the manager: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https://docs.google.com/document/d/{{ $('Create').item.json.id }}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4160520"/>
            <a:ext cx="8229600" cy="502920"/>
          </a:xfrm>
          <a:prstGeom prst="roundRect">
            <a:avLst>
              <a:gd name="adj" fmla="val 10909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41605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</a:t>
            </a:r>
            <a:pPr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workflow</a:t>
            </a:r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test now — there is no need to wait until 9 am.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No-Code Low-Code · Module 2  |  17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384048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WF3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274320"/>
            <a:ext cx="7543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Sales Report</a:t>
            </a:r>
            <a:pPr indent="0" marL="0">
              <a:buNone/>
            </a:pPr>
            <a:r>
              <a:rPr lang="en-US" sz="24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Run &amp; verify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1704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1143000"/>
            <a:ext cx="3429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the workflow manually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773936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17739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1746504"/>
            <a:ext cx="3429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new document in Google Drive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377440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377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2350008"/>
            <a:ext cx="3429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the manager's inbox for the link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980944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29809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2953512"/>
            <a:ext cx="3429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it: tomorrow it runs by itself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617720" y="109728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text (Insert text expression)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617720" y="1417320"/>
            <a:ext cx="4069080" cy="2040636"/>
          </a:xfrm>
          <a:prstGeom prst="roundRect">
            <a:avLst>
              <a:gd name="adj" fmla="val 2689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54880" y="1554480"/>
            <a:ext cx="3794760" cy="1766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Sales report for {{ $today.minus({days: 1})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.toFormat('dd MMM yyyy') }}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 $('Aggregate').item.json.rows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.map(r =&gt; r.region + ': ' + r.orders +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' orders, Rs ' + r.revenue)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.join('\n') }}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Result in the document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West : 42 orders, Rs 318500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North: 35 orders, Rs 244000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South: 28 orders, Rs 196750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" y="4114800"/>
            <a:ext cx="8229600" cy="54864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4242816"/>
            <a:ext cx="292608" cy="292608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1051560" y="411480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dated Google Doc with one line per region, and an email with its link — every day, with no one touching it.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No-Code Low-Code · Module 2  |  18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Troubleshooting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errors students hit most often, and how to fix them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4023360" cy="1005840"/>
          </a:xfrm>
          <a:prstGeom prst="roundRect">
            <a:avLst>
              <a:gd name="adj" fmla="val 5455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426464"/>
            <a:ext cx="237744" cy="23774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60120" y="137160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ECONNREFUSED 127.0.0.1:3306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1719072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host </a:t>
            </a:r>
            <a:pPr indent="0" marL="0">
              <a:buNone/>
            </a:pPr>
            <a:r>
              <a:rPr lang="en-US" sz="1100" b="1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host.docker.internal</a:t>
            </a:r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not </a:t>
            </a:r>
            <a:pPr indent="0" marL="0">
              <a:buNone/>
            </a:pPr>
            <a:r>
              <a:rPr lang="en-US" sz="1100" b="1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localhost</a:t>
            </a:r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n8n and MySQL are separate containers.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663440" y="1280160"/>
            <a:ext cx="4023360" cy="1005840"/>
          </a:xfrm>
          <a:prstGeom prst="roundRect">
            <a:avLst>
              <a:gd name="adj" fmla="val 5455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8032" y="1426464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166360" y="137160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Access denied for user 'n8n'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5166360" y="1719072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and password must match the </a:t>
            </a:r>
            <a:pPr indent="0" marL="0">
              <a:buNone/>
            </a:pPr>
            <a:r>
              <a:rPr lang="en-US" sz="1100" b="1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</a:t>
            </a:r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values. Changed them later? Recreate the container and volume.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57200" y="2414016"/>
            <a:ext cx="4023360" cy="1005840"/>
          </a:xfrm>
          <a:prstGeom prst="roundRect">
            <a:avLst>
              <a:gd name="adj" fmla="val 5455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2560320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960120" y="2505456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 is already allocated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960120" y="2852928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Another MySQL is using 3306. Publish </a:t>
            </a:r>
            <a:pPr indent="0" marL="0">
              <a:buNone/>
            </a:pPr>
            <a:r>
              <a:rPr lang="en-US" sz="1100" b="1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-p 3307:3306</a:t>
            </a:r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use port 3307 in the credential.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4663440" y="2414016"/>
            <a:ext cx="4023360" cy="1005840"/>
          </a:xfrm>
          <a:prstGeom prst="roundRect">
            <a:avLst>
              <a:gd name="adj" fmla="val 5455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2560320"/>
            <a:ext cx="237744" cy="237744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166360" y="2505456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Loading the schema fails</a:t>
            </a:r>
            <a:endParaRPr lang="en-US" sz="1200" dirty="0"/>
          </a:p>
        </p:txBody>
      </p:sp>
      <p:sp>
        <p:nvSpPr>
          <p:cNvPr id="20" name="Text 14"/>
          <p:cNvSpPr txBox="1"/>
          <p:nvPr/>
        </p:nvSpPr>
        <p:spPr>
          <a:xfrm>
            <a:off x="5166360" y="2852928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first start MySQL needs ~20 seconds to initialise. Wait, then run it again.</a:t>
            </a:r>
            <a:endParaRPr lang="en-US" sz="1100" dirty="0"/>
          </a:p>
        </p:txBody>
      </p:sp>
      <p:sp>
        <p:nvSpPr>
          <p:cNvPr id="21" name="Shape 15"/>
          <p:cNvSpPr/>
          <p:nvPr/>
        </p:nvSpPr>
        <p:spPr>
          <a:xfrm>
            <a:off x="457200" y="3547872"/>
            <a:ext cx="4023360" cy="1005840"/>
          </a:xfrm>
          <a:prstGeom prst="roundRect">
            <a:avLst>
              <a:gd name="adj" fmla="val 5455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3694176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60120" y="3639312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buttons don't open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60120" y="3986784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links point to </a:t>
            </a:r>
            <a:pPr indent="0" marL="0">
              <a:buNone/>
            </a:pPr>
            <a:r>
              <a:rPr lang="en-US" sz="1100" b="1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localhost:5678</a:t>
            </a:r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 open them on the machine running n8n.</a:t>
            </a:r>
            <a:endParaRPr lang="en-US" sz="1100" dirty="0"/>
          </a:p>
        </p:txBody>
      </p:sp>
      <p:sp>
        <p:nvSpPr>
          <p:cNvPr id="25" name="Shape 18"/>
          <p:cNvSpPr/>
          <p:nvPr/>
        </p:nvSpPr>
        <p:spPr>
          <a:xfrm>
            <a:off x="4663440" y="3547872"/>
            <a:ext cx="4023360" cy="1005840"/>
          </a:xfrm>
          <a:prstGeom prst="roundRect">
            <a:avLst>
              <a:gd name="adj" fmla="val 5455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8032" y="3694176"/>
            <a:ext cx="237744" cy="237744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5166360" y="3639312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Expression shows </a:t>
            </a:r>
            <a:pPr indent="0" marL="0">
              <a:buNone/>
            </a:pPr>
            <a:r>
              <a:rPr lang="en-US" sz="1200" b="1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undefined</a:t>
            </a:r>
            <a:endParaRPr lang="en-US" sz="1200" dirty="0"/>
          </a:p>
        </p:txBody>
      </p:sp>
      <p:sp>
        <p:nvSpPr>
          <p:cNvPr id="28" name="Text 20"/>
          <p:cNvSpPr txBox="1"/>
          <p:nvPr/>
        </p:nvSpPr>
        <p:spPr>
          <a:xfrm>
            <a:off x="5166360" y="3986784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 are case-sensitive (</a:t>
            </a:r>
            <a:pPr indent="0" marL="0">
              <a:buNone/>
            </a:pPr>
            <a:r>
              <a:rPr lang="en-US" sz="1100" b="1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Email</a:t>
            </a:r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≠ </a:t>
            </a:r>
            <a:pPr indent="0" marL="0">
              <a:buNone/>
            </a:pPr>
            <a:r>
              <a:rPr lang="en-US" sz="1100" b="1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email</a:t>
            </a:r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 Drag the field in from the input panel.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No-Code Low-Code · Module 2  |  19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Finished early? Extend what you built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2560320" cy="3291840"/>
          </a:xfrm>
          <a:prstGeom prst="roundRect">
            <a:avLst>
              <a:gd name="adj" fmla="val 357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1554480"/>
            <a:ext cx="868680" cy="274320"/>
          </a:xfrm>
          <a:prstGeom prst="roundRect">
            <a:avLst>
              <a:gd name="adj" fmla="val 16667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55448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96596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lead-source report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6060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Monday, email a count of last week's leads by </a:t>
            </a:r>
            <a:pPr indent="0" marL="0">
              <a:buNone/>
            </a:pPr>
            <a:r>
              <a:rPr lang="en-US" sz="1200" b="1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</a:t>
            </a:r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7947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Hint: </a:t>
            </a:r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SQL with </a:t>
            </a:r>
            <a:pPr indent="0" marL="0">
              <a:buNone/>
            </a:pPr>
            <a:r>
              <a:rPr lang="en-US" sz="1100" b="1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 source</a:t>
            </a:r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then Aggregate → Gmail.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91840" y="1325880"/>
            <a:ext cx="2560320" cy="3291840"/>
          </a:xfrm>
          <a:prstGeom prst="roundRect">
            <a:avLst>
              <a:gd name="adj" fmla="val 357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20440" y="1554480"/>
            <a:ext cx="868680" cy="274320"/>
          </a:xfrm>
          <a:prstGeom prst="roundRect">
            <a:avLst>
              <a:gd name="adj" fmla="val 1666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520440" y="155448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3520440" y="196596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Chase pending claims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520440" y="26060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evening, email managers the claims still </a:t>
            </a:r>
            <a:pPr indent="0" marL="0">
              <a:buNone/>
            </a:pPr>
            <a:r>
              <a:rPr lang="en-US" sz="1200" b="1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Pending</a:t>
            </a:r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after 2 days.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3520440" y="37947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Hint: </a:t>
            </a:r>
            <a:pPr indent="0" marL="0">
              <a:buNone/>
            </a:pPr>
            <a:r>
              <a:rPr lang="en-US" sz="1100" b="1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status = 'Pending' AND created_at &lt; NOW() - INTERVAL 2 DAY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26480" y="1325880"/>
            <a:ext cx="2560320" cy="3291840"/>
          </a:xfrm>
          <a:prstGeom prst="roundRect">
            <a:avLst>
              <a:gd name="adj" fmla="val 357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55080" y="1554480"/>
            <a:ext cx="868680" cy="274320"/>
          </a:xfrm>
          <a:prstGeom prst="roundRect">
            <a:avLst>
              <a:gd name="adj" fmla="val 16667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55080" y="155448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355080" y="196596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hot leads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355080" y="26060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append every hot lead to a Google Sheet that the sales team can see.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355080" y="37947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Hint: </a:t>
            </a:r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second connection from the Hot output of the Switch.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No-Code Low-Code · Module 2  |  20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Summary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built today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325880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WF1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28016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Capture &amp; Qualification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→ clean → MySQL → Switch → 3 emails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2194560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94560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WF2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14884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 Approval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→ Gmail approval → MySQL update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063240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063240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WF3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301752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Sales Report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→ SQL → Google Doc → Gmail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754880" y="1280160"/>
            <a:ext cx="3931920" cy="2148840"/>
          </a:xfrm>
          <a:prstGeom prst="roundRect">
            <a:avLst>
              <a:gd name="adj" fmla="val 4255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983480" y="1417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983480" y="1737360"/>
            <a:ext cx="3520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rules map directly to IF and Switch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any earlier step with </a:t>
            </a:r>
            <a:pPr indent="0" marL="0"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$('Node').item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and Wait keeps a human in the loop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containers talk via </a:t>
            </a:r>
            <a:pPr indent="0" marL="0"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host.docker.internal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754880" y="3611880"/>
            <a:ext cx="3931920" cy="1005840"/>
          </a:xfrm>
          <a:prstGeom prst="roundRect">
            <a:avLst>
              <a:gd name="adj" fmla="val 9091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983480" y="3721608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3: Connecting workflows to external APIs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2: Business Workflow Automation with n8n</dc:title>
  <dc:subject>PptxGenJS Presentation</dc:subject>
  <dc:creator>Atul Kahate</dc:creator>
  <cp:lastModifiedBy>Atul Kahate</cp:lastModifiedBy>
  <cp:revision>1</cp:revision>
  <dcterms:created xsi:type="dcterms:W3CDTF">2026-09-29T10:54:05Z</dcterms:created>
  <dcterms:modified xsi:type="dcterms:W3CDTF">2026-09-29T10:54:05Z</dcterms:modified>
</cp:coreProperties>
</file>