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Raleway" panose="020F0502020204030204" pitchFamily="2" charset="0"/>
      <p:regular r:id="rId37"/>
    </p:embeddedFont>
    <p:embeddedFont>
      <p:font typeface="Raleway Light" pitchFamily="2" charset="0"/>
      <p:regular r:id="rId38"/>
    </p:embeddedFont>
    <p:embeddedFont>
      <p:font typeface="Roboto" panose="02000000000000000000" pitchFamily="2" charset="0"/>
      <p:regular r:id="rId39"/>
      <p:italic r:id="rId40"/>
    </p:embeddedFont>
    <p:embeddedFont>
      <p:font typeface="Roboto Bold" panose="02000000000000000000" charset="0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4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 Fundamentals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— Module 1</a:t>
            </a:r>
            <a:endParaRPr lang="en-US" sz="1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C13E08-011E-9D65-8B20-2E41556DED00}"/>
              </a:ext>
            </a:extLst>
          </p:cNvPr>
          <p:cNvSpPr/>
          <p:nvPr/>
        </p:nvSpPr>
        <p:spPr>
          <a:xfrm>
            <a:off x="5233360" y="453648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Atul Kahate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61475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1560116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Generative AI &amp; LLMs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the foundations of generative AI and large language models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2861370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Types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475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Distinguish between an LLM application, workflow, and AI agent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162623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Mechanics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1475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reasoning, planning, tools, memory, and actions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463877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 &amp; Practice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61475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suitable use cases and build a simple LLM-powered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29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Traditional Software to Agentic AI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31579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57663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Software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985320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→ Program Logic → Output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Follows programmed rules exactly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631579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57663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Generative AI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985320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→ LLM → Generated Output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and transforms information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631579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57663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985320"/>
            <a:ext cx="3244868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 → Reason → Plan → Act → Observe → Adapt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Decides what actions are required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30750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Generative AI?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677815"/>
            <a:ext cx="3504219" cy="215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systems that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create new content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learned patterns from vast training data.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 types: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text, code, images, audio, video, and structured data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Common tasks: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5002510"/>
            <a:ext cx="350421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Answer, summarize, generate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Extract, classify, transform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475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LLM?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687612"/>
            <a:ext cx="3509081" cy="2077839"/>
          </a:xfrm>
          <a:prstGeom prst="roundRect">
            <a:avLst>
              <a:gd name="adj" fmla="val 376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2905" y="1899047"/>
            <a:ext cx="30862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 Language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2905" y="2372916"/>
            <a:ext cx="308622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 vast amounts of text and code — understands natural-language instructions and generates text, code, summaries, and reasoning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948609"/>
            <a:ext cx="3509081" cy="2077839"/>
          </a:xfrm>
          <a:prstGeom prst="roundRect">
            <a:avLst>
              <a:gd name="adj" fmla="val 376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905" y="4160044"/>
            <a:ext cx="308622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Distinction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2905" y="4633912"/>
            <a:ext cx="308622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reasoning &amp; generation capability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LLM + ability to decide and act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21" y="1914723"/>
            <a:ext cx="6905849" cy="38846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977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Basic LLM Application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423888"/>
            <a:ext cx="6296860" cy="4369197"/>
          </a:xfrm>
          <a:prstGeom prst="roundRect">
            <a:avLst>
              <a:gd name="adj" fmla="val 18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1430238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161925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02793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a question or request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7825" y="2519363"/>
            <a:ext cx="6284160" cy="1089124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667825" y="251936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856832" y="270837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6832" y="3117056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Crafts prompt + context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3608487"/>
            <a:ext cx="6284160" cy="1089124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360848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379749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20618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a response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7825" y="469761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825" y="469761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Text 15"/>
          <p:cNvSpPr/>
          <p:nvPr/>
        </p:nvSpPr>
        <p:spPr>
          <a:xfrm>
            <a:off x="856832" y="488662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56832" y="529530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Chatbot, summarizer, translator, code generator, document Q&amp;A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1475" y="600571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application controls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 to ask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LLM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how to use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response.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3730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AI Workflow?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4041"/>
            <a:ext cx="350421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predefined sequence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AI and software operations — defined entirely by the developer in advance.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difference from an agent: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sequence is fixed, not dynamically determined.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681240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67982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898529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developer defines the path. The system follows it.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1940520"/>
            <a:ext cx="6903269" cy="29769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97683" y="4352937"/>
            <a:ext cx="1566138" cy="19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Report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97683" y="3663819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Summarize &amp; Classify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97683" y="2981661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 Text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97683" y="2292543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Document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45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Application vs. Workflow vs. Agent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Application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07296"/>
            <a:ext cx="3106164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or few LLM calls, simple logic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 chatbot, summarizer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Workflow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07296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steps, explicit orchestration, fixed sequence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 document processing pipeline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Agent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07296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decisions, tools, planning, and autonomous action toward a goal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92471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AI Agent?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295029"/>
            <a:ext cx="350421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software system that uses an AI model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pursue a goal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deciding what actions to take.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following a fixed sequence: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15712" y="4057452"/>
            <a:ext cx="3830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should I do next?"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3887391"/>
            <a:ext cx="25399" cy="642541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8032251" y="4742557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continuously evaluates its situation and selects its own next step — making it fundamentally different from a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20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Agentic Loop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467941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667706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 Goal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667706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 Plan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5035718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 &amp; Observe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5035718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 &amp; Reason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747246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loop repeats until the goal is achieved or human intervention is needed. Core concept: the agent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observes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result,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decides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to do next.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73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Components of an AI Agent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72097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217209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2580779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Interprets goals, reasons, plans, and selects actions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61221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26122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3669903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search, APIs, databases, file access — real-world capabilities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350345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35034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 &amp; State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475902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Retains context within and across interactions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439470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2062" y="54394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Environment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942062" y="58481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actions occur; observations feed back to the agent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614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Tools: Giving Agents the Ability to Act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780903"/>
            <a:ext cx="3565138" cy="973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function or external capability the agent can invoke to interact with the world.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Examples: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web search, database query, file reading, email, API calls, Python execution, calendar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460" y="1317129"/>
            <a:ext cx="6936011" cy="39015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488583"/>
            <a:ext cx="10868745" cy="837704"/>
          </a:xfrm>
          <a:prstGeom prst="roundRect">
            <a:avLst>
              <a:gd name="adj" fmla="val 75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5494933"/>
            <a:ext cx="5428023" cy="825004"/>
          </a:xfrm>
          <a:custGeom>
            <a:avLst/>
            <a:gdLst/>
            <a:ahLst/>
            <a:cxnLst/>
            <a:rect l="l" t="t" r="r" b="b"/>
            <a:pathLst>
              <a:path w="5428023" h="825004">
                <a:moveTo>
                  <a:pt x="52718" y="0"/>
                </a:moveTo>
                <a:lnTo>
                  <a:pt x="5428023" y="0"/>
                </a:lnTo>
                <a:lnTo>
                  <a:pt x="5428023" y="825004"/>
                </a:lnTo>
                <a:lnTo>
                  <a:pt x="52718" y="825004"/>
                </a:lnTo>
                <a:arcTo wR="52718" hR="52720" stAng="5400000" swAng="5400000"/>
                <a:lnTo>
                  <a:pt x="0" y="52720"/>
                </a:lnTo>
                <a:arcTo wR="52718" hR="52720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18435" y="5645547"/>
            <a:ext cx="512680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Tools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8435" y="5952827"/>
            <a:ext cx="512680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+ Generate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95848" y="5494933"/>
            <a:ext cx="5428023" cy="825004"/>
          </a:xfrm>
          <a:custGeom>
            <a:avLst/>
            <a:gdLst/>
            <a:ahLst/>
            <a:cxnLst/>
            <a:rect l="l" t="t" r="r" b="b"/>
            <a:pathLst>
              <a:path w="5428023" h="825004">
                <a:moveTo>
                  <a:pt x="0" y="0"/>
                </a:moveTo>
                <a:lnTo>
                  <a:pt x="5375304" y="0"/>
                </a:lnTo>
                <a:arcTo wR="52718" hR="52720" stAng="16200000" swAng="5400000"/>
                <a:lnTo>
                  <a:pt x="5428023" y="772284"/>
                </a:lnTo>
                <a:arcTo wR="52718" hR="52720" stAng="0" swAng="5400000"/>
                <a:lnTo>
                  <a:pt x="0" y="82500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48" y="5494933"/>
            <a:ext cx="19050" cy="82500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6246458" y="5645547"/>
            <a:ext cx="512680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Tools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246458" y="5952827"/>
            <a:ext cx="512680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+ Act + Observe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8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Planning: Static vs. Dynamic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9132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2099568"/>
            <a:ext cx="5316206" cy="1813719"/>
          </a:xfrm>
          <a:custGeom>
            <a:avLst/>
            <a:gdLst/>
            <a:ahLst/>
            <a:cxnLst/>
            <a:rect l="l" t="t" r="r" b="b"/>
            <a:pathLst>
              <a:path w="5316206" h="1813719">
                <a:moveTo>
                  <a:pt x="66156" y="0"/>
                </a:moveTo>
                <a:lnTo>
                  <a:pt x="5250050" y="0"/>
                </a:lnTo>
                <a:arcTo wR="66156" hR="66158" stAng="16200000" swAng="5400000"/>
                <a:lnTo>
                  <a:pt x="5316206" y="1813719"/>
                </a:lnTo>
                <a:lnTo>
                  <a:pt x="0" y="1813719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294930"/>
            <a:ext cx="49254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Static Workflow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703612"/>
            <a:ext cx="4925492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Developer defines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→ B → C → 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advance. The path is fixed before execution begins.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developer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determines the path.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3938687"/>
            <a:ext cx="5316305" cy="1813719"/>
          </a:xfrm>
          <a:custGeom>
            <a:avLst/>
            <a:gdLst/>
            <a:ahLst/>
            <a:cxnLst/>
            <a:rect l="l" t="t" r="r" b="b"/>
            <a:pathLst>
              <a:path w="5316305" h="1813719">
                <a:moveTo>
                  <a:pt x="0" y="0"/>
                </a:moveTo>
                <a:lnTo>
                  <a:pt x="5316305" y="0"/>
                </a:lnTo>
                <a:lnTo>
                  <a:pt x="5316305" y="1747561"/>
                </a:lnTo>
                <a:arcTo wR="66156" hR="66158" stAng="0" swAng="5400000"/>
                <a:lnTo>
                  <a:pt x="66156" y="1813719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272" y="4127698"/>
            <a:ext cx="49255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Agent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9272" y="4536380"/>
            <a:ext cx="4925592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 → determine what's needed → select tool → observe → decide next action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system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 determine parts of the path at runtime.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6694"/>
            <a:ext cx="6905849" cy="3884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27489" y="711398"/>
            <a:ext cx="350908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 and State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7489" y="2080220"/>
            <a:ext cx="3509081" cy="17825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40516" y="2291655"/>
            <a:ext cx="298462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340516" y="2765524"/>
            <a:ext cx="298462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needed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during the current task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user request, plan, tool results, current step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489" y="4045942"/>
            <a:ext cx="3509081" cy="20778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0516" y="4257377"/>
            <a:ext cx="298462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340516" y="4731246"/>
            <a:ext cx="2984624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retained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beyond the immediate interaction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past conversations, user preferences, stored knowledge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52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+ RAG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9387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RAG (Retrieval-Augmented Generation)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external knowledge via a vector database. Agentic behavior adds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dynamic decision-making and 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top of retrieval.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601541"/>
            <a:ext cx="3504219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determines what information is needed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Retriever fetches relevant documents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become context for the LLM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generates a grounded, accurate answer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377579"/>
            <a:ext cx="6903269" cy="29769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97683" y="4789995"/>
            <a:ext cx="1566138" cy="19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97683" y="4100878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97683" y="3418720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Determine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97683" y="2729602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301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Levels of AI Systems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3905"/>
            <a:ext cx="1086815" cy="825004"/>
          </a:xfrm>
          <a:prstGeom prst="roundRect">
            <a:avLst>
              <a:gd name="adj" fmla="val 7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9019" y="1524000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898900" y="1394520"/>
            <a:ext cx="948071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 1 — LLM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898900" y="1701800"/>
            <a:ext cx="948071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3595" y="2060972"/>
            <a:ext cx="9631320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144216"/>
            <a:ext cx="2173729" cy="825004"/>
          </a:xfrm>
          <a:prstGeom prst="roundRect">
            <a:avLst>
              <a:gd name="adj" fmla="val 7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2426" y="2424311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85814" y="2294830"/>
            <a:ext cx="839379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 2 — LLM Application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85814" y="2602111"/>
            <a:ext cx="839379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+ Context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10509" y="2961283"/>
            <a:ext cx="8544406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044527"/>
            <a:ext cx="3260544" cy="825004"/>
          </a:xfrm>
          <a:prstGeom prst="roundRect">
            <a:avLst>
              <a:gd name="adj" fmla="val 7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834" y="3324622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072629" y="3195141"/>
            <a:ext cx="730698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 3 — AI Workflow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072629" y="3502422"/>
            <a:ext cx="730698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predefined steps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97324" y="3861594"/>
            <a:ext cx="7457591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3944838"/>
            <a:ext cx="4347458" cy="825004"/>
          </a:xfrm>
          <a:prstGeom prst="roundRect">
            <a:avLst>
              <a:gd name="adj" fmla="val 7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9340" y="4224933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59544" y="4095452"/>
            <a:ext cx="622006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 4 — AI Agent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59544" y="4402733"/>
            <a:ext cx="622006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decisions + Tools + State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84238" y="4761905"/>
            <a:ext cx="6370677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61475" y="4845149"/>
            <a:ext cx="5434373" cy="825004"/>
          </a:xfrm>
          <a:prstGeom prst="roundRect">
            <a:avLst>
              <a:gd name="adj" fmla="val 7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2748" y="5125244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246458" y="4995763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Level 5 — Multi-Agent System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246458" y="5303044"/>
            <a:ext cx="51331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collaborating agents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1475" y="5805091"/>
            <a:ext cx="10868745" cy="519609"/>
          </a:xfrm>
          <a:prstGeom prst="roundRect">
            <a:avLst>
              <a:gd name="adj" fmla="val 12175"/>
            </a:avLst>
          </a:prstGeom>
          <a:solidFill>
            <a:srgbClr val="E1E1EA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85" y="5976838"/>
            <a:ext cx="188213" cy="15061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50909" y="5962650"/>
            <a:ext cx="1083828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level does not automatically mean better — use the simplest architecture that solves the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31937"/>
            <a:ext cx="6913390" cy="38888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3400" y="1773238"/>
            <a:ext cx="352307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NOT to Use an Agent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8013400" y="3046809"/>
            <a:ext cx="35230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introduce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complexity, more LLM calls, latency, cost, and harder debugging.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94473"/>
            <a:ext cx="3512157" cy="131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3923" y="5190728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 Simple LLM App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33923" y="5567263"/>
            <a:ext cx="3043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one prompt is enough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720" y="4994473"/>
            <a:ext cx="3512157" cy="131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12167" y="5190728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 Workflow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4612167" y="5567263"/>
            <a:ext cx="3043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steps are predictable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964" y="4994473"/>
            <a:ext cx="3512157" cy="1318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90412" y="5190728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an Agent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290412" y="5567263"/>
            <a:ext cx="3043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decisions and actions need to be dynamic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Agents Are Useful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33360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5741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Development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5741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analysis, testing, debugging, documentation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5741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Operations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25741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support, research, reporting, workflow automation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5741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 Operations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5741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Incident investigation, log analysis, monitoring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5741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Work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25741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assistants, document analysis, information retrieval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30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Customer Support at Each Level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7171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310713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1366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Application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5452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question → LLM → Answer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3135" y="307171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025" y="310713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31366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Workflow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7383" y="35452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issue → Retrieve FAQ → Generate response → Send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4794" y="307171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5684" y="310713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31366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Agent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79042" y="3545284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what's needed → Search knowledge base → Check account/order → Decide response or escalate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1081"/>
            <a:ext cx="350421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 ≠ Fully Autonomous AI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92041"/>
            <a:ext cx="350421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do not necessarily mean completely independent systems. Autonomy should be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matched to risk.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Critical for human oversight: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541837"/>
            <a:ext cx="350421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transactions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deployments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operations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communications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1732161"/>
            <a:ext cx="6903269" cy="3393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1149" y="2030574"/>
            <a:ext cx="1578701" cy="19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 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11149" y="2284049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approved change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11149" y="2823452"/>
            <a:ext cx="1578701" cy="19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11149" y="3076928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and authorize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11149" y="3616330"/>
            <a:ext cx="1578701" cy="19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 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11149" y="3869806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recommended step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18166" y="4409208"/>
            <a:ext cx="1578701" cy="19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Detects Task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18166" y="4662684"/>
            <a:ext cx="3192483" cy="157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required action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40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Reliability &amp; Production Readiness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71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Possible Failure Modes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81424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reasoning or misunderstood goal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tool selected or bad data returned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failures or infinite loops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4971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Requirements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981424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Guardrails &amp;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Logging &amp; observability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frameworks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approval where stakes are high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66804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35736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90428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agents require more than a working prototype — reliability engineering is essential.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139454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196108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50219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Build a Simple LLM Application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41602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Python practice — from prompt to response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2795"/>
            <a:ext cx="3504219" cy="46724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13010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Objective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190976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Python LLM application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connects to the OpenAI API and returns a real response.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2727226"/>
            <a:ext cx="6903269" cy="29769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97683" y="5139642"/>
            <a:ext cx="1566138" cy="19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Response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97683" y="4450524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97683" y="3768367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App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97683" y="3079249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15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Setup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70188"/>
            <a:ext cx="3496877" cy="22862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91197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52613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Virtual Environment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934817"/>
            <a:ext cx="306806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770188"/>
            <a:ext cx="3496877" cy="2286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91197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352613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Install OpenAI SDK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934817"/>
            <a:ext cx="306806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openai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770188"/>
            <a:ext cx="3496877" cy="22862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91197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352613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Configure API Key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934817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your OpenAI API key as 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environment variable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never hard-code keys in source code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1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First LLM Application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03909"/>
            <a:ext cx="5770220" cy="3402211"/>
          </a:xfrm>
          <a:prstGeom prst="roundRect">
            <a:avLst>
              <a:gd name="adj" fmla="val 2333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88283" y="2092920"/>
            <a:ext cx="5316603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client.responses.create(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model="YOUR_MODEL",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input="Explain agentic AI in simple terms."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print(response.output_text)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99202" y="1880295"/>
            <a:ext cx="4637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Happening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042" y="2397621"/>
            <a:ext cx="283461" cy="283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13450" y="2388195"/>
            <a:ext cx="40230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client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authenticated connection to OpenAI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042" y="3352105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450" y="3342680"/>
            <a:ext cx="40230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request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your prompt is sent to the model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042" y="4306590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13450" y="4297164"/>
            <a:ext cx="40230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generates a response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042" y="5261074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450" y="5251648"/>
            <a:ext cx="40230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response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printed to your console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393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 with Prompts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913434"/>
            <a:ext cx="3053877" cy="1524992"/>
          </a:xfrm>
          <a:prstGeom prst="roundRect">
            <a:avLst>
              <a:gd name="adj" fmla="val 520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356" y="1825427"/>
            <a:ext cx="226808" cy="22681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434" y="3299619"/>
            <a:ext cx="226808" cy="22681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42221" y="2222302"/>
            <a:ext cx="243615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"Explain agentic AI to a beginner."</a:t>
            </a:r>
            <a:endParaRPr lang="en-US" sz="1450" dirty="0"/>
          </a:p>
        </p:txBody>
      </p:sp>
      <p:sp>
        <p:nvSpPr>
          <p:cNvPr id="8" name="Shape 3"/>
          <p:cNvSpPr/>
          <p:nvPr/>
        </p:nvSpPr>
        <p:spPr>
          <a:xfrm>
            <a:off x="8476244" y="1913434"/>
            <a:ext cx="3053976" cy="1524992"/>
          </a:xfrm>
          <a:prstGeom prst="roundRect">
            <a:avLst>
              <a:gd name="adj" fmla="val 520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239" y="1825427"/>
            <a:ext cx="226808" cy="226814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417" y="3299619"/>
            <a:ext cx="226808" cy="22681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785104" y="2222302"/>
            <a:ext cx="243625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"Explain agentic AI to a Python developer who has never worked with AI."</a:t>
            </a:r>
            <a:endParaRPr lang="en-US" sz="1450" dirty="0"/>
          </a:p>
        </p:txBody>
      </p:sp>
      <p:sp>
        <p:nvSpPr>
          <p:cNvPr id="12" name="Shape 5"/>
          <p:cNvSpPr/>
          <p:nvPr/>
        </p:nvSpPr>
        <p:spPr>
          <a:xfrm>
            <a:off x="5233360" y="3627438"/>
            <a:ext cx="6296860" cy="920155"/>
          </a:xfrm>
          <a:prstGeom prst="roundRect">
            <a:avLst>
              <a:gd name="adj" fmla="val 8628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356" y="3539430"/>
            <a:ext cx="226808" cy="226814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417" y="4408785"/>
            <a:ext cx="226808" cy="226814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542221" y="3936305"/>
            <a:ext cx="56791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"Explain agentic AI using a real-world restaurant example."</a:t>
            </a:r>
            <a:endParaRPr lang="en-US" sz="1450" dirty="0"/>
          </a:p>
        </p:txBody>
      </p:sp>
      <p:sp>
        <p:nvSpPr>
          <p:cNvPr id="16" name="Shape 7"/>
          <p:cNvSpPr/>
          <p:nvPr/>
        </p:nvSpPr>
        <p:spPr>
          <a:xfrm>
            <a:off x="5233360" y="4760218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67" y="5027910"/>
            <a:ext cx="236234" cy="18901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847608" y="4996458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Discuss: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changed? The model stayed the same — only the instructions changed.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7212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System-Level Instructions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97523"/>
            <a:ext cx="5203794" cy="185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system prompt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shapes how the entire application behaves — before the user ever asks a question.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 ask: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is an AI agent?"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how system instructions shape the tone, depth, and style of every response.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6237" y="2020887"/>
            <a:ext cx="492033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"You are an AI instructor. Explain technical concepts in simple language, using practical examples, avoiding jargon, and using short sections."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32776" y="1850827"/>
            <a:ext cx="25399" cy="1247378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32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LLM Application to Agent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81970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527028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935710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→ LLM → Answer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581970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3527028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a Tool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935710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→ LLM → Decide if tool needed → Tool → Result → LLM → Answer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49421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transition from a simple LLM application toward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tool-using agent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foundation for everything in Module 2.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0344"/>
            <a:ext cx="6928470" cy="3897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5421" y="662781"/>
            <a:ext cx="3551049" cy="14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Extension: Think Like an Agent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85421" y="2292449"/>
            <a:ext cx="355104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adding tools, reason through the agent's perspective: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478725" y="2968823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Boundaries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78725" y="3352502"/>
            <a:ext cx="305774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does the LLM already know? What does it </a:t>
            </a: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know?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78725" y="4146649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Requirements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78725" y="4530328"/>
            <a:ext cx="305774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external capability would it need — and what tool could provide it?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78725" y="5324475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Failure Handling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78725" y="5708154"/>
            <a:ext cx="305774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 if the tool returns an unexpected result?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1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Progression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71304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→ LLM → LLM Application → AI Workflow → AI Agent → Multi-Agent System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Loop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71304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→ Process → Decide → Act → Observe → Adapt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Up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 — Agentic AI Architectures &amp; Design Patterns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Microsoft Office PowerPoint</Application>
  <PresentationFormat>Widescreen</PresentationFormat>
  <Paragraphs>280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Roboto</vt:lpstr>
      <vt:lpstr>Raleway</vt:lpstr>
      <vt:lpstr>Raleway Light</vt:lpstr>
      <vt:lpstr>Roboto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Atul Kahate</cp:lastModifiedBy>
  <cp:revision>2</cp:revision>
  <dcterms:created xsi:type="dcterms:W3CDTF">2026-08-25T13:14:28Z</dcterms:created>
  <dcterms:modified xsi:type="dcterms:W3CDTF">2026-08-25T13:16:26Z</dcterms:modified>
</cp:coreProperties>
</file>