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Raleway" pitchFamily="2" charset="0"/>
      <p:regular r:id="rId38"/>
    </p:embeddedFont>
    <p:embeddedFont>
      <p:font typeface="Raleway Light" pitchFamily="2" charset="0"/>
      <p:regular r:id="rId39"/>
    </p:embeddedFont>
    <p:embeddedFont>
      <p:font typeface="Roboto" panose="02000000000000000000" pitchFamily="2" charset="0"/>
      <p:regular r:id="rId40"/>
      <p:italic r:id="rId41"/>
    </p:embeddedFont>
    <p:embeddedFont>
      <p:font typeface="Roboto Bold" panose="02000000000000000000" charset="0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58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AI: Architectures &amp; Design Patterns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Certificate in Agentic AI and Software Solutions — Module 2</a:t>
            </a:r>
            <a:endParaRPr lang="en-US" sz="1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05BF126-8F15-A455-8BFA-E5ED54E40ED8}"/>
              </a:ext>
            </a:extLst>
          </p:cNvPr>
          <p:cNvSpPr/>
          <p:nvPr/>
        </p:nvSpPr>
        <p:spPr>
          <a:xfrm>
            <a:off x="5233360" y="469261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Atul Kahate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3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 Objectives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1837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66362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Agent Components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7230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 the major building blocks of an agent architecture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51837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66362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Planning &amp; Decision-Making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307230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how an agent reasons, plans, and selects actions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51837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66362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307230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tool selection and how agents invoke external capabilities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30371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Patterns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857651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common agentic architectures and when to apply each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30371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a Tool-Using Agent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4857651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 simple architecture and implement it in the lab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Anatomy of an AI Agent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2865"/>
            <a:ext cx="6953771" cy="3911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8492" y="2595860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Components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8492" y="2888159"/>
            <a:ext cx="3598078" cy="78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agent is built from seven fundamental elements that work together in a continuous loop:</a:t>
            </a:r>
            <a:endParaRPr lang="en-US" sz="10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Flow: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User Goal → Agent → LLM → Decision → Tool / Knowledge / Action → Observation → Agent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61475" y="5285383"/>
            <a:ext cx="2650166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7699" y="5421610"/>
            <a:ext cx="237771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Goal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00935" y="5285383"/>
            <a:ext cx="2650265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37159" y="5421610"/>
            <a:ext cx="237781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40495" y="5285383"/>
            <a:ext cx="2650166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76719" y="5421610"/>
            <a:ext cx="237771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879955" y="5285383"/>
            <a:ext cx="2650265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16179" y="5421610"/>
            <a:ext cx="237781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5850136"/>
            <a:ext cx="3563352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7699" y="5986363"/>
            <a:ext cx="329090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14122" y="5850136"/>
            <a:ext cx="3563352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50346" y="5986363"/>
            <a:ext cx="329090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66769" y="5850136"/>
            <a:ext cx="3563451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02993" y="5986363"/>
            <a:ext cx="329100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Feedback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Execution Loop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Observe Result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Action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Reason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 Goal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may cycle through this loop multiple times before a task is fully resolved. Each iteration refines the agent's understanding and brings it closer to completing the goal.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Do Agents Need Planning?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3379589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3582095"/>
            <a:ext cx="5315512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tasks cannot be solved with a single LLM call. Consider: </a:t>
            </a:r>
            <a:r>
              <a:rPr lang="en-US" sz="7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"Analyze a sales dataset and prepare a management report."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single prompt can accomplish this end-to-end — the work must be broken down.</a:t>
            </a:r>
            <a:endParaRPr lang="en-US" sz="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Planning Strategies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563" y="159583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Single-Step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decision, one action — simplest form of planning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563" y="261947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Multi-Step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pre-defined sequence of planned actions executed in order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563" y="364311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Plan-and-Execute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the full plan upfront, then execute each step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5563" y="466675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Re-Planning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Adjust the plan dynamically based on new observations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5563" y="569039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High-level plan broken into nested sub-plans for complex goals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61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ReAct Pattern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9895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Reason + Act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74181"/>
            <a:ext cx="350421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agents alternate between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reasoning about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to do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acting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that reasoning — then observing the result before reasoning again.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 flow: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Determine weather is needed → call weather tool → observe result → answer user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512913"/>
            <a:ext cx="6903269" cy="2706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98511" y="2645635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Thought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07349" y="2645635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107349" y="4883320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98511" y="4883320"/>
            <a:ext cx="1263687" cy="203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Thought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3139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Plan-and-Execute Pattern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785170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Separation of Concerns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269456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pattern decouples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should be done?"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should it be done?"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Planner defines all tasks upfront, and the Executor carries them out.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785170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 It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18719" y="3269456"/>
            <a:ext cx="2917851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suited for complex multi-step tasks where the full plan can be determined before execution begins. Reduces mid-task decision overhead.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Flow: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User Goal → Planner → Tasks → Executor → Result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408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Calling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72865"/>
            <a:ext cx="6953771" cy="3911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8492" y="2357537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Extending Agent Capabilities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8492" y="2649835"/>
            <a:ext cx="3598078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tool gives an agent an external capability it couldn't otherwise have. Without tools, an agent can only generate text.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38492" y="3265388"/>
            <a:ext cx="359807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Tool Types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938492" y="3557687"/>
            <a:ext cx="3598078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Flow: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Request → LLM → Select Tool → Arguments → Execute → Result → LLM → Final Response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5285383"/>
            <a:ext cx="2650166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7699" y="5421610"/>
            <a:ext cx="237771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 Search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00935" y="5285383"/>
            <a:ext cx="2650265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37159" y="5421610"/>
            <a:ext cx="237781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40495" y="5285383"/>
            <a:ext cx="2650166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76719" y="5421610"/>
            <a:ext cx="2377718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Calculator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879955" y="5285383"/>
            <a:ext cx="2650265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16179" y="5421610"/>
            <a:ext cx="237781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850136"/>
            <a:ext cx="5389725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7699" y="5986363"/>
            <a:ext cx="51172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File System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40495" y="5850136"/>
            <a:ext cx="5389725" cy="475456"/>
          </a:xfrm>
          <a:prstGeom prst="roundRect">
            <a:avLst>
              <a:gd name="adj" fmla="val 1147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76719" y="5986363"/>
            <a:ext cx="51172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Email / Calendar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34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Tools Matter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52105"/>
            <a:ext cx="10868745" cy="2207320"/>
          </a:xfrm>
          <a:prstGeom prst="roundRect">
            <a:avLst>
              <a:gd name="adj" fmla="val 359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558455"/>
            <a:ext cx="5428023" cy="2194620"/>
          </a:xfrm>
          <a:custGeom>
            <a:avLst/>
            <a:gdLst/>
            <a:ahLst/>
            <a:cxnLst/>
            <a:rect l="l" t="t" r="r" b="b"/>
            <a:pathLst>
              <a:path w="5428023" h="2194620">
                <a:moveTo>
                  <a:pt x="66156" y="0"/>
                </a:moveTo>
                <a:lnTo>
                  <a:pt x="5428023" y="0"/>
                </a:lnTo>
                <a:lnTo>
                  <a:pt x="5428023" y="2194620"/>
                </a:lnTo>
                <a:lnTo>
                  <a:pt x="66156" y="2194620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747466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Without Tools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156148"/>
            <a:ext cx="505000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text only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Limited, static knowledge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external computation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direct database access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558455"/>
            <a:ext cx="5428023" cy="2194620"/>
          </a:xfrm>
          <a:custGeom>
            <a:avLst/>
            <a:gdLst/>
            <a:ahLst/>
            <a:cxnLst/>
            <a:rect l="l" t="t" r="r" b="b"/>
            <a:pathLst>
              <a:path w="5428023" h="2194620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2128461"/>
                </a:lnTo>
                <a:arcTo wR="66156" hR="66158" stAng="0" swAng="5400000"/>
                <a:lnTo>
                  <a:pt x="0" y="2194620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558455"/>
            <a:ext cx="25399" cy="2194620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2747466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Tools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156148"/>
            <a:ext cx="505000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live information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real-world actions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calculations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databases directly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82" y="497205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idea: an LLM can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generate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while tools allow the system to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429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Selection &amp; Descriptions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02928"/>
            <a:ext cx="6951191" cy="3910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3254" y="2319337"/>
            <a:ext cx="359321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Selection Problem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943254" y="2620268"/>
            <a:ext cx="359321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agent may have many tools available — choosing the right one is itself a decision-making challenge.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943254" y="3075781"/>
            <a:ext cx="3593216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LLM Needs to Know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943254" y="3388420"/>
            <a:ext cx="3593216" cy="596503"/>
          </a:xfrm>
          <a:prstGeom prst="roundRect">
            <a:avLst>
              <a:gd name="adj" fmla="val 9358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105" y="3531989"/>
            <a:ext cx="166088" cy="1328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75044" y="3505597"/>
            <a:ext cx="3028577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tool descriptions directly improve tool selection accuracy.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81" y="5327303"/>
            <a:ext cx="199325" cy="1993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3264" y="5323185"/>
            <a:ext cx="494414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tool does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3993" y="5327303"/>
            <a:ext cx="199325" cy="1993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85976" y="5323185"/>
            <a:ext cx="4944244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to use it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81" y="5916861"/>
            <a:ext cx="199325" cy="1993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3264" y="5912743"/>
            <a:ext cx="494414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arguments it requires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3993" y="5916861"/>
            <a:ext cx="199325" cy="19933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585976" y="5912743"/>
            <a:ext cx="4944244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returns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59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Tool Arguments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90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Natural Language to Structure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23344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Tools receive structured arguments rather than unstructured text. The LLM translates the user's intent into a precise, machine-readable payload.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215705"/>
            <a:ext cx="5203794" cy="680442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88283" y="4404717"/>
            <a:ext cx="53597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{"percentage": 17.5, "value": 80000}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1390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Structure Matters</a:t>
            </a:r>
            <a:endParaRPr lang="en-US" sz="1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646958"/>
            <a:ext cx="2507394" cy="15179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48780" y="2861370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Predictable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648780" y="3345656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format every call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9176" y="2646958"/>
            <a:ext cx="2507394" cy="15179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45180" y="2861370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Validatable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9345180" y="3345656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Catch errors before execution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4353917"/>
            <a:ext cx="2507394" cy="12155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48780" y="4568329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Safer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648780" y="5052616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injection risk</a:t>
            </a:r>
            <a:endParaRPr lang="en-US" sz="14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4353917"/>
            <a:ext cx="2507394" cy="12155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45180" y="4568329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Debuggable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9345180" y="5052616"/>
            <a:ext cx="197698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audit trail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9902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Architecture: Who Controls What?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3788"/>
            <a:ext cx="3053877" cy="2001937"/>
          </a:xfrm>
          <a:prstGeom prst="roundRect">
            <a:avLst>
              <a:gd name="adj" fmla="val 396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5914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🧠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LLM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67831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Understands language, reasons, selects tools, and generates responses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3788"/>
            <a:ext cx="3053976" cy="2001937"/>
          </a:xfrm>
          <a:prstGeom prst="roundRect">
            <a:avLst>
              <a:gd name="adj" fmla="val 396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59149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⚙️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Application / Framework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3263106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tools, maintains state, controls flow, handles errors, and applies policies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54736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75009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🔧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Tools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158780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the actual operations — computation, retrieval, writing, and external actions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94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 vs. State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78100"/>
            <a:ext cx="10868745" cy="2670473"/>
          </a:xfrm>
          <a:prstGeom prst="roundRect">
            <a:avLst>
              <a:gd name="adj" fmla="val 29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584450"/>
            <a:ext cx="5428023" cy="2657773"/>
          </a:xfrm>
          <a:custGeom>
            <a:avLst/>
            <a:gdLst/>
            <a:ahLst/>
            <a:cxnLst/>
            <a:rect l="l" t="t" r="r" b="b"/>
            <a:pathLst>
              <a:path w="5428023" h="2657773">
                <a:moveTo>
                  <a:pt x="66156" y="0"/>
                </a:moveTo>
                <a:lnTo>
                  <a:pt x="5428023" y="0"/>
                </a:lnTo>
                <a:lnTo>
                  <a:pt x="5428023" y="2657773"/>
                </a:lnTo>
                <a:lnTo>
                  <a:pt x="66156" y="2657773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773462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182144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needed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during the current execution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6832" y="3597970"/>
            <a:ext cx="505000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plan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results so far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step in the loop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6832" y="4750792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Ephemeral — discarded when the run ends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48" y="2584450"/>
            <a:ext cx="5428023" cy="2657773"/>
          </a:xfrm>
          <a:custGeom>
            <a:avLst/>
            <a:gdLst/>
            <a:ahLst/>
            <a:cxnLst/>
            <a:rect l="l" t="t" r="r" b="b"/>
            <a:pathLst>
              <a:path w="5428023" h="2657773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2591615"/>
                </a:lnTo>
                <a:arcTo wR="66156" hR="66158" stAng="0" swAng="5400000"/>
                <a:lnTo>
                  <a:pt x="0" y="265777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2584450"/>
            <a:ext cx="25399" cy="2657773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54" y="2773462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Memory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284854" y="3182144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Information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retained for future interactions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84854" y="3597970"/>
            <a:ext cx="505000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Past conversations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preferences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Stored domain knowledge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84854" y="4750792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— survives across sessions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988245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044898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35098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Design Patterns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233360" y="42648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Proven architectural blueprints for structuring agent systems — from simple routing to complex multi-agent collaboration.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Routing Pattern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05322"/>
            <a:ext cx="6936011" cy="3901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2489200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Direct Requests to the Right Specialist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1333" y="2844502"/>
            <a:ext cx="3565138" cy="1190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Router examines the incoming user request and dispatches it to the most appropriate agent or processing path.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Routing enables specialization without requiring a single agent to do everything.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476776"/>
            <a:ext cx="3542914" cy="8631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333" y="5646440"/>
            <a:ext cx="312739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Sales Question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333" y="5953720"/>
            <a:ext cx="312739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Sales Agent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4341" y="5476776"/>
            <a:ext cx="3542914" cy="8631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0199" y="5646440"/>
            <a:ext cx="312739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Issue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570199" y="5953720"/>
            <a:ext cx="312739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Technical Agent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207" y="5476776"/>
            <a:ext cx="3543013" cy="8631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3065" y="5646440"/>
            <a:ext cx="312749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Issue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233065" y="5953720"/>
            <a:ext cx="312749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Support Agent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Sequential Pattern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Summarize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Extract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agent in the chain depends on the output of the previous step. Tasks execute one after another — ideal for pipelines where order and handoff quality matter. Best used when steps cannot be parallelized.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Parallel Pattern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9948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Independent Tasks Simultaneously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01988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subtasks don't depend on each other, they can be dispatched in parallel — dramatically reducing overall execution time.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48833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690838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analysis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News sentiment analysis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landscape analysis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21058" y="4125317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three run concurrently, then results are combined into a single report.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6780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Reflection Pattern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61475" y="1626096"/>
            <a:ext cx="2921522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→ Evaluate → Improve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1475" y="2390676"/>
            <a:ext cx="292152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critiques its own output and iterates until quality standards are met.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459659"/>
            <a:ext cx="292152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1475" y="3933527"/>
            <a:ext cx="2921522" cy="1245195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code → review → improve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report → fact-check → revise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043162" y="1626096"/>
            <a:ext cx="292152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Trade-offs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3162" y="2122785"/>
            <a:ext cx="2921522" cy="119201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56189" y="2334220"/>
            <a:ext cx="23970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Higher Quality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56189" y="2808089"/>
            <a:ext cx="2397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Errors caught before delivery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3162" y="3497957"/>
            <a:ext cx="2921522" cy="11920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56189" y="3709392"/>
            <a:ext cx="23970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More LLM Calls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356189" y="4183261"/>
            <a:ext cx="2397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cost per task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3162" y="4873129"/>
            <a:ext cx="2921522" cy="11920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56189" y="5084564"/>
            <a:ext cx="23970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Higher Latency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4356189" y="5558433"/>
            <a:ext cx="2397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Takes longer to complete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230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Human-in-the-Loop Pattern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51198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When Autonomy Must Pause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064147"/>
            <a:ext cx="3537060" cy="1153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Flow: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 → Proposed Action → Human Review → Approve / Reject → Execute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actions are too consequential to execute without human sign-off.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367385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Use Cases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3780334"/>
            <a:ext cx="3537060" cy="1482527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transactions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deployments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Deleting data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outbound emails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Security-sensitive actions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640" y="1461790"/>
            <a:ext cx="6920831" cy="389304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5692180"/>
            <a:ext cx="10868745" cy="623590"/>
          </a:xfrm>
          <a:prstGeom prst="roundRect">
            <a:avLst>
              <a:gd name="adj" fmla="val 11338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46" y="5908377"/>
            <a:ext cx="210338" cy="1682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8355" y="5884168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Autonomy should always be matched to risk.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75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 &amp; Multi-Agent Systems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25191"/>
            <a:ext cx="692083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Hierarchical: Supervisor Model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938139"/>
            <a:ext cx="692083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Supervisor agent delegates tasks to specialized sub-agents and coordinates their results into a coherent output. Specialization makes complex systems easier to design and manage.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597249"/>
            <a:ext cx="692083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 Pipeline Example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28950"/>
            <a:ext cx="6920831" cy="30358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58887" y="5268544"/>
            <a:ext cx="1045979" cy="18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Analysis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58887" y="5509105"/>
            <a:ext cx="1045979" cy="28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 data and findings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1716" y="5268544"/>
            <a:ext cx="1045979" cy="18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81716" y="5509105"/>
            <a:ext cx="1045979" cy="28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Validate, edit, and finalize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4098" y="3301808"/>
            <a:ext cx="1045979" cy="187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34098" y="3542369"/>
            <a:ext cx="1045979" cy="28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sources and evidence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43608" y="3301808"/>
            <a:ext cx="1045979" cy="187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Writing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43608" y="3542369"/>
            <a:ext cx="1045979" cy="28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 structured report content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411" y="1446312"/>
            <a:ext cx="3537060" cy="47161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29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Choosing an Architecture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71588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26695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Predictable Task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675632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Workflow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071588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266950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Decisions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675632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362424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55778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Independent Tasks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3966468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Parallel Execution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362424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55778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to Delegate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3966468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Supervisor / Hierarchical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653260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832" y="484862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Quality Verification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6832" y="5257304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Reflection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653260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5658" y="4848622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Risky Action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85658" y="5257304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Human-in-the-Loop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95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Design Checklist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1259"/>
            <a:ext cx="6931050" cy="38988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80659" y="1381224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39296" y="1410494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62354" y="1435001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62354" y="1809155"/>
            <a:ext cx="30741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must the agent accomplish?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80659" y="2297311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39296" y="2326580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62354" y="2351088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62354" y="2725241"/>
            <a:ext cx="30741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external capabilities does it need?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80659" y="3213398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39296" y="3242667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62354" y="3267174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 &amp; Memory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62354" y="3641328"/>
            <a:ext cx="307411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must it remember now vs. persist across sessions?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80659" y="4358382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39296" y="4387652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462354" y="4412159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62354" y="4786313"/>
            <a:ext cx="30741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should it produce and in what format?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80659" y="5274469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39296" y="5303738"/>
            <a:ext cx="234746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462354" y="5328245"/>
            <a:ext cx="307411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62354" y="5702399"/>
            <a:ext cx="307411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should it never do? Where is human approval required?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988245"/>
            <a:ext cx="101984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044898"/>
            <a:ext cx="14026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3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350988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Build a Tool-Using Agent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5233360" y="42648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everything from Theory and Design Patterns — implement a real agent that selects and calls tools to answer user requests.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782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Architecture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284387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51194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Decision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7518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10051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3404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Request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67623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dynamically decides which tool — if any — is needed based on the user's request. This mirrors real production agent architectures at a learnable scale.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7694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the Tools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613198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Tools, One Agent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76549"/>
            <a:ext cx="5211037" cy="1313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lab agent has access to three tools. It must select the right one — or none — for each incoming request.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forces the agent to reason about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what kind of answer the user needs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acting.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5533" y="1635423"/>
            <a:ext cx="2516819" cy="25554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74061" y="1772741"/>
            <a:ext cx="21966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33987" y="2367756"/>
            <a:ext cx="209991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calculator(expression)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33987" y="3117155"/>
            <a:ext cx="209991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Evaluates a mathematical expression and returns a numeric result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9652" y="1635423"/>
            <a:ext cx="2516918" cy="25554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68278" y="1772741"/>
            <a:ext cx="21966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228105" y="2367756"/>
            <a:ext cx="2100012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search_information(query)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228105" y="3117155"/>
            <a:ext cx="210001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Retrieves information from a knowledge source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5533" y="4368205"/>
            <a:ext cx="5211037" cy="16925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21219" y="4505523"/>
            <a:ext cx="21966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533987" y="5100538"/>
            <a:ext cx="47941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get_current_time()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33987" y="5563890"/>
            <a:ext cx="47941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 the current date and time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750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Decision Examples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049165"/>
            <a:ext cx="6296860" cy="3633788"/>
          </a:xfrm>
          <a:prstGeom prst="roundRect">
            <a:avLst>
              <a:gd name="adj" fmla="val 21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39710" y="2055515"/>
            <a:ext cx="6284160" cy="1813719"/>
          </a:xfrm>
          <a:custGeom>
            <a:avLst/>
            <a:gdLst/>
            <a:ahLst/>
            <a:cxnLst/>
            <a:rect l="l" t="t" r="r" b="b"/>
            <a:pathLst>
              <a:path w="6284160" h="1813719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813719"/>
                </a:lnTo>
                <a:lnTo>
                  <a:pt x="0" y="1813719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5428717" y="224452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"What is 25% of 64,000?"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653209"/>
            <a:ext cx="5906146" cy="102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Choose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calculator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calculator('64000 * 0.25')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16,000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Arithmetic request: structured computation required, not text generation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9710" y="3869234"/>
            <a:ext cx="6284160" cy="1807369"/>
          </a:xfrm>
          <a:custGeom>
            <a:avLst/>
            <a:gdLst/>
            <a:ahLst/>
            <a:cxnLst/>
            <a:rect l="l" t="t" r="r" b="b"/>
            <a:pathLst>
              <a:path w="6284160" h="1807369">
                <a:moveTo>
                  <a:pt x="0" y="0"/>
                </a:moveTo>
                <a:lnTo>
                  <a:pt x="6284160" y="0"/>
                </a:lnTo>
                <a:lnTo>
                  <a:pt x="6284160" y="1741211"/>
                </a:lnTo>
                <a:arcTo wR="66156" hR="66158" stAng="0" swAng="5400000"/>
                <a:lnTo>
                  <a:pt x="66156" y="1807369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5239710" y="38692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5428717" y="405824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"Explain LangGraph."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28717" y="4466927"/>
            <a:ext cx="5906146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Choose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knowledge tool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retrieve information → generate explanation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Conceptual request: retrieve context first, then synthesize a response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08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Handling Multiple Tool Calls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93466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Some Requests Require More Than One Tool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273028"/>
            <a:ext cx="350421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 request: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"Find the price of a product and calculate the total cost for 5 units."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single request requires two sequential tool calls — neither tool alone can complete the task.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377579"/>
            <a:ext cx="6903269" cy="29769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97683" y="4789995"/>
            <a:ext cx="1566138" cy="19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Cost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97683" y="4100878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97683" y="3418720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Price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97683" y="2729602"/>
            <a:ext cx="1566138" cy="195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Tool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77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 Challenges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6638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17509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Scenarios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83781"/>
            <a:ext cx="3465426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tool needed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Calculation request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question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tools required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Ambiguous request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6638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17509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Failure Cases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583781"/>
            <a:ext cx="346542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Invalid tool argument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unavailable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Unexpected return value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46638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17509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Discussion Points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583781"/>
            <a:ext cx="346542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selection logic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Argument generation quality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 behavior and recovery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147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Failure Scenarios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89943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Can Go Wrong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50405"/>
            <a:ext cx="3569901" cy="8896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4356" y="1817092"/>
            <a:ext cx="31603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Wrong Tool Selected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4356" y="2163068"/>
            <a:ext cx="31603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misreads the request type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55391"/>
            <a:ext cx="3569901" cy="8896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4356" y="2822079"/>
            <a:ext cx="31603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Incorrect Arguments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04356" y="3168055"/>
            <a:ext cx="31603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Malformed payload causes tool failure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60378"/>
            <a:ext cx="3569901" cy="8896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4356" y="3827066"/>
            <a:ext cx="31603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Unavailable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04356" y="4173041"/>
            <a:ext cx="31603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dependency is down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65365"/>
            <a:ext cx="3569901" cy="8896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4356" y="4832052"/>
            <a:ext cx="3160336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Goal Misunderstood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904356" y="5178028"/>
            <a:ext cx="31603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reaches an incorrect conclusion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880" y="1478260"/>
            <a:ext cx="6938590" cy="390296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61475" y="5814616"/>
            <a:ext cx="10868745" cy="503238"/>
          </a:xfrm>
          <a:prstGeom prst="roundRect">
            <a:avLst>
              <a:gd name="adj" fmla="val 12325"/>
            </a:avLst>
          </a:prstGeom>
          <a:solidFill>
            <a:srgbClr val="E1E1EA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09" y="5977334"/>
            <a:ext cx="184542" cy="14763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1285" y="5966817"/>
            <a:ext cx="1085088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agents need: validation, error handling, guardrails, and observability.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7799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2 Summary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041128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Covered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2525415"/>
            <a:ext cx="2917851" cy="328850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architecture &amp; the execution loop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Planning strategies &amp; the ReAct pattern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calling, selection &amp; structured arguments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Routing, sequential, parallel &amp; reflection patterns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Human-in-the-loop &amp; multi-agent systems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041128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Principle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902180" y="2719090"/>
            <a:ext cx="263439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the simplest architecture that provides the required level of intelligence, autonomy, and control.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18719" y="2549029"/>
            <a:ext cx="25399" cy="1549797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8618719" y="431145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 Next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18719" y="4795738"/>
            <a:ext cx="291785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Module 3 — Building Production Agentic Systems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1622</Words>
  <Application>Microsoft Office PowerPoint</Application>
  <PresentationFormat>Widescreen</PresentationFormat>
  <Paragraphs>334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Roboto</vt:lpstr>
      <vt:lpstr>Raleway</vt:lpstr>
      <vt:lpstr>Arial</vt:lpstr>
      <vt:lpstr>Consolas</vt:lpstr>
      <vt:lpstr>Raleway Light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Atul Kahate</cp:lastModifiedBy>
  <cp:revision>2</cp:revision>
  <dcterms:created xsi:type="dcterms:W3CDTF">2026-08-25T13:27:50Z</dcterms:created>
  <dcterms:modified xsi:type="dcterms:W3CDTF">2026-08-25T13:39:47Z</dcterms:modified>
</cp:coreProperties>
</file>