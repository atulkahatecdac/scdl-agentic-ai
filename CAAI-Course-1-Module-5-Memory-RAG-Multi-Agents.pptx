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image" Target="../media/image-18-6.png"/><Relationship Id="rId7" Type="http://schemas.openxmlformats.org/officeDocument/2006/relationships/image" Target="../media/image-18-7.svg"/><Relationship Id="rId8" Type="http://schemas.openxmlformats.org/officeDocument/2006/relationships/image" Target="../media/image-18-8.png"/><Relationship Id="rId9" Type="http://schemas.openxmlformats.org/officeDocument/2006/relationships/image" Target="../media/image-1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2.png"/><Relationship Id="rId5" Type="http://schemas.openxmlformats.org/officeDocument/2006/relationships/image" Target="../media/image-21-3.svg"/><Relationship Id="rId6" Type="http://schemas.openxmlformats.org/officeDocument/2006/relationships/image" Target="../media/image-21-2.png"/><Relationship Id="rId7" Type="http://schemas.openxmlformats.org/officeDocument/2006/relationships/image" Target="../media/image-2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image" Target="../media/image-24-2.png"/><Relationship Id="rId5" Type="http://schemas.openxmlformats.org/officeDocument/2006/relationships/image" Target="../media/image-24-3.svg"/><Relationship Id="rId6" Type="http://schemas.openxmlformats.org/officeDocument/2006/relationships/image" Target="../media/image-24-6.png"/><Relationship Id="rId7" Type="http://schemas.openxmlformats.org/officeDocument/2006/relationships/image" Target="../media/image-24-7.svg"/><Relationship Id="rId8" Type="http://schemas.openxmlformats.org/officeDocument/2006/relationships/image" Target="../media/image-24-2.png"/><Relationship Id="rId9" Type="http://schemas.openxmlformats.org/officeDocument/2006/relationships/image" Target="../media/image-2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image" Target="../media/image-30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AI: Memory, RAG &amp; Multi-Agent Concepts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— Module 5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7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86161"/>
            <a:ext cx="3496877" cy="1983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Memory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150791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the role of memory in agents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986161"/>
            <a:ext cx="3496877" cy="19838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Architecture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15079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basic RAG architecture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986161"/>
            <a:ext cx="3496877" cy="19838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15079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ChromaDB for simple document retrieval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59052"/>
            <a:ext cx="5339820" cy="168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32368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retrieval with tool calling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159052"/>
            <a:ext cx="5339820" cy="168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532368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basic multi-agent concepts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96417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Do Agents Need Memory?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866727"/>
            <a:ext cx="350421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often work across multiple steps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helps maintain useful context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retain conversation history, preferences, and previous results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should be designed according to the application's needs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 vs Memory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needed during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execution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transient and task-scoped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Short-Term Memory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maintained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during a conversation or task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persists across steps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Long-Term Memory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retained for future interactions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survives session boundaries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task state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stored user preferences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1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LLM Knowledge Is Not Enough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02674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202088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Information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275723" y="242957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may not know private organizational information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15" y="3115866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11001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Outdated Knowledge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275723" y="351869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can become outdated after the training cutoff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15" y="4204990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41991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 Specificity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275723" y="46078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 often need domain-specific information not in training data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315" y="5596533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5723" y="559067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to the Rescue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275723" y="599936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provides a way to retrieve relevant information when needed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1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RAG?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90291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Retrieval-Augmented Generation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69852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is a technique that combines the power of information retrieval with language model generation — grounding answers in real, retrieved content.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49588"/>
            <a:ext cx="3504219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relevant information first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retrieved information to the LLM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an answer grounded in the retrieved context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combines retrieval with generation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24447"/>
            <a:ext cx="6903269" cy="3883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RAG Architecture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Answer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Retrieval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 &amp; Store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Indexing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indexing phase prepares your knowledge base; the retrieval phase uses it at query time to ground the LLM's response in relevant content.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09526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Embeddings and Vector Databases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76573"/>
            <a:ext cx="6296860" cy="11050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2096" y="1649115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Embeddings?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2096" y="1963837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 represent text as numerical vectors — capturing semantic meaning in a high-dimensional space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06390"/>
            <a:ext cx="6296860" cy="11050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2096" y="2878931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Semantic Similarity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2096" y="3193653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meanings tend to have similar vector representations, enabling meaning-based search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936206"/>
            <a:ext cx="6296860" cy="11050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2096" y="4108748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 Databases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2096" y="4423470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embeddings and associated content for fast similarity lookup — examples: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ChromaDB, FAISS, Pinecone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166023"/>
            <a:ext cx="6296860" cy="8824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2096" y="5338564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Module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5482096" y="5653286"/>
            <a:ext cx="58755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 simple local ChromaDB — no cloud setup required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183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ChromaDB?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4493"/>
            <a:ext cx="3504219" cy="2381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to install and use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locally — no cloud dependency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demonstrations and small projects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combine with LangChain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separate database server is required for the basic lab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728369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015111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945658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is the ideal starting point: minimal setup, maximum learning focus.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1487388"/>
            <a:ext cx="6903269" cy="3883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47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Document Pipeline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61475" y="1159073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3892" y="1427063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70564" y="1288951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Documents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70564" y="1545530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 source files from disk or other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028031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3892" y="2296021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564" y="2157909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into Chunks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70564" y="2414488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documents into manageable, meaningful pieces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2896989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92" y="3164979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70564" y="3026866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Embeddings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70564" y="3283446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each chunk into a numerical vector representation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3765947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92" y="4033937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70564" y="3895824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 in ChromaDB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70564" y="4152404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 chunks and embeddings in the local vector 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475" y="4634905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92" y="490289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70564" y="4764782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 Chunks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70564" y="5021362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the most relevant chunks for a given query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475" y="5503863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3892" y="5771852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70564" y="5633740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 to LLM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70564" y="5890320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retrieved context to the language model for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55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Chunking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64184"/>
            <a:ext cx="10868745" cy="3098205"/>
          </a:xfrm>
          <a:prstGeom prst="roundRect">
            <a:avLst>
              <a:gd name="adj" fmla="val 25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370534"/>
            <a:ext cx="3618616" cy="1693962"/>
          </a:xfrm>
          <a:custGeom>
            <a:avLst/>
            <a:gdLst/>
            <a:ahLst/>
            <a:cxnLst/>
            <a:rect l="l" t="t" r="r" b="b"/>
            <a:pathLst>
              <a:path w="3618616" h="1693962">
                <a:moveTo>
                  <a:pt x="66156" y="0"/>
                </a:moveTo>
                <a:lnTo>
                  <a:pt x="3618616" y="0"/>
                </a:lnTo>
                <a:lnTo>
                  <a:pt x="3618616" y="1693962"/>
                </a:lnTo>
                <a:lnTo>
                  <a:pt x="0" y="169396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559546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Chunk?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968228"/>
            <a:ext cx="32406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documents are divided into smaller pieces so embeddings capture focused meaning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370534"/>
            <a:ext cx="3618715" cy="169396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237053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255954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Meaningful Content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2968228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Chunks should contain meaningful information — avoid splitting mid-sentence or mid-concept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370534"/>
            <a:ext cx="3618715" cy="1693962"/>
          </a:xfrm>
          <a:custGeom>
            <a:avLst/>
            <a:gdLst/>
            <a:ahLst/>
            <a:cxnLst/>
            <a:rect l="l" t="t" r="r" b="b"/>
            <a:pathLst>
              <a:path w="3618715" h="1693962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237053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3" name="Text 11"/>
          <p:cNvSpPr/>
          <p:nvPr/>
        </p:nvSpPr>
        <p:spPr>
          <a:xfrm>
            <a:off x="8094162" y="255954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Small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2968228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small chunks may lose context and reduce answer quality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825" y="4064496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825" y="4064496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5"/>
          <p:cNvSpPr/>
          <p:nvPr/>
        </p:nvSpPr>
        <p:spPr>
          <a:xfrm>
            <a:off x="856832" y="425350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Large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56832" y="466219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large chunks may reduce retrieval precision — too much noise per chunk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064496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4064496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4064496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2" name="Text 20"/>
          <p:cNvSpPr/>
          <p:nvPr/>
        </p:nvSpPr>
        <p:spPr>
          <a:xfrm>
            <a:off x="6284854" y="425350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Simple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284854" y="466219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recursive or fixed-size splitting and iterate from there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04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RAG Retrieval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0857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Context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4532416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Chunks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 Search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Embedding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34354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2827834"/>
            <a:ext cx="3504219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a question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is converted into an embedding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finds similar document chunks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relevant chunks are returned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Retrieved context is provided to the LLM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04342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Prompting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184003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RAG prompts guide the LLM to use retrieved content faithfully and avoid hallucination.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261320"/>
            <a:ext cx="3504219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 the LLM that retrieved context is the information source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it to answer using the provided context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 it not to invent information when the context is insufficient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prompt simple and explicit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Example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81982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28653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Documents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37335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contain an organization's leave policy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681982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Question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3733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about annual leave entitlements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681982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Retrieval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Retriever finds the relevant policy section from ChromaDB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681982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Answer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answers using the retrieved content — private domain knowledge applied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02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Limitations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58900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6214" y="1419721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Garbage In, Garbage Out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1796256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documents produce poor answers — quality of source material matters enormously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6777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6214" y="273853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Chunking Errors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6214" y="3115072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chunking can hurt retrieval — splitting at the wrong boundaries loses meaning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399653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6214" y="4057352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 Gaps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6214" y="443388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information may not be retrieved; retrieved context can be incomplete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15347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6214" y="5376168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Factual Guarantee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26214" y="5752703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does not automatically guarantee factual correctness — always validate outputs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vs Fine-Tuning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0367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the Right Approach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provides external information at query time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Fine-tuning modifies model behavior through additional training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RAG for changing or private knowledge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fine-tuning for specialized behavior or patterns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can also be combined for maximum effect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Bringing RAG into an Agent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083148" y="1467644"/>
            <a:ext cx="25399" cy="3928269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36075" y="1467644"/>
            <a:ext cx="5434373" cy="1485702"/>
          </a:xfrm>
          <a:custGeom>
            <a:avLst/>
            <a:gdLst/>
            <a:ahLst/>
            <a:cxnLst/>
            <a:rect l="l" t="t" r="r" b="b"/>
            <a:pathLst>
              <a:path w="5434373" h="1485702">
                <a:moveTo>
                  <a:pt x="65123" y="0"/>
                </a:moveTo>
                <a:lnTo>
                  <a:pt x="5434373" y="0"/>
                </a:lnTo>
                <a:lnTo>
                  <a:pt x="5434373" y="1485702"/>
                </a:lnTo>
                <a:lnTo>
                  <a:pt x="65123" y="1485702"/>
                </a:lnTo>
                <a:arcTo hR="65124" wR="65123" stAng="5400000" swAng="5400000"/>
                <a:lnTo>
                  <a:pt x="0" y="65124"/>
                </a:lnTo>
                <a:arcTo hR="65124" wR="65123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456" y="1660029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RAG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8456" y="2060575"/>
            <a:ext cx="5055962" cy="70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 → Retrieve → Answer</a:t>
            </a:r>
            <a:endParaRPr lang="en-US" sz="1450" dirty="0"/>
          </a:p>
          <a:p>
            <a:pPr algn="r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always happens — no decision-making involved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1247" y="3319661"/>
            <a:ext cx="5434373" cy="2076252"/>
          </a:xfrm>
          <a:custGeom>
            <a:avLst/>
            <a:gdLst/>
            <a:ahLst/>
            <a:cxnLst/>
            <a:rect l="l" t="t" r="r" b="b"/>
            <a:pathLst>
              <a:path w="5434373" h="2076252">
                <a:moveTo>
                  <a:pt x="0" y="0"/>
                </a:moveTo>
                <a:lnTo>
                  <a:pt x="5369250" y="0"/>
                </a:lnTo>
                <a:arcTo hR="65124" wR="65123" stAng="16200000" swAng="5400000"/>
                <a:lnTo>
                  <a:pt x="5434373" y="2011127"/>
                </a:lnTo>
                <a:arcTo hR="65124" wR="65123" stAng="0" swAng="5400000"/>
                <a:lnTo>
                  <a:pt x="0" y="207625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7277" y="3512046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7277" y="3912592"/>
            <a:ext cx="5055962" cy="129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 → Agent decides → Retrieve → Evaluate → Answer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decides when retrieval is useful — smarter, more efficient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5601891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505" y="5865515"/>
            <a:ext cx="232563" cy="1860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6099" y="5831483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RAG adds a reasoning layer: the agent evaluates whether retrieval is necessary before invoking it.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885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+ RAG + Tools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05905"/>
            <a:ext cx="307074" cy="3070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668959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Retrieval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1983680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RAG-powered access to private knowledge bases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55863"/>
            <a:ext cx="307074" cy="3070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291891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61475" y="3233638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Precise numerical computation when needed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05820"/>
            <a:ext cx="307074" cy="3070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16887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Search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61475" y="448359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information from the internet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955778"/>
            <a:ext cx="307074" cy="3070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418832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Other Tools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61475" y="5733554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application-specific capability the agent may need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61475" y="6096496"/>
            <a:ext cx="690644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decides which capability is appropriate for each step of the task.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Document + Calculator Agent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0857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Answer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Final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Determine Discount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 Policy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4532416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49475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Agent Combines Tools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2979043"/>
            <a:ext cx="3504219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for a policy-based discount and final price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the relevant policy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allowed discount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calculator for the final amount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the answer using both results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 + RAG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about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user, interaction, or previous tasks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who you are talking to and what has happened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7734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retrieved from external documents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what the knowledge base contains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Together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and RAG solve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different problems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both can be used together in a single agent for richer, more personalized responses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9500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762698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73124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and RAG are complementary, not competing — combine them when your application needs both personalization and knowledge retrieval.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Multi-Agent System?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1012" y="2117030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Specialized Agents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51012" y="2501503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system containing multiple AI agents, each with a specific responsibility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1012" y="3647083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Collaboration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51012" y="4031555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can collaborate, delegate tasks, or pass results to one another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1012" y="5177135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51012" y="5561608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 Agent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Agent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Writing Agent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working in concert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772"/>
            <a:ext cx="3509081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Use Multiple Agents?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642195"/>
            <a:ext cx="3509081" cy="196393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Specialization — each agent excels at its role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Separation of responsibilities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tools or knowledge sources per agent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organization of complex tasks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812109"/>
            <a:ext cx="3509081" cy="1308298"/>
          </a:xfrm>
          <a:prstGeom prst="roundRect">
            <a:avLst>
              <a:gd name="adj" fmla="val 5973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505" y="5088434"/>
            <a:ext cx="232563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6099" y="5023346"/>
            <a:ext cx="271842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add complexity and cost — use them only when the benefit is clear.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721" y="1486694"/>
            <a:ext cx="6905849" cy="38846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Multi-Agent Architecture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0367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→ Supervisor Agent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entry point for all requests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 Agent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gathers information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Agent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analyzes findings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Writing Agent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produces final output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Supervisor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combines the results and responds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5133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NOT to Use Multiple Agents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28651"/>
            <a:ext cx="6296860" cy="1131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3187" y="1604169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Tasks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3187" y="1926431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tasks usually do not need multiple agents — a single well-designed agent is often sufficient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89324"/>
            <a:ext cx="6296860" cy="1131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3187" y="2864842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Coordination Overhead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13187" y="3187105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add coordination overhead — more moving parts, more failure points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49998"/>
            <a:ext cx="6296860" cy="9021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3187" y="4125516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913187" y="4447778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agents can mean more LLM calls and significantly higher operational cost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981773"/>
            <a:ext cx="6296860" cy="11310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3187" y="5157291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Simple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913187" y="5479554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one agent and add specialization only when it provides a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clear, measurable benefit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7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Overview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24447"/>
            <a:ext cx="6903269" cy="3883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10720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You Will Build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59149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 document-aware agent that combines retrieval and calculation capabilities.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668812"/>
            <a:ext cx="3504219" cy="20788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small set of local documents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ChromaDB vector store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retrieval as a tool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simple calculator tool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 the agent to use retrieval and calculation together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Architecture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6329" y="909538"/>
            <a:ext cx="7438938" cy="5905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7586" y="3377168"/>
            <a:ext cx="1336832" cy="91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Agent Architecture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32682" y="1537449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Question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32682" y="1930085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input to the agent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17772" y="1384606"/>
            <a:ext cx="1988776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Final Answer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17772" y="2082928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context and results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7772" y="5417620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 Tool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417772" y="5810257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numeric computations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2682" y="5264777"/>
            <a:ext cx="1988775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Context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2682" y="5963100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passages returned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0007" y="3450362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Retriever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0007" y="3842999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Queries ChromaDB for context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9579" y="3308388"/>
            <a:ext cx="2032250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 Result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689579" y="4006710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 output from tool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1475" y="686792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orchestrates two tools — a RAG retriever backed by ChromaDB and a calculator — combining their outputs through the LLM to produce a grounded final answer.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Steps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812085" y="1511102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3258" y="1435795"/>
            <a:ext cx="1029696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Prepare Documents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233258" y="1743075"/>
            <a:ext cx="1029696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a small folder of sample documents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38001" y="253474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9174" y="2459434"/>
            <a:ext cx="1007104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and Split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59174" y="2766715"/>
            <a:ext cx="1007104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and split the documents into chunks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63916" y="355838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5089" y="3483074"/>
            <a:ext cx="984513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ChromaDB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85089" y="3790355"/>
            <a:ext cx="9845131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embeddings and create the ChromaDB vector store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89831" y="458202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05" y="4506714"/>
            <a:ext cx="96192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Retrieval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911005" y="4813995"/>
            <a:ext cx="961921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retrieval independently before connecting to the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63916" y="560566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5089" y="5530354"/>
            <a:ext cx="984513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 Tools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85089" y="5837634"/>
            <a:ext cx="9845131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the retriever and calculator as tools, then connect to the 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1475" y="141218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383" y="1525091"/>
            <a:ext cx="225915" cy="22592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87390" y="243582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298" y="2548731"/>
            <a:ext cx="225915" cy="22592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13306" y="345946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6214" y="3572371"/>
            <a:ext cx="225915" cy="225921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339221" y="448310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2129" y="4596011"/>
            <a:ext cx="225915" cy="225921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113306" y="550674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26214" y="5619651"/>
            <a:ext cx="225915" cy="2259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733425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Testing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1513086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Systematically test each capability and combination to understand agent behaviour.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2590403"/>
            <a:ext cx="3504219" cy="365700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only document retrieval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only calculation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both retrieval and calculation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that cannot be answered from the documents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which tools the agent selects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whether retrieved information is correctly used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71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Debugging and Improving the Agent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45866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710755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Retrieved Chunks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119438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what the retriever returns and improve chunking or retrieval queries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645866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2710755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Tool Descriptions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3119438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tool descriptions help the LLM select the right tool at the right time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16718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Tool Arguments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575870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inputs and handle tool failures gracefully to prevent cascading errors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416718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Logging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4575870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simple logging and include source information in responses where appropriate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383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5 Summary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78533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459" y="1432520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296" y="1554361"/>
            <a:ext cx="199325" cy="199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459" y="1990824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5459" y="2290663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useful information across steps and sessions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3492" y="1278533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7476" y="1432520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9313" y="1554361"/>
            <a:ext cx="199325" cy="1993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7476" y="1990824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7476" y="2290663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relevant external knowledge at query time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770287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5459" y="2924274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96" y="3046115"/>
            <a:ext cx="199325" cy="1993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459" y="348257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5459" y="378241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local vector storage for embeddings and chunks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3492" y="2770287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07476" y="2924274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9313" y="3046115"/>
            <a:ext cx="199325" cy="1993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7476" y="348257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7476" y="378241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capabilities and actions beyond language generation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262041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5459" y="4416028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296" y="4537869"/>
            <a:ext cx="199325" cy="1993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5459" y="4974332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5459" y="5274171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 what capability to use and when to use it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3492" y="4262041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7476" y="4416028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29313" y="4537869"/>
            <a:ext cx="199325" cy="1993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7476" y="4974332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7476" y="5274171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specialized agents for complex tasks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61475" y="5768280"/>
            <a:ext cx="10868745" cy="503238"/>
          </a:xfrm>
          <a:prstGeom prst="roundRect">
            <a:avLst>
              <a:gd name="adj" fmla="val 12325"/>
            </a:avLst>
          </a:prstGeom>
          <a:solidFill>
            <a:srgbClr val="E1E1E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109" y="5930999"/>
            <a:ext cx="184542" cy="14763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41285" y="5920482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Start simple, then add memory, RAG, tools, or additional agents only when they solve a real problem.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2026-08-25T14:46:36Z</dcterms:created>
  <dcterms:modified xsi:type="dcterms:W3CDTF">2026-08-25T14:46:36Z</dcterms:modified>
</cp:coreProperties>
</file>